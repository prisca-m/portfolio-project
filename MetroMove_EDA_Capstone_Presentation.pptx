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9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96E1C49-8345-4D94-B1C4-6E0A55368DB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163D2-9271-4091-B064-B071D0795E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163D2-9271-4091-B064-B071D0795E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4556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51C7FB-7AC2-41F5-BAB5-68FE234DEC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C3C1B9-A22B-445C-ACE7-CABBDE377F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90EACC-DA08-48E5-82CB-667D784B35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393673-F208-4EBA-AE3C-40CEF723A6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D23DA7-1522-47E7-BFF5-CE4A380CFD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C52D16-9286-4199-8298-4DD84FC183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73040-381A-4037-9608-C5337336EC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56320C-7282-4AC6-A8AE-AAB299B097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F645B9-C668-460F-8203-5CB9E2070F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6D6328-7B90-46F8-B4E7-697224D1AA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-148461"/>
            <a:ext cx="12191400" cy="685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  </a:t>
            </a:r>
          </a:p>
        </p:txBody>
      </p:sp>
      <p:sp>
        <p:nvSpPr>
          <p:cNvPr id="9" name="Shape 1"/>
          <p:cNvSpPr/>
          <p:nvPr/>
        </p:nvSpPr>
        <p:spPr>
          <a:xfrm>
            <a:off x="8549640" y="228600"/>
            <a:ext cx="3291480" cy="329148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14B8A6">
                <a:alpha val="5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869680" y="3977640"/>
            <a:ext cx="2834280" cy="283428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2563EB">
                <a:alpha val="4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58440" y="65844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58440" y="1234440"/>
            <a:ext cx="67662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194424" y="1921267"/>
            <a:ext cx="6225512" cy="36036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chemeClr val="bg1"/>
                </a:solidFill>
              </a:rPr>
              <a:t>MetroMove</a:t>
            </a:r>
            <a:r>
              <a:rPr lang="en-US" sz="1200" b="1" dirty="0">
                <a:solidFill>
                  <a:schemeClr val="bg1"/>
                </a:solidFill>
              </a:rPr>
              <a:t> Transit Solutions</a:t>
            </a:r>
            <a:r>
              <a:rPr lang="en-US" sz="1200" dirty="0">
                <a:solidFill>
                  <a:schemeClr val="bg1"/>
                </a:solidFill>
              </a:rPr>
              <a:t> is a public transportation service provider operating in multiple cities.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They manage and analyze thousands of daily trips taken via buses, trains, ferries, and trams.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The company's mission is to provide </a:t>
            </a:r>
            <a:r>
              <a:rPr lang="en-US" sz="1200" b="1" dirty="0">
                <a:solidFill>
                  <a:schemeClr val="bg1"/>
                </a:solidFill>
              </a:rPr>
              <a:t>efficient, affordable, and timely public transportation</a:t>
            </a:r>
            <a:r>
              <a:rPr lang="en-US" sz="1200" dirty="0">
                <a:solidFill>
                  <a:schemeClr val="bg1"/>
                </a:solidFill>
              </a:rPr>
              <a:t> services while leveraging data to </a:t>
            </a:r>
            <a:r>
              <a:rPr lang="en-US" sz="1200" b="1" dirty="0">
                <a:solidFill>
                  <a:schemeClr val="bg1"/>
                </a:solidFill>
              </a:rPr>
              <a:t>improve passenger experience</a:t>
            </a:r>
            <a:r>
              <a:rPr lang="en-US" sz="1200" dirty="0">
                <a:solidFill>
                  <a:schemeClr val="bg1"/>
                </a:solidFill>
              </a:rPr>
              <a:t> and </a:t>
            </a:r>
            <a:r>
              <a:rPr lang="en-US" sz="1200" b="1" dirty="0">
                <a:solidFill>
                  <a:schemeClr val="bg1"/>
                </a:solidFill>
              </a:rPr>
              <a:t>optimize operations.</a:t>
            </a:r>
          </a:p>
          <a:p>
            <a:pPr>
              <a:lnSpc>
                <a:spcPct val="150000"/>
              </a:lnSpc>
            </a:pPr>
            <a:endParaRPr lang="en-US" sz="12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chemeClr val="bg1"/>
                </a:solidFill>
              </a:rPr>
              <a:t>MetroMove</a:t>
            </a:r>
            <a:r>
              <a:rPr lang="en-US" sz="1200" dirty="0">
                <a:solidFill>
                  <a:schemeClr val="bg1"/>
                </a:solidFill>
              </a:rPr>
              <a:t> has collected </a:t>
            </a:r>
            <a:r>
              <a:rPr lang="en-US" sz="1200" b="1" dirty="0">
                <a:solidFill>
                  <a:schemeClr val="bg1"/>
                </a:solidFill>
              </a:rPr>
              <a:t>a large volume of trip data</a:t>
            </a:r>
            <a:r>
              <a:rPr lang="en-US" sz="1200" dirty="0">
                <a:solidFill>
                  <a:schemeClr val="bg1"/>
                </a:solidFill>
              </a:rPr>
              <a:t> but lacks insights into </a:t>
            </a:r>
            <a:r>
              <a:rPr lang="en-US" sz="1200" b="1" dirty="0">
                <a:solidFill>
                  <a:schemeClr val="bg1"/>
                </a:solidFill>
              </a:rPr>
              <a:t>trip performance, passenger behavior, and fare patterns</a:t>
            </a:r>
            <a:r>
              <a:rPr lang="en-US" sz="1200" dirty="0">
                <a:solidFill>
                  <a:schemeClr val="bg1"/>
                </a:solidFill>
              </a:rPr>
              <a:t> due to </a:t>
            </a:r>
            <a:r>
              <a:rPr lang="en-US" sz="1200" b="1" dirty="0">
                <a:solidFill>
                  <a:schemeClr val="bg1"/>
                </a:solidFill>
              </a:rPr>
              <a:t>messy, inconsistent, and incomplete records</a:t>
            </a:r>
            <a:r>
              <a:rPr lang="en-US" sz="1200" dirty="0">
                <a:solidFill>
                  <a:schemeClr val="bg1"/>
                </a:solidFill>
              </a:rPr>
              <a:t>. As part of their new data-driven initiative, they want to </a:t>
            </a:r>
            <a:r>
              <a:rPr lang="en-US" sz="1200" b="1" dirty="0">
                <a:solidFill>
                  <a:schemeClr val="bg1"/>
                </a:solidFill>
              </a:rPr>
              <a:t>clean, explore, and summarize </a:t>
            </a:r>
            <a:r>
              <a:rPr lang="en-US" sz="1200" dirty="0">
                <a:solidFill>
                  <a:schemeClr val="bg1"/>
                </a:solidFill>
              </a:rPr>
              <a:t>their trip records to identify inefficiencies and patterns that can drive operational improvements.</a:t>
            </a: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22960" y="4279320"/>
            <a:ext cx="1608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831960" y="4663440"/>
            <a:ext cx="1590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2898720" y="4279320"/>
            <a:ext cx="1425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2907720" y="4663440"/>
            <a:ext cx="140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791600" y="4279320"/>
            <a:ext cx="17917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809600" y="4606779"/>
            <a:ext cx="1773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8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26" descr="A blue logo with a train in the middle&#10;&#10;AI-generated content may be incorrect.">
            <a:extLst>
              <a:ext uri="{FF2B5EF4-FFF2-40B4-BE49-F238E27FC236}">
                <a16:creationId xmlns:a16="http://schemas.microsoft.com/office/drawing/2014/main" id="{183907F5-4E03-497E-AE63-176390CED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40" y="1921267"/>
            <a:ext cx="4293704" cy="29704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462B263-A308-451E-83E7-0628EBD756B0}"/>
              </a:ext>
            </a:extLst>
          </p:cNvPr>
          <p:cNvSpPr txBox="1"/>
          <p:nvPr/>
        </p:nvSpPr>
        <p:spPr>
          <a:xfrm>
            <a:off x="-658439" y="100958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Georgia" panose="02040502050405020303" pitchFamily="18" charset="0"/>
              </a:rPr>
              <a:t>OPTIMIZING PUBLIC TRANSIT OPERATIONS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A013C6-1E29-4813-84EF-52A80C458D1B}"/>
              </a:ext>
            </a:extLst>
          </p:cNvPr>
          <p:cNvSpPr txBox="1"/>
          <p:nvPr/>
        </p:nvSpPr>
        <p:spPr>
          <a:xfrm>
            <a:off x="1131369" y="628889"/>
            <a:ext cx="82860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FFC000"/>
                </a:solidFill>
                <a:latin typeface="Georgia" panose="02040502050405020303" pitchFamily="18" charset="0"/>
              </a:rPr>
              <a:t>An Exploratory Data Analysis of public transportation</a:t>
            </a:r>
          </a:p>
          <a:p>
            <a:pPr algn="ctr"/>
            <a:r>
              <a:rPr lang="en-US" sz="2000" i="1" dirty="0">
                <a:solidFill>
                  <a:srgbClr val="FFC000"/>
                </a:solidFill>
                <a:latin typeface="Georgia" panose="02040502050405020303" pitchFamily="18" charset="0"/>
              </a:rPr>
              <a:t>By</a:t>
            </a:r>
          </a:p>
          <a:p>
            <a:pPr algn="ctr"/>
            <a:r>
              <a:rPr lang="en-US" sz="2000" i="1" dirty="0">
                <a:solidFill>
                  <a:srgbClr val="FFC000"/>
                </a:solidFill>
                <a:latin typeface="Georgia" panose="02040502050405020303" pitchFamily="18" charset="0"/>
              </a:rPr>
              <a:t>Prisca </a:t>
            </a:r>
            <a:r>
              <a:rPr lang="en-US" sz="2000" i="1" dirty="0" err="1">
                <a:solidFill>
                  <a:srgbClr val="FFC000"/>
                </a:solidFill>
                <a:latin typeface="Georgia" panose="02040502050405020303" pitchFamily="18" charset="0"/>
              </a:rPr>
              <a:t>Ndidi</a:t>
            </a:r>
            <a:r>
              <a:rPr lang="en-US" sz="2000" i="1" dirty="0">
                <a:solidFill>
                  <a:srgbClr val="FFC000"/>
                </a:solidFill>
                <a:latin typeface="Georgia" panose="02040502050405020303" pitchFamily="18" charset="0"/>
              </a:rPr>
              <a:t> Muoghalu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549640" y="228600"/>
            <a:ext cx="3291480" cy="329148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14B8A6">
                <a:alpha val="56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869680" y="3977640"/>
            <a:ext cx="2834280" cy="283428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2563EB">
                <a:alpha val="4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58440" y="65844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B8A6"/>
                </a:solidFill>
                <a:effectLst/>
                <a:uFillTx/>
                <a:latin typeface="Aptos"/>
              </a:rPr>
              <a:t>MetroMove Transit Solutions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58440" y="1234440"/>
            <a:ext cx="67662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Exploratory Data Analysis Capstone</a:t>
            </a:r>
            <a:endParaRPr lang="en-US" sz="4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85800" y="2487240"/>
            <a:ext cx="5851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Public transport trip performance, passenger behavior, fare patterns, and operational opportunities.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13160" y="4160520"/>
            <a:ext cx="1828440" cy="85932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22960" y="4279320"/>
            <a:ext cx="1608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B8A6"/>
                </a:solidFill>
                <a:effectLst/>
                <a:uFillTx/>
                <a:latin typeface="Aptos"/>
              </a:rPr>
              <a:t>1,000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831960" y="4663440"/>
            <a:ext cx="1590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trip records analyzed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2788920" y="4160520"/>
            <a:ext cx="1645560" cy="85932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2898720" y="4279320"/>
            <a:ext cx="1425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97316"/>
                </a:solidFill>
                <a:effectLst/>
                <a:uFillTx/>
                <a:latin typeface="Aptos"/>
              </a:rPr>
              <a:t>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2907720" y="4663440"/>
            <a:ext cx="140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transport modes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681800" y="4160520"/>
            <a:ext cx="2011320" cy="85932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791600" y="4279320"/>
            <a:ext cx="17917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36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800600" y="4663440"/>
            <a:ext cx="1773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origin–destination route pairs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7543800" y="804600"/>
            <a:ext cx="402300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/mnt/data/eda_deck_assets/detail_mode_passenger_volume.png"/>
          <p:cNvPicPr/>
          <p:nvPr/>
        </p:nvPicPr>
        <p:blipFill>
          <a:blip r:embed="rId3"/>
          <a:stretch/>
        </p:blipFill>
        <p:spPr>
          <a:xfrm>
            <a:off x="7682040" y="914400"/>
            <a:ext cx="3746160" cy="211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Shape 16"/>
          <p:cNvSpPr/>
          <p:nvPr/>
        </p:nvSpPr>
        <p:spPr>
          <a:xfrm>
            <a:off x="7543800" y="3401640"/>
            <a:ext cx="402300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1" descr="/mnt/data/eda_deck_assets/detail_revenue_by_time.png"/>
          <p:cNvPicPr/>
          <p:nvPr/>
        </p:nvPicPr>
        <p:blipFill>
          <a:blip r:embed="rId4"/>
          <a:stretch/>
        </p:blipFill>
        <p:spPr>
          <a:xfrm>
            <a:off x="7683120" y="3511440"/>
            <a:ext cx="3744360" cy="21117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60332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502920" y="3200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Cleaning &amp; Preparation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511920" y="768240"/>
            <a:ext cx="941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The analysis first removed noise and standardized the operational fields.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0104120" y="393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EDA Capstone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1"/>
          <p:cNvSpPr/>
          <p:nvPr/>
        </p:nvSpPr>
        <p:spPr>
          <a:xfrm>
            <a:off x="502920" y="6418800"/>
            <a:ext cx="11155680" cy="360"/>
          </a:xfrm>
          <a:prstGeom prst="line">
            <a:avLst/>
          </a:prstGeom>
          <a:ln w="889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502920" y="6492240"/>
            <a:ext cx="38401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Source: EDA Capstone Project notebook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3"/>
          <p:cNvSpPr/>
          <p:nvPr/>
        </p:nvSpPr>
        <p:spPr>
          <a:xfrm>
            <a:off x="11109960" y="647388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658368" y="1124712"/>
            <a:ext cx="52120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6" name="Picture 115" descr="completenes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280160"/>
            <a:ext cx="4956048" cy="2542032"/>
          </a:xfrm>
          <a:prstGeom prst="rect">
            <a:avLst/>
          </a:prstGeom>
        </p:spPr>
      </p:pic>
      <p:sp>
        <p:nvSpPr>
          <p:cNvPr id="117" name="Rounded Rectangle 116"/>
          <p:cNvSpPr/>
          <p:nvPr/>
        </p:nvSpPr>
        <p:spPr>
          <a:xfrm>
            <a:off x="5989320" y="1124712"/>
            <a:ext cx="5230368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199632" y="135331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ptos"/>
              </a:rPr>
              <a:t>Data quality fixes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99632" y="1700784"/>
            <a:ext cx="4800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6217920" y="1965960"/>
            <a:ext cx="256032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65392" y="1947672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Dropped two unnamed columns because they contained excessive missing data.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217920" y="2624328"/>
            <a:ext cx="256032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565392" y="260604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Filled Passenger Count, Fare Amount, and Trip Duration with rounded mean values.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217920" y="3282696"/>
            <a:ext cx="256032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565392" y="3264408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Standardized inconsistent text labels such as FERRY/fErry and bus/BUS.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217920" y="3941064"/>
            <a:ext cx="256032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565392" y="3922776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Cleaned station spelling and spacing, including Central and Airport variants.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17920" y="4599431"/>
            <a:ext cx="256032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65392" y="4581143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Converted passenger count and trip duration to integer fields after imputation.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13232" y="4096512"/>
            <a:ext cx="5074920" cy="512064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After cleaning: no nulls remained across the final 10-column dataset.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58368" y="461772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2" name="Picture 131" descr="cleaning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91456"/>
            <a:ext cx="4864608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502920" y="3200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Business Context &amp; Analysis Goal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511920" y="768240"/>
            <a:ext cx="941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Turning messy trip records into operational decisions.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0104120" y="393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EDA Capstone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58440" y="1207080"/>
            <a:ext cx="50288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MetroMove operates buses, trains, ferries, and trams across multiple cities. The capstone focuses on cleaning and exploring trip records to identify demand peaks, profitable routes, and service efficiency patterns.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658440" y="2395800"/>
            <a:ext cx="5028840" cy="379440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887040" y="262440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Key questions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886680" y="3017520"/>
            <a:ext cx="4572000" cy="360"/>
          </a:xfrm>
          <a:prstGeom prst="line">
            <a:avLst/>
          </a:prstGeom>
          <a:ln w="16510">
            <a:solidFill>
              <a:srgbClr val="0F766E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887040" y="3246120"/>
            <a:ext cx="255600" cy="2556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1225440" y="3218760"/>
            <a:ext cx="4160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Where and when are passenger volumes highest?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887040" y="3813120"/>
            <a:ext cx="255600" cy="2556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1225440" y="3785760"/>
            <a:ext cx="4160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Which transport modes carry the most demand and revenue?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887040" y="4380120"/>
            <a:ext cx="255600" cy="2556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1225440" y="4352400"/>
            <a:ext cx="4160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Which routes are busiest or most valuable?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887040" y="4946760"/>
            <a:ext cx="255600" cy="2556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1225440" y="4919400"/>
            <a:ext cx="4160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Do longer trips drive higher revenue?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887040" y="5513760"/>
            <a:ext cx="255600" cy="2556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1225440" y="5486400"/>
            <a:ext cx="4160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What data quality issues must be corrected first?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9"/>
          <p:cNvSpPr/>
          <p:nvPr/>
        </p:nvSpPr>
        <p:spPr>
          <a:xfrm>
            <a:off x="6172200" y="1234440"/>
            <a:ext cx="534888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0" descr="/mnt/data/eda_deck_assets/kpi_strip.png"/>
          <p:cNvPicPr/>
          <p:nvPr/>
        </p:nvPicPr>
        <p:blipFill>
          <a:blip r:embed="rId3"/>
          <a:stretch/>
        </p:blipFill>
        <p:spPr>
          <a:xfrm>
            <a:off x="6282000" y="1361520"/>
            <a:ext cx="5129280" cy="97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Shape 20"/>
          <p:cNvSpPr/>
          <p:nvPr/>
        </p:nvSpPr>
        <p:spPr>
          <a:xfrm>
            <a:off x="6172200" y="2788920"/>
            <a:ext cx="5348880" cy="2011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1" descr="/mnt/data/eda_deck_assets/feature_flow.png"/>
          <p:cNvPicPr/>
          <p:nvPr/>
        </p:nvPicPr>
        <p:blipFill>
          <a:blip r:embed="rId4"/>
          <a:stretch/>
        </p:blipFill>
        <p:spPr>
          <a:xfrm>
            <a:off x="6282000" y="3097080"/>
            <a:ext cx="5129280" cy="139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21"/>
          <p:cNvSpPr/>
          <p:nvPr/>
        </p:nvSpPr>
        <p:spPr>
          <a:xfrm>
            <a:off x="6309360" y="523044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Outcome: a cleaned dataset with derived time, route, and revenue features ready for business interpretation.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2"/>
          <p:cNvSpPr/>
          <p:nvPr/>
        </p:nvSpPr>
        <p:spPr>
          <a:xfrm>
            <a:off x="502920" y="6418800"/>
            <a:ext cx="11155680" cy="360"/>
          </a:xfrm>
          <a:prstGeom prst="line">
            <a:avLst/>
          </a:prstGeom>
          <a:ln w="889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3"/>
          <p:cNvSpPr/>
          <p:nvPr/>
        </p:nvSpPr>
        <p:spPr>
          <a:xfrm>
            <a:off x="502920" y="6492240"/>
            <a:ext cx="38401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Source: EDA Capstone Project notebook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4"/>
          <p:cNvSpPr/>
          <p:nvPr/>
        </p:nvSpPr>
        <p:spPr>
          <a:xfrm>
            <a:off x="11109960" y="647388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23803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</a:t>
            </a:r>
          </a:p>
        </p:txBody>
      </p:sp>
      <p:sp>
        <p:nvSpPr>
          <p:cNvPr id="55" name="Shap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502920" y="3200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Dataset Snapshot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511920" y="768240"/>
            <a:ext cx="941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Core trip attributes used for cleaning, exploration, and feature engineering.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10104120" y="393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EDA Capstone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621720" y="1143000"/>
            <a:ext cx="1691280" cy="85932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731520" y="1261800"/>
            <a:ext cx="1471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1,000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740520" y="1645920"/>
            <a:ext cx="1453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Rows / trip records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2487240" y="1143000"/>
            <a:ext cx="1691280" cy="85932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2597040" y="1261800"/>
            <a:ext cx="1471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12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2606040" y="1645920"/>
            <a:ext cx="1453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Original columns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4352400" y="1143000"/>
            <a:ext cx="1691280" cy="85932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4462200" y="1261800"/>
            <a:ext cx="1471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4471560" y="1645920"/>
            <a:ext cx="1453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Final cleaned columns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6217920" y="1143000"/>
            <a:ext cx="1691280" cy="85932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6327720" y="1261800"/>
            <a:ext cx="1471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97316"/>
                </a:solidFill>
                <a:effectLst/>
                <a:uFillTx/>
                <a:latin typeface="Aptos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6336720" y="1645920"/>
            <a:ext cx="1453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Duplicate rows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0"/>
          <p:cNvSpPr/>
          <p:nvPr/>
        </p:nvSpPr>
        <p:spPr>
          <a:xfrm>
            <a:off x="502920" y="6418800"/>
            <a:ext cx="11155680" cy="360"/>
          </a:xfrm>
          <a:prstGeom prst="line">
            <a:avLst/>
          </a:prstGeom>
          <a:ln w="889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1"/>
          <p:cNvSpPr/>
          <p:nvPr/>
        </p:nvSpPr>
        <p:spPr>
          <a:xfrm>
            <a:off x="502920" y="6492240"/>
            <a:ext cx="38401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Source: EDA Capstone Project notebook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2"/>
          <p:cNvSpPr/>
          <p:nvPr/>
        </p:nvSpPr>
        <p:spPr>
          <a:xfrm>
            <a:off x="11109960" y="647388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58368" y="2148840"/>
            <a:ext cx="10972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04672" y="2249424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Fields analyzed: Trip ID, transport mode, departure/arrival stations, departure time/date, passenger count, fare amount, trip duration, and day of week.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8368" y="2761488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Coverage: trip dates span January to February 2024; departure hours run from 06:00 to 22:00.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58368" y="3090672"/>
            <a:ext cx="5577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6382512" y="3090672"/>
            <a:ext cx="528523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4" name="Picture 93" descr="mode_trips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72968"/>
            <a:ext cx="5413248" cy="2212848"/>
          </a:xfrm>
          <a:prstGeom prst="rect">
            <a:avLst/>
          </a:prstGeom>
        </p:spPr>
      </p:pic>
      <p:pic>
        <p:nvPicPr>
          <p:cNvPr id="95" name="Picture 94" descr="passenger_by_time_la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172968"/>
            <a:ext cx="5065776" cy="2212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502920" y="3200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Passenger Demand Patterns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511920" y="768240"/>
            <a:ext cx="941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The detailed charts now show values, share of total demand, average lines, and highest/lowest callouts.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10104120" y="393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EDA Capstone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567000" y="1078920"/>
            <a:ext cx="5440320" cy="3474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0" descr="/mnt/data/eda_deck_assets/detail_passenger_by_day.png"/>
          <p:cNvPicPr/>
          <p:nvPr/>
        </p:nvPicPr>
        <p:blipFill>
          <a:blip r:embed="rId3"/>
          <a:stretch/>
        </p:blipFill>
        <p:spPr>
          <a:xfrm>
            <a:off x="676800" y="1343880"/>
            <a:ext cx="5220720" cy="294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Shape 6"/>
          <p:cNvSpPr/>
          <p:nvPr/>
        </p:nvSpPr>
        <p:spPr>
          <a:xfrm>
            <a:off x="6199560" y="1078920"/>
            <a:ext cx="5440320" cy="3474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1" descr="/mnt/data/eda_deck_assets/detail_passenger_by_time.png"/>
          <p:cNvPicPr/>
          <p:nvPr/>
        </p:nvPicPr>
        <p:blipFill>
          <a:blip r:embed="rId4"/>
          <a:stretch/>
        </p:blipFill>
        <p:spPr>
          <a:xfrm>
            <a:off x="6309360" y="1344600"/>
            <a:ext cx="5220720" cy="294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Shape 7"/>
          <p:cNvSpPr/>
          <p:nvPr/>
        </p:nvSpPr>
        <p:spPr>
          <a:xfrm>
            <a:off x="658440" y="4800600"/>
            <a:ext cx="333720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E8F0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786240" y="4892040"/>
            <a:ext cx="140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7,708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2126880" y="4919400"/>
            <a:ext cx="17352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Sunday passengers: highest day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0"/>
          <p:cNvSpPr/>
          <p:nvPr/>
        </p:nvSpPr>
        <p:spPr>
          <a:xfrm>
            <a:off x="4316040" y="4800600"/>
            <a:ext cx="361152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E8F0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4443840" y="4892040"/>
            <a:ext cx="1516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23,507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5905080" y="4919400"/>
            <a:ext cx="1877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Morning passengers: 47.8% of demand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8247960" y="4800600"/>
            <a:ext cx="315432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E8F0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4"/>
          <p:cNvSpPr/>
          <p:nvPr/>
        </p:nvSpPr>
        <p:spPr>
          <a:xfrm>
            <a:off x="8375760" y="4892040"/>
            <a:ext cx="132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97316"/>
                </a:solidFill>
                <a:effectLst/>
                <a:uFillTx/>
                <a:latin typeface="Aptos"/>
              </a:rPr>
              <a:t>1,538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9636120" y="4919400"/>
            <a:ext cx="1640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Night passengers: only 3.1% of demand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6"/>
          <p:cNvSpPr/>
          <p:nvPr/>
        </p:nvSpPr>
        <p:spPr>
          <a:xfrm>
            <a:off x="658440" y="5596200"/>
            <a:ext cx="1074384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7"/>
          <p:cNvSpPr/>
          <p:nvPr/>
        </p:nvSpPr>
        <p:spPr>
          <a:xfrm>
            <a:off x="658440" y="5596200"/>
            <a:ext cx="72720" cy="6213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859680" y="5696280"/>
            <a:ext cx="10359720" cy="18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Operational reading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859680" y="5879160"/>
            <a:ext cx="10359720" cy="320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334155"/>
                </a:solidFill>
                <a:effectLst/>
                <a:uFillTx/>
                <a:latin typeface="Aptos"/>
              </a:rPr>
              <a:t>Demand is concentrated in the morning window, so capacity shortages are most likely during morning peak. Sunday should receive weekend-level staffing and fleet planning, while Thursday/night periods should be monitored for cost efficiency or targeted incentives.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0"/>
          <p:cNvSpPr/>
          <p:nvPr/>
        </p:nvSpPr>
        <p:spPr>
          <a:xfrm>
            <a:off x="502920" y="6418800"/>
            <a:ext cx="11155680" cy="360"/>
          </a:xfrm>
          <a:prstGeom prst="line">
            <a:avLst/>
          </a:prstGeom>
          <a:ln w="889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1"/>
          <p:cNvSpPr/>
          <p:nvPr/>
        </p:nvSpPr>
        <p:spPr>
          <a:xfrm>
            <a:off x="502920" y="6492240"/>
            <a:ext cx="38401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Source: EDA Capstone Project notebook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2"/>
          <p:cNvSpPr/>
          <p:nvPr/>
        </p:nvSpPr>
        <p:spPr>
          <a:xfrm>
            <a:off x="11109960" y="647388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502920" y="3200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Revenue Patterns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511920" y="768240"/>
            <a:ext cx="941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Revenue detail is broken down by time, day, and month to show where earning power is concentrated.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10104120" y="393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EDA Capstone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"/>
          <p:cNvSpPr/>
          <p:nvPr/>
        </p:nvSpPr>
        <p:spPr>
          <a:xfrm>
            <a:off x="567000" y="1060560"/>
            <a:ext cx="5440320" cy="31086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0" descr="/mnt/data/eda_deck_assets/detail_revenue_by_time.png"/>
          <p:cNvPicPr/>
          <p:nvPr/>
        </p:nvPicPr>
        <p:blipFill>
          <a:blip r:embed="rId3"/>
          <a:stretch/>
        </p:blipFill>
        <p:spPr>
          <a:xfrm>
            <a:off x="726120" y="1170360"/>
            <a:ext cx="5122440" cy="28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Shape 6"/>
          <p:cNvSpPr/>
          <p:nvPr/>
        </p:nvSpPr>
        <p:spPr>
          <a:xfrm>
            <a:off x="6199560" y="1060560"/>
            <a:ext cx="5440320" cy="31086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1" descr="/mnt/data/eda_deck_assets/detail_revenue_by_day.png"/>
          <p:cNvPicPr/>
          <p:nvPr/>
        </p:nvPicPr>
        <p:blipFill>
          <a:blip r:embed="rId4"/>
          <a:stretch/>
        </p:blipFill>
        <p:spPr>
          <a:xfrm>
            <a:off x="6358680" y="1170360"/>
            <a:ext cx="5122440" cy="28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Shape 8"/>
          <p:cNvSpPr/>
          <p:nvPr/>
        </p:nvSpPr>
        <p:spPr>
          <a:xfrm>
            <a:off x="4316040" y="4462200"/>
            <a:ext cx="361152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4316040" y="4462200"/>
            <a:ext cx="72720" cy="157248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4517280" y="4626720"/>
            <a:ext cx="322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Revenue interpretation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4517280" y="4946760"/>
            <a:ext cx="3227400" cy="95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Morning trips generate 609K revenue, or 48.7% of total observed revenue. Sunday is the best revenue day at 195.7K, while Thursday is the weakest at 164.0K. January dominates the observed period with 75.0% of revenue, so month-to-month comparisons should be read carefully because February has fewer recorded trips in the dataset.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8183880" y="4462200"/>
            <a:ext cx="345600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3"/>
          <p:cNvSpPr/>
          <p:nvPr/>
        </p:nvSpPr>
        <p:spPr>
          <a:xfrm>
            <a:off x="8183880" y="4462200"/>
            <a:ext cx="72720" cy="15724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8385120" y="4626720"/>
            <a:ext cx="30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Business implication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8385120" y="4946760"/>
            <a:ext cx="3071880" cy="95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The best immediate revenue protection strategy is to keep service reliability high during morning and Sunday peaks. The best margin strategy is to assess whether low-revenue periods can be served with smaller vehicles, lower frequency, or demand-stimulating promotions.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6"/>
          <p:cNvSpPr/>
          <p:nvPr/>
        </p:nvSpPr>
        <p:spPr>
          <a:xfrm>
            <a:off x="502920" y="6418800"/>
            <a:ext cx="11155680" cy="360"/>
          </a:xfrm>
          <a:prstGeom prst="line">
            <a:avLst/>
          </a:prstGeom>
          <a:ln w="889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502920" y="6492240"/>
            <a:ext cx="38401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Source: EDA Capstone Project notebook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8"/>
          <p:cNvSpPr/>
          <p:nvPr/>
        </p:nvSpPr>
        <p:spPr>
          <a:xfrm>
            <a:off x="11109960" y="647388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566928" y="4041648"/>
            <a:ext cx="35661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49808" y="4187952"/>
            <a:ext cx="3182112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Aptos"/>
              </a:rPr>
              <a:t>Monthly Revenue Split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49808" y="4425696"/>
            <a:ext cx="3182112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January dominates the observed period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86384" y="468172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January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660903" y="468172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ptos"/>
              </a:rPr>
              <a:t>938K | 75.0%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86384" y="4919472"/>
            <a:ext cx="2999232" cy="1371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ounded Rectangle 167"/>
          <p:cNvSpPr/>
          <p:nvPr/>
        </p:nvSpPr>
        <p:spPr>
          <a:xfrm>
            <a:off x="786384" y="4919472"/>
            <a:ext cx="2249424" cy="137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86384" y="513892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February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660903" y="513892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200" b="1">
                <a:solidFill>
                  <a:srgbClr val="111827"/>
                </a:solidFill>
                <a:latin typeface="Aptos"/>
              </a:rPr>
              <a:t>312K | 25.0%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86384" y="5376672"/>
            <a:ext cx="2999232" cy="1371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ounded Rectangle 171"/>
          <p:cNvSpPr/>
          <p:nvPr/>
        </p:nvSpPr>
        <p:spPr>
          <a:xfrm>
            <a:off x="786384" y="5376672"/>
            <a:ext cx="749808" cy="137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502920" y="3200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Route Hotspots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"/>
          <p:cNvSpPr/>
          <p:nvPr/>
        </p:nvSpPr>
        <p:spPr>
          <a:xfrm>
            <a:off x="511920" y="768240"/>
            <a:ext cx="941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Route charts include ranking, counts, and share to show where demand is concentrated.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4"/>
          <p:cNvSpPr/>
          <p:nvPr/>
        </p:nvSpPr>
        <p:spPr>
          <a:xfrm>
            <a:off x="10104120" y="393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EDA Capstone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5"/>
          <p:cNvSpPr/>
          <p:nvPr/>
        </p:nvSpPr>
        <p:spPr>
          <a:xfrm>
            <a:off x="530280" y="1051560"/>
            <a:ext cx="5440320" cy="4461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0" descr="/mnt/data/eda_deck_assets/detail_top_routes_count.png"/>
          <p:cNvPicPr/>
          <p:nvPr/>
        </p:nvPicPr>
        <p:blipFill>
          <a:blip r:embed="rId3"/>
          <a:stretch/>
        </p:blipFill>
        <p:spPr>
          <a:xfrm>
            <a:off x="640080" y="1825560"/>
            <a:ext cx="5220720" cy="291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Shape 6"/>
          <p:cNvSpPr/>
          <p:nvPr/>
        </p:nvSpPr>
        <p:spPr>
          <a:xfrm>
            <a:off x="6199560" y="1051560"/>
            <a:ext cx="5440320" cy="4461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1" descr="/mnt/data/eda_deck_assets/detail_top_routes_passengers.png"/>
          <p:cNvPicPr/>
          <p:nvPr/>
        </p:nvPicPr>
        <p:blipFill>
          <a:blip r:embed="rId4"/>
          <a:stretch/>
        </p:blipFill>
        <p:spPr>
          <a:xfrm>
            <a:off x="6309360" y="1825560"/>
            <a:ext cx="5220720" cy="291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Shape 7"/>
          <p:cNvSpPr/>
          <p:nvPr/>
        </p:nvSpPr>
        <p:spPr>
          <a:xfrm>
            <a:off x="658440" y="5706000"/>
            <a:ext cx="516600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8"/>
          <p:cNvSpPr/>
          <p:nvPr/>
        </p:nvSpPr>
        <p:spPr>
          <a:xfrm>
            <a:off x="658440" y="5706000"/>
            <a:ext cx="72720" cy="5666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859680" y="5645160"/>
            <a:ext cx="4781880" cy="22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 dirty="0">
                <a:solidFill>
                  <a:srgbClr val="0F172A"/>
                </a:solidFill>
                <a:effectLst/>
                <a:uFillTx/>
                <a:latin typeface="Aptos"/>
              </a:rPr>
              <a:t>Priority corridor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859680" y="5815173"/>
            <a:ext cx="4781880" cy="5183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334155"/>
                </a:solidFill>
                <a:effectLst/>
                <a:uFillTx/>
                <a:latin typeface="Aptos"/>
              </a:rPr>
              <a:t>North Station → Airport ranks #1 by trip count and passenger count, making it the strongest candidate for frequency protection, queue monitoring, and route-level service quality tracking.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1"/>
          <p:cNvSpPr/>
          <p:nvPr/>
        </p:nvSpPr>
        <p:spPr>
          <a:xfrm>
            <a:off x="6291000" y="5697000"/>
            <a:ext cx="516600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6291000" y="5706000"/>
            <a:ext cx="72720" cy="5666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6492240" y="5706000"/>
            <a:ext cx="4781880" cy="16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 dirty="0">
                <a:solidFill>
                  <a:srgbClr val="0F172A"/>
                </a:solidFill>
                <a:effectLst/>
                <a:uFillTx/>
                <a:latin typeface="Aptos"/>
              </a:rPr>
              <a:t>Secondary corridors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6492240" y="5870520"/>
            <a:ext cx="4781880" cy="41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334155"/>
                </a:solidFill>
                <a:effectLst/>
                <a:uFillTx/>
                <a:latin typeface="Aptos"/>
              </a:rPr>
              <a:t>Central → Airport and North Station → Downtown also show high passenger totals. These should be monitored as backup growth corridors, especially when allocating extra buses, dispatchers, or weekend capacity.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5"/>
          <p:cNvSpPr/>
          <p:nvPr/>
        </p:nvSpPr>
        <p:spPr>
          <a:xfrm>
            <a:off x="502920" y="6418800"/>
            <a:ext cx="11155680" cy="360"/>
          </a:xfrm>
          <a:prstGeom prst="line">
            <a:avLst/>
          </a:prstGeom>
          <a:ln w="889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6"/>
          <p:cNvSpPr/>
          <p:nvPr/>
        </p:nvSpPr>
        <p:spPr>
          <a:xfrm>
            <a:off x="502920" y="6492240"/>
            <a:ext cx="38401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Source: EDA Capstone Project notebook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7"/>
          <p:cNvSpPr/>
          <p:nvPr/>
        </p:nvSpPr>
        <p:spPr>
          <a:xfrm>
            <a:off x="11109960" y="647388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07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502920" y="3200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Transport Mode Performance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511920" y="768240"/>
            <a:ext cx="941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Mode-level charts compare volume, trip share, trip duration, and average revenue.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10104120" y="393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EDA Capstone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7"/>
          <p:cNvSpPr/>
          <p:nvPr/>
        </p:nvSpPr>
        <p:spPr>
          <a:xfrm>
            <a:off x="502920" y="6418800"/>
            <a:ext cx="11155680" cy="360"/>
          </a:xfrm>
          <a:prstGeom prst="line">
            <a:avLst/>
          </a:prstGeom>
          <a:ln w="889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502920" y="6492240"/>
            <a:ext cx="38401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Source: EDA Capstone Project notebook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11109960" y="647388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08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205"/>
          <p:cNvSpPr/>
          <p:nvPr/>
        </p:nvSpPr>
        <p:spPr>
          <a:xfrm>
            <a:off x="530352" y="987552"/>
            <a:ext cx="309067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694944" y="1133856"/>
            <a:ext cx="2761488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Aptos"/>
              </a:rPr>
              <a:t>Trip Count by Mode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94944" y="1399032"/>
            <a:ext cx="2761488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Values show trips and share of all 1,000 trips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77240" y="1645920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Bus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023750" y="1645920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332 (33%)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777240" y="1828800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ounded Rectangle 211"/>
          <p:cNvSpPr/>
          <p:nvPr/>
        </p:nvSpPr>
        <p:spPr>
          <a:xfrm>
            <a:off x="777240" y="1828800"/>
            <a:ext cx="2596896" cy="914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777240" y="1965960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Ferry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23750" y="1965960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287 (29%)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777240" y="2148840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ounded Rectangle 215"/>
          <p:cNvSpPr/>
          <p:nvPr/>
        </p:nvSpPr>
        <p:spPr>
          <a:xfrm>
            <a:off x="777240" y="2148840"/>
            <a:ext cx="2244907" cy="914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777240" y="2286000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Train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023750" y="2286000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243 (24%)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77240" y="2468880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ounded Rectangle 219"/>
          <p:cNvSpPr/>
          <p:nvPr/>
        </p:nvSpPr>
        <p:spPr>
          <a:xfrm>
            <a:off x="777240" y="2468880"/>
            <a:ext cx="1900740" cy="914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777240" y="2606040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Tram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023750" y="2606040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138 (14%)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777240" y="2788920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ounded Rectangle 223"/>
          <p:cNvSpPr/>
          <p:nvPr/>
        </p:nvSpPr>
        <p:spPr>
          <a:xfrm>
            <a:off x="777240" y="2788920"/>
            <a:ext cx="1079432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ounded Rectangle 224"/>
          <p:cNvSpPr/>
          <p:nvPr/>
        </p:nvSpPr>
        <p:spPr>
          <a:xfrm>
            <a:off x="3794760" y="987552"/>
            <a:ext cx="309067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3959352" y="1133856"/>
            <a:ext cx="2761488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Aptos"/>
              </a:rPr>
              <a:t>Passenger Volume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959352" y="1399032"/>
            <a:ext cx="2761488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Bus carries the highest passenger load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041648" y="1645920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Bus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5288158" y="1645920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16.3K (33%)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4041648" y="1828800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ounded Rectangle 230"/>
          <p:cNvSpPr/>
          <p:nvPr/>
        </p:nvSpPr>
        <p:spPr>
          <a:xfrm>
            <a:off x="4041648" y="1828800"/>
            <a:ext cx="2596896" cy="914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4041648" y="1965960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Ferry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88158" y="1965960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14.3K (29%)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4041648" y="2148840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ounded Rectangle 234"/>
          <p:cNvSpPr/>
          <p:nvPr/>
        </p:nvSpPr>
        <p:spPr>
          <a:xfrm>
            <a:off x="4041648" y="2148840"/>
            <a:ext cx="2281758" cy="914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4041648" y="2286000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Train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288158" y="2286000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11.5K (23%)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4041648" y="2468880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ounded Rectangle 238"/>
          <p:cNvSpPr/>
          <p:nvPr/>
        </p:nvSpPr>
        <p:spPr>
          <a:xfrm>
            <a:off x="4041648" y="2468880"/>
            <a:ext cx="1826171" cy="914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4041648" y="2606040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Tram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288158" y="2606040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7.0K (14%)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4041648" y="2788920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ounded Rectangle 242"/>
          <p:cNvSpPr/>
          <p:nvPr/>
        </p:nvSpPr>
        <p:spPr>
          <a:xfrm>
            <a:off x="4041648" y="2788920"/>
            <a:ext cx="1120098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530352" y="3346704"/>
            <a:ext cx="309067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694944" y="3493008"/>
            <a:ext cx="2761488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Aptos"/>
              </a:rPr>
              <a:t>Average Trip Duration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694944" y="3758184"/>
            <a:ext cx="2761488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Duration differences are small across modes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77240" y="4005072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Bus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2023750" y="4005072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96 min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777240" y="4187952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ounded Rectangle 249"/>
          <p:cNvSpPr/>
          <p:nvPr/>
        </p:nvSpPr>
        <p:spPr>
          <a:xfrm>
            <a:off x="777240" y="4187952"/>
            <a:ext cx="2493020" cy="914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777240" y="4325112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Tram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023750" y="4325112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95 min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777240" y="4507992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ounded Rectangle 253"/>
          <p:cNvSpPr/>
          <p:nvPr/>
        </p:nvSpPr>
        <p:spPr>
          <a:xfrm>
            <a:off x="777240" y="4507992"/>
            <a:ext cx="2464454" cy="914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777240" y="4645152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Train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023750" y="4645152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94 min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777240" y="4828032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ounded Rectangle 257"/>
          <p:cNvSpPr/>
          <p:nvPr/>
        </p:nvSpPr>
        <p:spPr>
          <a:xfrm>
            <a:off x="777240" y="4828032"/>
            <a:ext cx="2448872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777240" y="4965192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Ferry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023750" y="4965192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92 min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777240" y="5148072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ounded Rectangle 261"/>
          <p:cNvSpPr/>
          <p:nvPr/>
        </p:nvSpPr>
        <p:spPr>
          <a:xfrm>
            <a:off x="777240" y="5148072"/>
            <a:ext cx="2383950" cy="9144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ounded Rectangle 262"/>
          <p:cNvSpPr/>
          <p:nvPr/>
        </p:nvSpPr>
        <p:spPr>
          <a:xfrm>
            <a:off x="3794760" y="3346704"/>
            <a:ext cx="309067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3959352" y="3493008"/>
            <a:ext cx="2761488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Aptos"/>
              </a:rPr>
              <a:t>Average Revenue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3959352" y="3758184"/>
            <a:ext cx="2761488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Aptos"/>
              </a:rPr>
              <a:t>Train and Tram lead average revenue per trip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041648" y="4005072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Train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5288158" y="4005072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1,265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4041648" y="4187952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ounded Rectangle 268"/>
          <p:cNvSpPr/>
          <p:nvPr/>
        </p:nvSpPr>
        <p:spPr>
          <a:xfrm>
            <a:off x="4041648" y="4187952"/>
            <a:ext cx="2526979" cy="914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4041648" y="4325112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Tram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288158" y="4325112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1,265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4041648" y="4507992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ounded Rectangle 272"/>
          <p:cNvSpPr/>
          <p:nvPr/>
        </p:nvSpPr>
        <p:spPr>
          <a:xfrm>
            <a:off x="4041648" y="4507992"/>
            <a:ext cx="2526979" cy="914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4041648" y="4645152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Ferry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288158" y="4645152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1,246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4041648" y="4828032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ounded Rectangle 276"/>
          <p:cNvSpPr/>
          <p:nvPr/>
        </p:nvSpPr>
        <p:spPr>
          <a:xfrm>
            <a:off x="4041648" y="4828032"/>
            <a:ext cx="2489024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4041648" y="4965192"/>
            <a:ext cx="109069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Bus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88158" y="4965192"/>
            <a:ext cx="1350385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1,244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4041648" y="5148072"/>
            <a:ext cx="2596896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ounded Rectangle 280"/>
          <p:cNvSpPr/>
          <p:nvPr/>
        </p:nvSpPr>
        <p:spPr>
          <a:xfrm>
            <a:off x="4041648" y="5148072"/>
            <a:ext cx="2485029" cy="9144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Rounded Rectangle 281"/>
          <p:cNvSpPr/>
          <p:nvPr/>
        </p:nvSpPr>
        <p:spPr>
          <a:xfrm>
            <a:off x="7150608" y="987552"/>
            <a:ext cx="4096512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7360920" y="12984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Aptos"/>
              </a:rPr>
              <a:t>Readable mode interpretation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360920" y="1627632"/>
            <a:ext cx="3657600" cy="27432"/>
          </a:xfrm>
          <a:prstGeom prst="rect">
            <a:avLst/>
          </a:prstGeom>
          <a:solidFill>
            <a:srgbClr val="0F7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7360920" y="1865376"/>
            <a:ext cx="3703320" cy="26974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• Bus has the highest operating load: 332 trips and 16,308 passengers.</a:t>
            </a:r>
          </a:p>
          <a:p>
            <a:pPr>
              <a:spcAft>
                <a:spcPts val="2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• Ferry is second for trips and passengers, so it should remain part of peak-capacity planning.</a:t>
            </a:r>
          </a:p>
          <a:p>
            <a:pPr>
              <a:spcAft>
                <a:spcPts val="2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• Train and Tram have the strongest average revenue per trip at about 1,265 each.</a:t>
            </a:r>
          </a:p>
          <a:p>
            <a:pPr>
              <a:spcAft>
                <a:spcPts val="2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• Duration is close across modes, ranging from about 92 to 96 minutes, so efficiency decisions should combine volume, revenue, and reliability.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7150608" y="5376672"/>
            <a:ext cx="409651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7351775" y="5495544"/>
            <a:ext cx="3694176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Main action: protect Bus capacity first, then test premium strategy on Train/Tram corridors.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502920" y="3200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Operational Efficiency &amp; Relationships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511920" y="768240"/>
            <a:ext cx="941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The strongest revenue relationships come from fare amount and passenger count, not trip duration.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10104120" y="393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EDA Capstone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"/>
          <p:cNvSpPr/>
          <p:nvPr/>
        </p:nvSpPr>
        <p:spPr>
          <a:xfrm>
            <a:off x="567000" y="1078920"/>
            <a:ext cx="5440320" cy="32457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 0" descr="/mnt/data/eda_images/cell_72_16.png"/>
          <p:cNvPicPr/>
          <p:nvPr/>
        </p:nvPicPr>
        <p:blipFill>
          <a:blip r:embed="rId3"/>
          <a:stretch/>
        </p:blipFill>
        <p:spPr>
          <a:xfrm>
            <a:off x="679680" y="1188720"/>
            <a:ext cx="5215320" cy="302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Shape 6"/>
          <p:cNvSpPr/>
          <p:nvPr/>
        </p:nvSpPr>
        <p:spPr>
          <a:xfrm>
            <a:off x="6199560" y="1078920"/>
            <a:ext cx="5440320" cy="32457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1" descr="/mnt/data/eda_deck_assets/detail_correlation_snapshot.png"/>
          <p:cNvPicPr/>
          <p:nvPr/>
        </p:nvPicPr>
        <p:blipFill>
          <a:blip r:embed="rId4"/>
          <a:stretch/>
        </p:blipFill>
        <p:spPr>
          <a:xfrm>
            <a:off x="7318440" y="1188720"/>
            <a:ext cx="3202920" cy="302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Shape 7"/>
          <p:cNvSpPr/>
          <p:nvPr/>
        </p:nvSpPr>
        <p:spPr>
          <a:xfrm>
            <a:off x="749880" y="4617720"/>
            <a:ext cx="315432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E8F0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8"/>
          <p:cNvSpPr/>
          <p:nvPr/>
        </p:nvSpPr>
        <p:spPr>
          <a:xfrm>
            <a:off x="877680" y="4709160"/>
            <a:ext cx="132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~0.67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9"/>
          <p:cNvSpPr/>
          <p:nvPr/>
        </p:nvSpPr>
        <p:spPr>
          <a:xfrm>
            <a:off x="2138040" y="4736520"/>
            <a:ext cx="1640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Revenue ↔ Fare Amount correlation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0"/>
          <p:cNvSpPr/>
          <p:nvPr/>
        </p:nvSpPr>
        <p:spPr>
          <a:xfrm>
            <a:off x="4526280" y="4617720"/>
            <a:ext cx="333720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E8F0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4654440" y="4709160"/>
            <a:ext cx="140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~0.66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2"/>
          <p:cNvSpPr/>
          <p:nvPr/>
        </p:nvSpPr>
        <p:spPr>
          <a:xfrm>
            <a:off x="5994720" y="4736520"/>
            <a:ext cx="17352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Revenue ↔ Passenger Count correlation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3"/>
          <p:cNvSpPr/>
          <p:nvPr/>
        </p:nvSpPr>
        <p:spPr>
          <a:xfrm>
            <a:off x="8458200" y="4617720"/>
            <a:ext cx="2971440" cy="62136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E8F0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4"/>
          <p:cNvSpPr/>
          <p:nvPr/>
        </p:nvSpPr>
        <p:spPr>
          <a:xfrm>
            <a:off x="8586360" y="4709160"/>
            <a:ext cx="1247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97316"/>
                </a:solidFill>
                <a:effectLst/>
                <a:uFillTx/>
                <a:latin typeface="Aptos"/>
              </a:rPr>
              <a:t>~0.00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5"/>
          <p:cNvSpPr/>
          <p:nvPr/>
        </p:nvSpPr>
        <p:spPr>
          <a:xfrm>
            <a:off x="9765720" y="4736520"/>
            <a:ext cx="1545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Revenue ↔ Trip Duration correlation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6"/>
          <p:cNvSpPr/>
          <p:nvPr/>
        </p:nvSpPr>
        <p:spPr>
          <a:xfrm>
            <a:off x="796936" y="5605560"/>
            <a:ext cx="10679760" cy="667080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7"/>
          <p:cNvSpPr/>
          <p:nvPr/>
        </p:nvSpPr>
        <p:spPr>
          <a:xfrm>
            <a:off x="749880" y="5513760"/>
            <a:ext cx="72720" cy="6670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8"/>
          <p:cNvSpPr/>
          <p:nvPr/>
        </p:nvSpPr>
        <p:spPr>
          <a:xfrm>
            <a:off x="951120" y="5678280"/>
            <a:ext cx="10295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What this means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9"/>
          <p:cNvSpPr/>
          <p:nvPr/>
        </p:nvSpPr>
        <p:spPr>
          <a:xfrm>
            <a:off x="951120" y="5979600"/>
            <a:ext cx="10158840" cy="14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334155"/>
                </a:solidFill>
                <a:effectLst/>
                <a:uFillTx/>
                <a:latin typeface="Aptos"/>
              </a:rPr>
              <a:t>Revenue is not mainly explained by longer trips in this dataset. </a:t>
            </a:r>
            <a:r>
              <a:rPr lang="en-US" sz="1000" b="0" u="none" strike="noStrike" dirty="0" err="1">
                <a:solidFill>
                  <a:srgbClr val="334155"/>
                </a:solidFill>
                <a:effectLst/>
                <a:uFillTx/>
                <a:latin typeface="Aptos"/>
              </a:rPr>
              <a:t>MetroMove</a:t>
            </a:r>
            <a:r>
              <a:rPr lang="en-US" sz="1000" b="0" u="none" strike="noStrike" dirty="0">
                <a:solidFill>
                  <a:srgbClr val="334155"/>
                </a:solidFill>
                <a:effectLst/>
                <a:uFillTx/>
                <a:latin typeface="Aptos"/>
              </a:rPr>
              <a:t> should therefore prioritize passenger-loading efficiency, fare accuracy, and high-demand route performance befo</a:t>
            </a:r>
            <a:r>
              <a:rPr lang="en-US" sz="1000" b="0" u="none" strike="noStrike" dirty="0">
                <a:solidFill>
                  <a:srgbClr val="334155"/>
                </a:solidFill>
                <a:effectLst/>
                <a:uFillTx/>
                <a:latin typeface="Aptos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1000" b="0" u="none" strike="noStrike" dirty="0">
                <a:solidFill>
                  <a:srgbClr val="334155"/>
                </a:solidFill>
                <a:effectLst/>
                <a:uFillTx/>
                <a:latin typeface="Aptos"/>
              </a:rPr>
              <a:t>e assuming longer trips are always more profitable.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0"/>
          <p:cNvSpPr/>
          <p:nvPr/>
        </p:nvSpPr>
        <p:spPr>
          <a:xfrm>
            <a:off x="502920" y="6418800"/>
            <a:ext cx="11155680" cy="360"/>
          </a:xfrm>
          <a:prstGeom prst="line">
            <a:avLst/>
          </a:prstGeom>
          <a:ln w="889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1"/>
          <p:cNvSpPr/>
          <p:nvPr/>
        </p:nvSpPr>
        <p:spPr>
          <a:xfrm>
            <a:off x="502920" y="6492240"/>
            <a:ext cx="38401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Source: EDA Capstone Project notebook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2"/>
          <p:cNvSpPr/>
          <p:nvPr/>
        </p:nvSpPr>
        <p:spPr>
          <a:xfrm>
            <a:off x="11109960" y="647388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09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502920" y="3200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Key Insights from </a:t>
            </a:r>
            <a:r>
              <a:rPr lang="en-US" sz="25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the Graphs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511920" y="768240"/>
            <a:ext cx="9417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The strongest patterns are consistent across demand, revenue, route, and correlation views.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10104120" y="393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EDA Capstone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5"/>
          <p:cNvSpPr/>
          <p:nvPr/>
        </p:nvSpPr>
        <p:spPr>
          <a:xfrm>
            <a:off x="567000" y="1097280"/>
            <a:ext cx="5440320" cy="3748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0" descr="/mnt/data/eda_deck_assets/detail_top_routes_avg_revenue.png"/>
          <p:cNvPicPr/>
          <p:nvPr/>
        </p:nvPicPr>
        <p:blipFill>
          <a:blip r:embed="rId3"/>
          <a:stretch/>
        </p:blipFill>
        <p:spPr>
          <a:xfrm>
            <a:off x="676800" y="1515240"/>
            <a:ext cx="5220720" cy="291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Shape 6"/>
          <p:cNvSpPr/>
          <p:nvPr/>
        </p:nvSpPr>
        <p:spPr>
          <a:xfrm>
            <a:off x="6291000" y="1097280"/>
            <a:ext cx="5166000" cy="374868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8890">
            <a:solidFill>
              <a:srgbClr val="E2E8F0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7"/>
          <p:cNvSpPr/>
          <p:nvPr/>
        </p:nvSpPr>
        <p:spPr>
          <a:xfrm>
            <a:off x="6519600" y="1325880"/>
            <a:ext cx="4708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Insight summary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8"/>
          <p:cNvSpPr/>
          <p:nvPr/>
        </p:nvSpPr>
        <p:spPr>
          <a:xfrm>
            <a:off x="6519600" y="1719000"/>
            <a:ext cx="4709160" cy="360"/>
          </a:xfrm>
          <a:prstGeom prst="line">
            <a:avLst/>
          </a:prstGeom>
          <a:ln w="16510">
            <a:solidFill>
              <a:srgbClr val="0F766E">
                <a:alpha val="9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9"/>
          <p:cNvSpPr/>
          <p:nvPr/>
        </p:nvSpPr>
        <p:spPr>
          <a:xfrm>
            <a:off x="6519600" y="1947600"/>
            <a:ext cx="255600" cy="2556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0"/>
          <p:cNvSpPr/>
          <p:nvPr/>
        </p:nvSpPr>
        <p:spPr>
          <a:xfrm>
            <a:off x="6858000" y="1920240"/>
            <a:ext cx="4297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Morning is the single most important operating window: 47.8% of passengers and 48.7% of revenue.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1"/>
          <p:cNvSpPr/>
          <p:nvPr/>
        </p:nvSpPr>
        <p:spPr>
          <a:xfrm>
            <a:off x="6519600" y="2541960"/>
            <a:ext cx="255600" cy="2556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2"/>
          <p:cNvSpPr/>
          <p:nvPr/>
        </p:nvSpPr>
        <p:spPr>
          <a:xfrm>
            <a:off x="6858000" y="2514600"/>
            <a:ext cx="4297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Sunday is the strongest day for both passenger demand and revenue; Thursday is the weakest in both views.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3"/>
          <p:cNvSpPr/>
          <p:nvPr/>
        </p:nvSpPr>
        <p:spPr>
          <a:xfrm>
            <a:off x="6519600" y="3136320"/>
            <a:ext cx="255600" cy="2556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4"/>
          <p:cNvSpPr/>
          <p:nvPr/>
        </p:nvSpPr>
        <p:spPr>
          <a:xfrm>
            <a:off x="6858000" y="3108960"/>
            <a:ext cx="4297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Bus carries the highest operational load, while Train and Tram slightly lead average revenue per trip.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5"/>
          <p:cNvSpPr/>
          <p:nvPr/>
        </p:nvSpPr>
        <p:spPr>
          <a:xfrm>
            <a:off x="6519600" y="3730680"/>
            <a:ext cx="255600" cy="2556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6"/>
          <p:cNvSpPr/>
          <p:nvPr/>
        </p:nvSpPr>
        <p:spPr>
          <a:xfrm>
            <a:off x="6858000" y="3703320"/>
            <a:ext cx="4297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North Station → Airport is the leading route by both trips and passengers, making it a priority corridor.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7"/>
          <p:cNvSpPr/>
          <p:nvPr/>
        </p:nvSpPr>
        <p:spPr>
          <a:xfrm>
            <a:off x="6519600" y="4325040"/>
            <a:ext cx="255600" cy="2556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8"/>
          <p:cNvSpPr/>
          <p:nvPr/>
        </p:nvSpPr>
        <p:spPr>
          <a:xfrm>
            <a:off x="6858000" y="4297680"/>
            <a:ext cx="4297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Revenue has meaningful links to passenger count and fare amount, while trip duration shows almost no revenue relationship.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9"/>
          <p:cNvSpPr/>
          <p:nvPr/>
        </p:nvSpPr>
        <p:spPr>
          <a:xfrm>
            <a:off x="749880" y="5139000"/>
            <a:ext cx="1056096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0"/>
          <p:cNvSpPr/>
          <p:nvPr/>
        </p:nvSpPr>
        <p:spPr>
          <a:xfrm>
            <a:off x="749880" y="5139000"/>
            <a:ext cx="72720" cy="73116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1"/>
          <p:cNvSpPr/>
          <p:nvPr/>
        </p:nvSpPr>
        <p:spPr>
          <a:xfrm>
            <a:off x="951120" y="5303520"/>
            <a:ext cx="1017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How to use the route revenue chart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2"/>
          <p:cNvSpPr/>
          <p:nvPr/>
        </p:nvSpPr>
        <p:spPr>
          <a:xfrm>
            <a:off x="951120" y="5527496"/>
            <a:ext cx="10176840" cy="2973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334155"/>
                </a:solidFill>
                <a:effectLst/>
                <a:uFillTx/>
                <a:latin typeface="Aptos"/>
              </a:rPr>
              <a:t>Average revenue by route should be paired with passenger volume before final decisions. A route can have strong average revenue but still need validation on total passenger demand, capacity use, and service frequency.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3"/>
          <p:cNvSpPr/>
          <p:nvPr/>
        </p:nvSpPr>
        <p:spPr>
          <a:xfrm>
            <a:off x="502920" y="6418800"/>
            <a:ext cx="11155680" cy="360"/>
          </a:xfrm>
          <a:prstGeom prst="line">
            <a:avLst/>
          </a:prstGeom>
          <a:ln w="889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4"/>
          <p:cNvSpPr/>
          <p:nvPr/>
        </p:nvSpPr>
        <p:spPr>
          <a:xfrm>
            <a:off x="502920" y="6492240"/>
            <a:ext cx="38401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Source: EDA Capstone Project notebook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5"/>
          <p:cNvSpPr/>
          <p:nvPr/>
        </p:nvSpPr>
        <p:spPr>
          <a:xfrm>
            <a:off x="11109960" y="647388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10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-1455300" y="-21960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502920" y="3200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Recommendations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"/>
          <p:cNvSpPr/>
          <p:nvPr/>
        </p:nvSpPr>
        <p:spPr>
          <a:xfrm>
            <a:off x="10104120" y="393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EDA Capstone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5"/>
          <p:cNvSpPr/>
          <p:nvPr/>
        </p:nvSpPr>
        <p:spPr>
          <a:xfrm>
            <a:off x="567000" y="1051560"/>
            <a:ext cx="36115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731520" y="1197720"/>
            <a:ext cx="319680" cy="31968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7"/>
          <p:cNvSpPr/>
          <p:nvPr/>
        </p:nvSpPr>
        <p:spPr>
          <a:xfrm>
            <a:off x="1152000" y="1207080"/>
            <a:ext cx="28342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Protect morning peak capacity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768240" y="1627560"/>
            <a:ext cx="32090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Increase vehicle availability, station staff, dispatch monitoring, and queue control during the morning period because it carries nearly half of observed passengers and revenue.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9"/>
          <p:cNvSpPr/>
          <p:nvPr/>
        </p:nvSpPr>
        <p:spPr>
          <a:xfrm>
            <a:off x="4316040" y="1051560"/>
            <a:ext cx="36115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0"/>
          <p:cNvSpPr/>
          <p:nvPr/>
        </p:nvSpPr>
        <p:spPr>
          <a:xfrm>
            <a:off x="4480560" y="1197720"/>
            <a:ext cx="319680" cy="3196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1"/>
          <p:cNvSpPr/>
          <p:nvPr/>
        </p:nvSpPr>
        <p:spPr>
          <a:xfrm>
            <a:off x="4901040" y="1207080"/>
            <a:ext cx="28342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Treat Sunday as a high-demand service day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2"/>
          <p:cNvSpPr/>
          <p:nvPr/>
        </p:nvSpPr>
        <p:spPr>
          <a:xfrm>
            <a:off x="4517280" y="1627560"/>
            <a:ext cx="32090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Use weekend-specific scheduling for Sunday instead of treating it as low-intensity weekend service. Add standby capacity on routes with repeated Sunday crowding.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3"/>
          <p:cNvSpPr/>
          <p:nvPr/>
        </p:nvSpPr>
        <p:spPr>
          <a:xfrm>
            <a:off x="8065080" y="1051560"/>
            <a:ext cx="36115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4"/>
          <p:cNvSpPr/>
          <p:nvPr/>
        </p:nvSpPr>
        <p:spPr>
          <a:xfrm>
            <a:off x="8229600" y="1197720"/>
            <a:ext cx="319680" cy="319680"/>
          </a:xfrm>
          <a:prstGeom prst="rect">
            <a:avLst/>
          </a:prstGeom>
          <a:solidFill>
            <a:srgbClr val="F9731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5"/>
          <p:cNvSpPr/>
          <p:nvPr/>
        </p:nvSpPr>
        <p:spPr>
          <a:xfrm>
            <a:off x="8650080" y="1207080"/>
            <a:ext cx="28342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Prioritize North Station → Airport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6"/>
          <p:cNvSpPr/>
          <p:nvPr/>
        </p:nvSpPr>
        <p:spPr>
          <a:xfrm>
            <a:off x="8266320" y="1627560"/>
            <a:ext cx="32090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Create a corridor watchlist for North Station → Airport with on-time performance, boarding load, skipped passengers, and revenue per trip tracked weekly.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7"/>
          <p:cNvSpPr/>
          <p:nvPr/>
        </p:nvSpPr>
        <p:spPr>
          <a:xfrm>
            <a:off x="567000" y="2816280"/>
            <a:ext cx="361152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8"/>
          <p:cNvSpPr/>
          <p:nvPr/>
        </p:nvSpPr>
        <p:spPr>
          <a:xfrm>
            <a:off x="731520" y="2962800"/>
            <a:ext cx="319680" cy="319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9"/>
          <p:cNvSpPr/>
          <p:nvPr/>
        </p:nvSpPr>
        <p:spPr>
          <a:xfrm>
            <a:off x="1152000" y="2971800"/>
            <a:ext cx="28342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0F172A"/>
                </a:solidFill>
                <a:effectLst/>
                <a:uFillTx/>
                <a:latin typeface="Aptos"/>
              </a:rPr>
              <a:t>Rebalance low-demand periods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0"/>
          <p:cNvSpPr/>
          <p:nvPr/>
        </p:nvSpPr>
        <p:spPr>
          <a:xfrm>
            <a:off x="768240" y="3392280"/>
            <a:ext cx="32090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 dirty="0">
                <a:solidFill>
                  <a:srgbClr val="334155"/>
                </a:solidFill>
                <a:effectLst/>
                <a:uFillTx/>
                <a:latin typeface="Aptos"/>
              </a:rPr>
              <a:t>Review Thursday and night schedules for lower utilization. Consider smaller vehicles, reduced frequency, or limited promotional pricing to lift demand without overspending.</a:t>
            </a: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1"/>
          <p:cNvSpPr/>
          <p:nvPr/>
        </p:nvSpPr>
        <p:spPr>
          <a:xfrm>
            <a:off x="4316040" y="2816280"/>
            <a:ext cx="36115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2"/>
          <p:cNvSpPr/>
          <p:nvPr/>
        </p:nvSpPr>
        <p:spPr>
          <a:xfrm>
            <a:off x="4480560" y="2962800"/>
            <a:ext cx="319680" cy="3196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3"/>
          <p:cNvSpPr/>
          <p:nvPr/>
        </p:nvSpPr>
        <p:spPr>
          <a:xfrm>
            <a:off x="4901040" y="2971800"/>
            <a:ext cx="28342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Separate volume and yield strategies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4"/>
          <p:cNvSpPr/>
          <p:nvPr/>
        </p:nvSpPr>
        <p:spPr>
          <a:xfrm>
            <a:off x="4517280" y="3392280"/>
            <a:ext cx="32090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Use buses to protect high-volume corridors. Use Train/Tram for routes where average revenue is stronger, but validate with passenger load and trip frequency before expansion.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5"/>
          <p:cNvSpPr/>
          <p:nvPr/>
        </p:nvSpPr>
        <p:spPr>
          <a:xfrm>
            <a:off x="8065080" y="2816280"/>
            <a:ext cx="36115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E2E8F0">
                <a:alpha val="92000"/>
              </a:srgbClr>
            </a:solidFill>
            <a:round/>
          </a:ln>
          <a:effectLst>
            <a:outerShdw blurRad="12600" dist="50402" dir="2700000" algn="bl" rotWithShape="0">
              <a:srgbClr val="94A3B8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6"/>
          <p:cNvSpPr/>
          <p:nvPr/>
        </p:nvSpPr>
        <p:spPr>
          <a:xfrm>
            <a:off x="8229600" y="2962800"/>
            <a:ext cx="319680" cy="3196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7"/>
          <p:cNvSpPr/>
          <p:nvPr/>
        </p:nvSpPr>
        <p:spPr>
          <a:xfrm>
            <a:off x="8650080" y="2971800"/>
            <a:ext cx="28342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Strengthen data governance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8"/>
          <p:cNvSpPr/>
          <p:nvPr/>
        </p:nvSpPr>
        <p:spPr>
          <a:xfrm>
            <a:off x="8266320" y="3392280"/>
            <a:ext cx="32090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Stop inconsistent text labels and missing values at source by enforcing dropdown categories, station-name validation, required fields, and daily data-quality checks.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0"/>
          <p:cNvSpPr/>
          <p:nvPr/>
        </p:nvSpPr>
        <p:spPr>
          <a:xfrm>
            <a:off x="749880" y="4892040"/>
            <a:ext cx="72720" cy="731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3"/>
          <p:cNvSpPr/>
          <p:nvPr/>
        </p:nvSpPr>
        <p:spPr>
          <a:xfrm>
            <a:off x="502920" y="6418800"/>
            <a:ext cx="11155680" cy="360"/>
          </a:xfrm>
          <a:prstGeom prst="line">
            <a:avLst/>
          </a:prstGeom>
          <a:ln w="889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4"/>
          <p:cNvSpPr/>
          <p:nvPr/>
        </p:nvSpPr>
        <p:spPr>
          <a:xfrm>
            <a:off x="502920" y="6492240"/>
            <a:ext cx="38401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Source: EDA Capstone Project notebook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5"/>
          <p:cNvSpPr/>
          <p:nvPr/>
        </p:nvSpPr>
        <p:spPr>
          <a:xfrm>
            <a:off x="11109960" y="647388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11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1552</Words>
  <Application>Microsoft Office PowerPoint</Application>
  <PresentationFormat>Widescreen</PresentationFormat>
  <Paragraphs>223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Georgia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MetroMove Transit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Prisca Muoghalu</cp:lastModifiedBy>
  <cp:revision>10</cp:revision>
  <dcterms:modified xsi:type="dcterms:W3CDTF">2026-05-30T11:48:18Z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2026-05-29T19:58:01Z</dcterms:created>
  <dc:creator>OpenAI</dc:creator>
  <dc:description/>
  <dc:language>en-US</dc:language>
  <cp:lastModifiedBy>OpenAI</cp:lastModifiedBy>
  <dcterms:modified xsi:type="dcterms:W3CDTF">2026-05-29T19:58:01Z</dcterms:modified>
  <cp:revision>1</cp:revision>
  <dc:subject>EDA Capstone Project</dc:subject>
  <dc:title>MetroMove Transit Solutions EDA Capstone Project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