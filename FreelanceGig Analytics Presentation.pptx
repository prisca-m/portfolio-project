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5" r:id="rId3"/>
    <p:sldId id="257" r:id="rId4"/>
    <p:sldId id="258" r:id="rId5"/>
    <p:sldId id="259" r:id="rId6"/>
    <p:sldId id="260" r:id="rId7"/>
    <p:sldId id="261" r:id="rId8"/>
    <p:sldId id="264" r:id="rId9"/>
    <p:sldId id="262" r:id="rId10"/>
    <p:sldId id="267" r:id="rId11"/>
    <p:sldId id="268" r:id="rId12"/>
    <p:sldId id="269" r:id="rId13"/>
    <p:sldId id="270" r:id="rId14"/>
    <p:sldId id="271" r:id="rId15"/>
    <p:sldId id="272" r:id="rId16"/>
    <p:sldId id="276" r:id="rId17"/>
    <p:sldId id="277" r:id="rId18"/>
    <p:sldId id="265" r:id="rId19"/>
    <p:sldId id="263" r:id="rId20"/>
    <p:sldId id="280" r:id="rId21"/>
    <p:sldId id="274" r:id="rId22"/>
  </p:sldIdLst>
  <p:sldSz cx="18288000" cy="10287000"/>
  <p:notesSz cx="6858000" cy="9144000"/>
  <p:embeddedFontLst>
    <p:embeddedFont>
      <p:font typeface="Calibri" panose="020F0502020204030204" pitchFamily="34" charset="0"/>
      <p:regular r:id="rId23"/>
      <p:bold r:id="rId24"/>
      <p:italic r:id="rId25"/>
      <p:boldItalic r:id="rId26"/>
    </p:embeddedFont>
    <p:embeddedFont>
      <p:font typeface="TT Fors" panose="020B0604020202020204" charset="0"/>
      <p:regular r:id="rId27"/>
    </p:embeddedFont>
    <p:embeddedFont>
      <p:font typeface="TT Fors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1" d="100"/>
          <a:sy n="41" d="100"/>
        </p:scale>
        <p:origin x="82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sv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18" Type="http://schemas.openxmlformats.org/officeDocument/2006/relationships/image" Target="../media/image36.svg"/><Relationship Id="rId3" Type="http://schemas.openxmlformats.org/officeDocument/2006/relationships/image" Target="../media/image21.png"/><Relationship Id="rId21"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30.svg"/><Relationship Id="rId17" Type="http://schemas.openxmlformats.org/officeDocument/2006/relationships/image" Target="../media/image35.png"/><Relationship Id="rId2" Type="http://schemas.openxmlformats.org/officeDocument/2006/relationships/image" Target="../media/image12.png"/><Relationship Id="rId16" Type="http://schemas.openxmlformats.org/officeDocument/2006/relationships/image" Target="../media/image34.svg"/><Relationship Id="rId20" Type="http://schemas.openxmlformats.org/officeDocument/2006/relationships/image" Target="../media/image38.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svg"/><Relationship Id="rId19" Type="http://schemas.openxmlformats.org/officeDocument/2006/relationships/image" Target="../media/image37.png"/><Relationship Id="rId4" Type="http://schemas.openxmlformats.org/officeDocument/2006/relationships/image" Target="../media/image22.svg"/><Relationship Id="rId9" Type="http://schemas.openxmlformats.org/officeDocument/2006/relationships/image" Target="../media/image27.png"/><Relationship Id="rId14" Type="http://schemas.openxmlformats.org/officeDocument/2006/relationships/image" Target="../media/image32.svg"/><Relationship Id="rId22" Type="http://schemas.openxmlformats.org/officeDocument/2006/relationships/image" Target="../media/image40.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2.svg"/><Relationship Id="rId7" Type="http://schemas.openxmlformats.org/officeDocument/2006/relationships/image" Target="../media/image45.png"/><Relationship Id="rId12" Type="http://schemas.openxmlformats.org/officeDocument/2006/relationships/image" Target="../media/image50.sv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4.sv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12.png"/><Relationship Id="rId9" Type="http://schemas.openxmlformats.org/officeDocument/2006/relationships/image" Target="../media/image47.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svg"/><Relationship Id="rId7" Type="http://schemas.openxmlformats.org/officeDocument/2006/relationships/image" Target="../media/image63.svg"/><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svg"/><Relationship Id="rId4" Type="http://schemas.openxmlformats.org/officeDocument/2006/relationships/image" Target="../media/image60.png"/><Relationship Id="rId9" Type="http://schemas.openxmlformats.org/officeDocument/2006/relationships/image" Target="../media/image65.svg"/></Relationships>
</file>

<file path=ppt/slides/_rels/slide19.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67.svg"/></Relationships>
</file>

<file path=ppt/slides/_rels/slide20.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62.png"/><Relationship Id="rId7" Type="http://schemas.openxmlformats.org/officeDocument/2006/relationships/image" Target="../media/image70.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png"/><Relationship Id="rId10" Type="http://schemas.openxmlformats.org/officeDocument/2006/relationships/image" Target="../media/image67.svg"/><Relationship Id="rId4" Type="http://schemas.openxmlformats.org/officeDocument/2006/relationships/image" Target="../media/image63.svg"/><Relationship Id="rId9" Type="http://schemas.openxmlformats.org/officeDocument/2006/relationships/image" Target="../media/image6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Freeform 2"/>
          <p:cNvSpPr/>
          <p:nvPr/>
        </p:nvSpPr>
        <p:spPr>
          <a:xfrm>
            <a:off x="6122738" y="2310663"/>
            <a:ext cx="5855779" cy="5855779"/>
          </a:xfrm>
          <a:custGeom>
            <a:avLst/>
            <a:gdLst/>
            <a:ahLst/>
            <a:cxnLst/>
            <a:rect l="l" t="t" r="r" b="b"/>
            <a:pathLst>
              <a:path w="5855779" h="5855779">
                <a:moveTo>
                  <a:pt x="0" y="0"/>
                </a:moveTo>
                <a:lnTo>
                  <a:pt x="5855779" y="0"/>
                </a:lnTo>
                <a:lnTo>
                  <a:pt x="5855779" y="5855779"/>
                </a:lnTo>
                <a:lnTo>
                  <a:pt x="0" y="58557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3" name="Group 3"/>
          <p:cNvGrpSpPr/>
          <p:nvPr/>
        </p:nvGrpSpPr>
        <p:grpSpPr>
          <a:xfrm rot="5400000">
            <a:off x="8195857" y="1157132"/>
            <a:ext cx="9906003" cy="7972740"/>
            <a:chOff x="0" y="0"/>
            <a:chExt cx="660400" cy="461149"/>
          </a:xfrm>
        </p:grpSpPr>
        <p:sp>
          <p:nvSpPr>
            <p:cNvPr id="4" name="Freeform 4"/>
            <p:cNvSpPr/>
            <p:nvPr/>
          </p:nvSpPr>
          <p:spPr>
            <a:xfrm>
              <a:off x="0" y="0"/>
              <a:ext cx="660400" cy="461149"/>
            </a:xfrm>
            <a:custGeom>
              <a:avLst/>
              <a:gdLst/>
              <a:ahLst/>
              <a:cxnLst/>
              <a:rect l="l" t="t" r="r" b="b"/>
              <a:pathLst>
                <a:path w="660400" h="46114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691"/>
                  </a:cubicBezTo>
                  <a:lnTo>
                    <a:pt x="660400" y="461149"/>
                  </a:lnTo>
                  <a:lnTo>
                    <a:pt x="0" y="461149"/>
                  </a:lnTo>
                  <a:lnTo>
                    <a:pt x="0" y="320795"/>
                  </a:lnTo>
                  <a:cubicBezTo>
                    <a:pt x="1782" y="185660"/>
                    <a:pt x="93019" y="64045"/>
                    <a:pt x="220252" y="19070"/>
                  </a:cubicBezTo>
                  <a:close/>
                </a:path>
              </a:pathLst>
            </a:custGeom>
            <a:ln w="66675" cap="sq">
              <a:solidFill>
                <a:srgbClr val="BEC8DA"/>
              </a:solidFill>
              <a:prstDash val="solid"/>
              <a:miter/>
            </a:ln>
          </p:spPr>
          <p:txBody>
            <a:bodyPr/>
            <a:lstStyle/>
            <a:p>
              <a:endParaRPr lang="en-GB"/>
            </a:p>
          </p:txBody>
        </p:sp>
        <p:sp>
          <p:nvSpPr>
            <p:cNvPr id="5" name="TextBox 5"/>
            <p:cNvSpPr txBox="1"/>
            <p:nvPr/>
          </p:nvSpPr>
          <p:spPr>
            <a:xfrm>
              <a:off x="0" y="88900"/>
              <a:ext cx="660400" cy="372249"/>
            </a:xfrm>
            <a:prstGeom prst="rect">
              <a:avLst/>
            </a:prstGeom>
          </p:spPr>
          <p:txBody>
            <a:bodyPr lIns="50800" tIns="50800" rIns="50800" bIns="50800" rtlCol="0" anchor="ctr"/>
            <a:lstStyle/>
            <a:p>
              <a:pPr algn="ctr">
                <a:lnSpc>
                  <a:spcPts val="2940"/>
                </a:lnSpc>
              </a:pPr>
              <a:endParaRPr/>
            </a:p>
          </p:txBody>
        </p:sp>
      </p:grpSp>
      <p:grpSp>
        <p:nvGrpSpPr>
          <p:cNvPr id="9" name="Group 3">
            <a:extLst>
              <a:ext uri="{FF2B5EF4-FFF2-40B4-BE49-F238E27FC236}">
                <a16:creationId xmlns:a16="http://schemas.microsoft.com/office/drawing/2014/main" id="{92A0E0ED-4B76-0BBF-84E3-4280FD4EDAED}"/>
              </a:ext>
            </a:extLst>
          </p:cNvPr>
          <p:cNvGrpSpPr/>
          <p:nvPr/>
        </p:nvGrpSpPr>
        <p:grpSpPr>
          <a:xfrm rot="16200000">
            <a:off x="74384" y="1157131"/>
            <a:ext cx="9906003" cy="7972740"/>
            <a:chOff x="0" y="0"/>
            <a:chExt cx="660400" cy="461149"/>
          </a:xfrm>
        </p:grpSpPr>
        <p:sp>
          <p:nvSpPr>
            <p:cNvPr id="10" name="Freeform 4">
              <a:extLst>
                <a:ext uri="{FF2B5EF4-FFF2-40B4-BE49-F238E27FC236}">
                  <a16:creationId xmlns:a16="http://schemas.microsoft.com/office/drawing/2014/main" id="{10BF26FF-1359-263B-FA1E-942F4CAB3BC5}"/>
                </a:ext>
              </a:extLst>
            </p:cNvPr>
            <p:cNvSpPr/>
            <p:nvPr/>
          </p:nvSpPr>
          <p:spPr>
            <a:xfrm>
              <a:off x="0" y="0"/>
              <a:ext cx="660400" cy="461149"/>
            </a:xfrm>
            <a:custGeom>
              <a:avLst/>
              <a:gdLst/>
              <a:ahLst/>
              <a:cxnLst/>
              <a:rect l="l" t="t" r="r" b="b"/>
              <a:pathLst>
                <a:path w="660400" h="46114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691"/>
                  </a:cubicBezTo>
                  <a:lnTo>
                    <a:pt x="660400" y="461149"/>
                  </a:lnTo>
                  <a:lnTo>
                    <a:pt x="0" y="461149"/>
                  </a:lnTo>
                  <a:lnTo>
                    <a:pt x="0" y="320795"/>
                  </a:lnTo>
                  <a:cubicBezTo>
                    <a:pt x="1782" y="185660"/>
                    <a:pt x="93019" y="64045"/>
                    <a:pt x="220252" y="19070"/>
                  </a:cubicBezTo>
                  <a:close/>
                </a:path>
              </a:pathLst>
            </a:custGeom>
            <a:ln w="66675" cap="sq">
              <a:solidFill>
                <a:srgbClr val="BEC8DA"/>
              </a:solidFill>
              <a:prstDash val="solid"/>
              <a:miter/>
            </a:ln>
          </p:spPr>
          <p:txBody>
            <a:bodyPr/>
            <a:lstStyle/>
            <a:p>
              <a:endParaRPr lang="en-GB"/>
            </a:p>
          </p:txBody>
        </p:sp>
        <p:sp>
          <p:nvSpPr>
            <p:cNvPr id="11" name="TextBox 5">
              <a:extLst>
                <a:ext uri="{FF2B5EF4-FFF2-40B4-BE49-F238E27FC236}">
                  <a16:creationId xmlns:a16="http://schemas.microsoft.com/office/drawing/2014/main" id="{9DC27718-8586-68D2-A8ED-B9EA26710874}"/>
                </a:ext>
              </a:extLst>
            </p:cNvPr>
            <p:cNvSpPr txBox="1"/>
            <p:nvPr/>
          </p:nvSpPr>
          <p:spPr>
            <a:xfrm>
              <a:off x="0" y="88900"/>
              <a:ext cx="660400" cy="372249"/>
            </a:xfrm>
            <a:prstGeom prst="rect">
              <a:avLst/>
            </a:prstGeom>
          </p:spPr>
          <p:txBody>
            <a:bodyPr lIns="50800" tIns="50800" rIns="50800" bIns="50800" rtlCol="0" anchor="ctr"/>
            <a:lstStyle/>
            <a:p>
              <a:pPr algn="ctr">
                <a:lnSpc>
                  <a:spcPts val="2940"/>
                </a:lnSpc>
              </a:pPr>
              <a:endParaRPr/>
            </a:p>
          </p:txBody>
        </p:sp>
      </p:grpSp>
      <p:grpSp>
        <p:nvGrpSpPr>
          <p:cNvPr id="12" name="Group 6">
            <a:extLst>
              <a:ext uri="{FF2B5EF4-FFF2-40B4-BE49-F238E27FC236}">
                <a16:creationId xmlns:a16="http://schemas.microsoft.com/office/drawing/2014/main" id="{11B8C997-1677-CEEC-59B7-23765BC90391}"/>
              </a:ext>
            </a:extLst>
          </p:cNvPr>
          <p:cNvGrpSpPr/>
          <p:nvPr/>
        </p:nvGrpSpPr>
        <p:grpSpPr>
          <a:xfrm>
            <a:off x="4377919" y="533795"/>
            <a:ext cx="9642882" cy="9029306"/>
            <a:chOff x="0" y="0"/>
            <a:chExt cx="812800" cy="812800"/>
          </a:xfrm>
        </p:grpSpPr>
        <p:sp>
          <p:nvSpPr>
            <p:cNvPr id="21" name="Freeform 7">
              <a:extLst>
                <a:ext uri="{FF2B5EF4-FFF2-40B4-BE49-F238E27FC236}">
                  <a16:creationId xmlns:a16="http://schemas.microsoft.com/office/drawing/2014/main" id="{FFC64F62-56E3-F44E-BE4C-1D46DEEC35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GB"/>
            </a:p>
          </p:txBody>
        </p:sp>
        <p:sp>
          <p:nvSpPr>
            <p:cNvPr id="22" name="TextBox 8">
              <a:extLst>
                <a:ext uri="{FF2B5EF4-FFF2-40B4-BE49-F238E27FC236}">
                  <a16:creationId xmlns:a16="http://schemas.microsoft.com/office/drawing/2014/main" id="{8ACBC1D3-9A7A-DD90-CD1C-8F97FCBDD635}"/>
                </a:ext>
              </a:extLst>
            </p:cNvPr>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23" name="TextBox 34">
            <a:extLst>
              <a:ext uri="{FF2B5EF4-FFF2-40B4-BE49-F238E27FC236}">
                <a16:creationId xmlns:a16="http://schemas.microsoft.com/office/drawing/2014/main" id="{E0926038-B271-255F-214C-C289C3C2C7BC}"/>
              </a:ext>
            </a:extLst>
          </p:cNvPr>
          <p:cNvSpPr txBox="1"/>
          <p:nvPr/>
        </p:nvSpPr>
        <p:spPr>
          <a:xfrm>
            <a:off x="6160233" y="4485661"/>
            <a:ext cx="5855778" cy="1846659"/>
          </a:xfrm>
          <a:prstGeom prst="rect">
            <a:avLst/>
          </a:prstGeom>
        </p:spPr>
        <p:txBody>
          <a:bodyPr wrap="square" lIns="0" tIns="0" rIns="0" bIns="0" rtlCol="0" anchor="t">
            <a:spAutoFit/>
          </a:bodyPr>
          <a:lstStyle/>
          <a:p>
            <a:pPr algn="ctr"/>
            <a:r>
              <a:rPr lang="en-GB" sz="6000" dirty="0"/>
              <a:t> </a:t>
            </a:r>
            <a:r>
              <a:rPr lang="en-GB" sz="6000" b="1" dirty="0">
                <a:solidFill>
                  <a:srgbClr val="112F8D"/>
                </a:solidFill>
                <a:latin typeface="TT Fors Bold"/>
              </a:rPr>
              <a:t>FreelanceGig Analytics</a:t>
            </a:r>
            <a:endParaRPr lang="en-US" sz="6000" b="1" dirty="0">
              <a:solidFill>
                <a:srgbClr val="112F8D"/>
              </a:solidFill>
              <a:latin typeface="TT Fors Bold"/>
              <a:sym typeface="TT Fors Bold"/>
            </a:endParaRPr>
          </a:p>
        </p:txBody>
      </p:sp>
      <p:pic>
        <p:nvPicPr>
          <p:cNvPr id="30" name="Picture 29">
            <a:extLst>
              <a:ext uri="{FF2B5EF4-FFF2-40B4-BE49-F238E27FC236}">
                <a16:creationId xmlns:a16="http://schemas.microsoft.com/office/drawing/2014/main" id="{4A977677-8386-4A46-A721-6F4CE711BC00}"/>
              </a:ext>
            </a:extLst>
          </p:cNvPr>
          <p:cNvPicPr>
            <a:picLocks noChangeAspect="1"/>
          </p:cNvPicPr>
          <p:nvPr/>
        </p:nvPicPr>
        <p:blipFill>
          <a:blip r:embed="rId4">
            <a:alphaModFix/>
          </a:blip>
          <a:srcRect l="3767" t="4595" r="2254" b="-4690"/>
          <a:stretch>
            <a:fillRect/>
          </a:stretch>
        </p:blipFill>
        <p:spPr>
          <a:xfrm>
            <a:off x="8001000" y="1104900"/>
            <a:ext cx="2133600" cy="2658858"/>
          </a:xfrm>
          <a:prstGeom prst="rect">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983BB258-76AA-0ED6-2ABA-F757AB30A034}"/>
            </a:ext>
          </a:extLst>
        </p:cNvPr>
        <p:cNvGrpSpPr/>
        <p:nvPr/>
      </p:nvGrpSpPr>
      <p:grpSpPr>
        <a:xfrm>
          <a:off x="0" y="0"/>
          <a:ext cx="0" cy="0"/>
          <a:chOff x="0" y="0"/>
          <a:chExt cx="0" cy="0"/>
        </a:xfrm>
      </p:grpSpPr>
      <p:grpSp>
        <p:nvGrpSpPr>
          <p:cNvPr id="3" name="Group 3">
            <a:extLst>
              <a:ext uri="{FF2B5EF4-FFF2-40B4-BE49-F238E27FC236}">
                <a16:creationId xmlns:a16="http://schemas.microsoft.com/office/drawing/2014/main" id="{589B1897-9A75-2074-03F5-D4B773BF6F25}"/>
              </a:ext>
            </a:extLst>
          </p:cNvPr>
          <p:cNvGrpSpPr/>
          <p:nvPr/>
        </p:nvGrpSpPr>
        <p:grpSpPr>
          <a:xfrm rot="5400000">
            <a:off x="-814232" y="1157131"/>
            <a:ext cx="9906003" cy="7972740"/>
            <a:chOff x="0" y="0"/>
            <a:chExt cx="660400" cy="461149"/>
          </a:xfrm>
        </p:grpSpPr>
        <p:sp>
          <p:nvSpPr>
            <p:cNvPr id="4" name="Freeform 4">
              <a:extLst>
                <a:ext uri="{FF2B5EF4-FFF2-40B4-BE49-F238E27FC236}">
                  <a16:creationId xmlns:a16="http://schemas.microsoft.com/office/drawing/2014/main" id="{A276D3AD-30B3-671D-A162-1C560F0F6AF0}"/>
                </a:ext>
              </a:extLst>
            </p:cNvPr>
            <p:cNvSpPr/>
            <p:nvPr/>
          </p:nvSpPr>
          <p:spPr>
            <a:xfrm>
              <a:off x="0" y="0"/>
              <a:ext cx="660400" cy="461149"/>
            </a:xfrm>
            <a:custGeom>
              <a:avLst/>
              <a:gdLst/>
              <a:ahLst/>
              <a:cxnLst/>
              <a:rect l="l" t="t" r="r" b="b"/>
              <a:pathLst>
                <a:path w="660400" h="461149">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0691"/>
                  </a:cubicBezTo>
                  <a:lnTo>
                    <a:pt x="660400" y="461149"/>
                  </a:lnTo>
                  <a:lnTo>
                    <a:pt x="0" y="461149"/>
                  </a:lnTo>
                  <a:lnTo>
                    <a:pt x="0" y="320795"/>
                  </a:lnTo>
                  <a:cubicBezTo>
                    <a:pt x="1782" y="185660"/>
                    <a:pt x="93019" y="64045"/>
                    <a:pt x="220252" y="19070"/>
                  </a:cubicBezTo>
                  <a:close/>
                </a:path>
              </a:pathLst>
            </a:custGeom>
            <a:ln w="66675" cap="sq">
              <a:solidFill>
                <a:srgbClr val="BEC8DA"/>
              </a:solidFill>
              <a:prstDash val="solid"/>
              <a:miter/>
            </a:ln>
          </p:spPr>
          <p:txBody>
            <a:bodyPr/>
            <a:lstStyle/>
            <a:p>
              <a:endParaRPr lang="en-GB"/>
            </a:p>
          </p:txBody>
        </p:sp>
        <p:sp>
          <p:nvSpPr>
            <p:cNvPr id="5" name="TextBox 5">
              <a:extLst>
                <a:ext uri="{FF2B5EF4-FFF2-40B4-BE49-F238E27FC236}">
                  <a16:creationId xmlns:a16="http://schemas.microsoft.com/office/drawing/2014/main" id="{19150F09-A5D6-0568-D433-A12F64708600}"/>
                </a:ext>
              </a:extLst>
            </p:cNvPr>
            <p:cNvSpPr txBox="1"/>
            <p:nvPr/>
          </p:nvSpPr>
          <p:spPr>
            <a:xfrm>
              <a:off x="0" y="88900"/>
              <a:ext cx="660400" cy="372249"/>
            </a:xfrm>
            <a:prstGeom prst="rect">
              <a:avLst/>
            </a:prstGeom>
          </p:spPr>
          <p:txBody>
            <a:bodyPr lIns="50800" tIns="50800" rIns="50800" bIns="50800" rtlCol="0" anchor="ctr"/>
            <a:lstStyle/>
            <a:p>
              <a:pPr algn="ctr">
                <a:lnSpc>
                  <a:spcPts val="2940"/>
                </a:lnSpc>
              </a:pPr>
              <a:endParaRPr/>
            </a:p>
          </p:txBody>
        </p:sp>
      </p:grpSp>
      <p:sp>
        <p:nvSpPr>
          <p:cNvPr id="13" name="Freeform 13">
            <a:extLst>
              <a:ext uri="{FF2B5EF4-FFF2-40B4-BE49-F238E27FC236}">
                <a16:creationId xmlns:a16="http://schemas.microsoft.com/office/drawing/2014/main" id="{0FF6EFB1-418D-CAA1-26A9-5F153038542E}"/>
              </a:ext>
            </a:extLst>
          </p:cNvPr>
          <p:cNvSpPr/>
          <p:nvPr/>
        </p:nvSpPr>
        <p:spPr>
          <a:xfrm>
            <a:off x="7197129" y="6351882"/>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14" name="Group 14">
            <a:extLst>
              <a:ext uri="{FF2B5EF4-FFF2-40B4-BE49-F238E27FC236}">
                <a16:creationId xmlns:a16="http://schemas.microsoft.com/office/drawing/2014/main" id="{81EF48DC-A5FD-C556-1B5E-BB8F5D406F4C}"/>
              </a:ext>
            </a:extLst>
          </p:cNvPr>
          <p:cNvGrpSpPr/>
          <p:nvPr/>
        </p:nvGrpSpPr>
        <p:grpSpPr>
          <a:xfrm>
            <a:off x="7197129" y="6262859"/>
            <a:ext cx="1216244" cy="1216244"/>
            <a:chOff x="0" y="0"/>
            <a:chExt cx="812800" cy="812800"/>
          </a:xfrm>
        </p:grpSpPr>
        <p:sp>
          <p:nvSpPr>
            <p:cNvPr id="15" name="Freeform 15">
              <a:extLst>
                <a:ext uri="{FF2B5EF4-FFF2-40B4-BE49-F238E27FC236}">
                  <a16:creationId xmlns:a16="http://schemas.microsoft.com/office/drawing/2014/main" id="{052DA003-8854-FF1D-174F-A74414DA74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D55"/>
            </a:solidFill>
          </p:spPr>
          <p:txBody>
            <a:bodyPr/>
            <a:lstStyle/>
            <a:p>
              <a:endParaRPr lang="en-GB"/>
            </a:p>
          </p:txBody>
        </p:sp>
        <p:sp>
          <p:nvSpPr>
            <p:cNvPr id="16" name="TextBox 16">
              <a:extLst>
                <a:ext uri="{FF2B5EF4-FFF2-40B4-BE49-F238E27FC236}">
                  <a16:creationId xmlns:a16="http://schemas.microsoft.com/office/drawing/2014/main" id="{2F284ACA-2DFB-EBBD-EE5C-D11A7CCC4CDF}"/>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7" name="Freeform 17">
            <a:extLst>
              <a:ext uri="{FF2B5EF4-FFF2-40B4-BE49-F238E27FC236}">
                <a16:creationId xmlns:a16="http://schemas.microsoft.com/office/drawing/2014/main" id="{C3D833E6-907A-DD0D-F33C-403A3D6C2307}"/>
              </a:ext>
            </a:extLst>
          </p:cNvPr>
          <p:cNvSpPr/>
          <p:nvPr/>
        </p:nvSpPr>
        <p:spPr>
          <a:xfrm>
            <a:off x="7197129" y="2810927"/>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18" name="Group 18">
            <a:extLst>
              <a:ext uri="{FF2B5EF4-FFF2-40B4-BE49-F238E27FC236}">
                <a16:creationId xmlns:a16="http://schemas.microsoft.com/office/drawing/2014/main" id="{0900E061-6E07-066E-A5F6-1A0CF6B7D3ED}"/>
              </a:ext>
            </a:extLst>
          </p:cNvPr>
          <p:cNvGrpSpPr/>
          <p:nvPr/>
        </p:nvGrpSpPr>
        <p:grpSpPr>
          <a:xfrm>
            <a:off x="7089556" y="2721904"/>
            <a:ext cx="1216244" cy="1216244"/>
            <a:chOff x="0" y="0"/>
            <a:chExt cx="812800" cy="812800"/>
          </a:xfrm>
        </p:grpSpPr>
        <p:sp>
          <p:nvSpPr>
            <p:cNvPr id="19" name="Freeform 19">
              <a:extLst>
                <a:ext uri="{FF2B5EF4-FFF2-40B4-BE49-F238E27FC236}">
                  <a16:creationId xmlns:a16="http://schemas.microsoft.com/office/drawing/2014/main" id="{C8696845-72DB-B8EC-A79D-D3296C6C55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D6298"/>
            </a:solidFill>
          </p:spPr>
          <p:txBody>
            <a:bodyPr/>
            <a:lstStyle/>
            <a:p>
              <a:endParaRPr lang="en-GB"/>
            </a:p>
          </p:txBody>
        </p:sp>
        <p:sp>
          <p:nvSpPr>
            <p:cNvPr id="20" name="TextBox 20">
              <a:extLst>
                <a:ext uri="{FF2B5EF4-FFF2-40B4-BE49-F238E27FC236}">
                  <a16:creationId xmlns:a16="http://schemas.microsoft.com/office/drawing/2014/main" id="{C9BE97CC-EC13-8317-247B-A568E2A91E88}"/>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5" name="Freeform 25">
            <a:extLst>
              <a:ext uri="{FF2B5EF4-FFF2-40B4-BE49-F238E27FC236}">
                <a16:creationId xmlns:a16="http://schemas.microsoft.com/office/drawing/2014/main" id="{7EB4AC9E-EF57-533C-CD34-2E90A6C49CF0}"/>
              </a:ext>
            </a:extLst>
          </p:cNvPr>
          <p:cNvSpPr/>
          <p:nvPr/>
        </p:nvSpPr>
        <p:spPr>
          <a:xfrm>
            <a:off x="7601661" y="4579890"/>
            <a:ext cx="1216244" cy="1216244"/>
          </a:xfrm>
          <a:custGeom>
            <a:avLst/>
            <a:gdLst/>
            <a:ahLst/>
            <a:cxnLst/>
            <a:rect l="l" t="t" r="r" b="b"/>
            <a:pathLst>
              <a:path w="1216244" h="1216244">
                <a:moveTo>
                  <a:pt x="0" y="0"/>
                </a:moveTo>
                <a:lnTo>
                  <a:pt x="1216244" y="0"/>
                </a:lnTo>
                <a:lnTo>
                  <a:pt x="1216244" y="1216244"/>
                </a:lnTo>
                <a:lnTo>
                  <a:pt x="0" y="1216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26" name="Group 26">
            <a:extLst>
              <a:ext uri="{FF2B5EF4-FFF2-40B4-BE49-F238E27FC236}">
                <a16:creationId xmlns:a16="http://schemas.microsoft.com/office/drawing/2014/main" id="{B11E241F-817E-D7E9-2ADB-73E3E98487B9}"/>
              </a:ext>
            </a:extLst>
          </p:cNvPr>
          <p:cNvGrpSpPr/>
          <p:nvPr/>
        </p:nvGrpSpPr>
        <p:grpSpPr>
          <a:xfrm>
            <a:off x="7601661" y="4490866"/>
            <a:ext cx="1216244" cy="1216244"/>
            <a:chOff x="0" y="0"/>
            <a:chExt cx="812800" cy="812800"/>
          </a:xfrm>
        </p:grpSpPr>
        <p:sp>
          <p:nvSpPr>
            <p:cNvPr id="27" name="Freeform 27">
              <a:extLst>
                <a:ext uri="{FF2B5EF4-FFF2-40B4-BE49-F238E27FC236}">
                  <a16:creationId xmlns:a16="http://schemas.microsoft.com/office/drawing/2014/main" id="{E1DD8366-2705-588C-B740-AB46697DC1A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EC8DA"/>
            </a:solidFill>
          </p:spPr>
          <p:txBody>
            <a:bodyPr/>
            <a:lstStyle/>
            <a:p>
              <a:endParaRPr lang="en-GB"/>
            </a:p>
          </p:txBody>
        </p:sp>
        <p:sp>
          <p:nvSpPr>
            <p:cNvPr id="28" name="TextBox 28">
              <a:extLst>
                <a:ext uri="{FF2B5EF4-FFF2-40B4-BE49-F238E27FC236}">
                  <a16:creationId xmlns:a16="http://schemas.microsoft.com/office/drawing/2014/main" id="{313C9103-A8D1-2151-BD2E-5A53AE99FC6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31" name="Freeform 31">
            <a:extLst>
              <a:ext uri="{FF2B5EF4-FFF2-40B4-BE49-F238E27FC236}">
                <a16:creationId xmlns:a16="http://schemas.microsoft.com/office/drawing/2014/main" id="{932D66F6-1D50-E223-4B4C-43917A2E9C82}"/>
              </a:ext>
            </a:extLst>
          </p:cNvPr>
          <p:cNvSpPr/>
          <p:nvPr/>
        </p:nvSpPr>
        <p:spPr>
          <a:xfrm>
            <a:off x="7505196" y="6570925"/>
            <a:ext cx="600110" cy="600110"/>
          </a:xfrm>
          <a:custGeom>
            <a:avLst/>
            <a:gdLst/>
            <a:ahLst/>
            <a:cxnLst/>
            <a:rect l="l" t="t" r="r" b="b"/>
            <a:pathLst>
              <a:path w="600110" h="600110">
                <a:moveTo>
                  <a:pt x="0" y="0"/>
                </a:moveTo>
                <a:lnTo>
                  <a:pt x="600110" y="0"/>
                </a:lnTo>
                <a:lnTo>
                  <a:pt x="600110" y="600111"/>
                </a:lnTo>
                <a:lnTo>
                  <a:pt x="0" y="6001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2" name="Freeform 32">
            <a:extLst>
              <a:ext uri="{FF2B5EF4-FFF2-40B4-BE49-F238E27FC236}">
                <a16:creationId xmlns:a16="http://schemas.microsoft.com/office/drawing/2014/main" id="{044EAAA5-9C1E-A34F-7FFB-91CCE2366001}"/>
              </a:ext>
            </a:extLst>
          </p:cNvPr>
          <p:cNvSpPr/>
          <p:nvPr/>
        </p:nvSpPr>
        <p:spPr>
          <a:xfrm>
            <a:off x="7391400" y="3009900"/>
            <a:ext cx="600110" cy="600110"/>
          </a:xfrm>
          <a:custGeom>
            <a:avLst/>
            <a:gdLst/>
            <a:ahLst/>
            <a:cxnLst/>
            <a:rect l="l" t="t" r="r" b="b"/>
            <a:pathLst>
              <a:path w="600110" h="600110">
                <a:moveTo>
                  <a:pt x="0" y="0"/>
                </a:moveTo>
                <a:lnTo>
                  <a:pt x="600110" y="0"/>
                </a:lnTo>
                <a:lnTo>
                  <a:pt x="600110" y="600111"/>
                </a:lnTo>
                <a:lnTo>
                  <a:pt x="0" y="60011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33" name="Freeform 33">
            <a:extLst>
              <a:ext uri="{FF2B5EF4-FFF2-40B4-BE49-F238E27FC236}">
                <a16:creationId xmlns:a16="http://schemas.microsoft.com/office/drawing/2014/main" id="{E0AA34EB-9707-3C04-9041-6280153C07E6}"/>
              </a:ext>
            </a:extLst>
          </p:cNvPr>
          <p:cNvSpPr/>
          <p:nvPr/>
        </p:nvSpPr>
        <p:spPr>
          <a:xfrm>
            <a:off x="7949354" y="4825984"/>
            <a:ext cx="520857" cy="543267"/>
          </a:xfrm>
          <a:custGeom>
            <a:avLst/>
            <a:gdLst/>
            <a:ahLst/>
            <a:cxnLst/>
            <a:rect l="l" t="t" r="r" b="b"/>
            <a:pathLst>
              <a:path w="520857" h="543267">
                <a:moveTo>
                  <a:pt x="0" y="0"/>
                </a:moveTo>
                <a:lnTo>
                  <a:pt x="520858" y="0"/>
                </a:lnTo>
                <a:lnTo>
                  <a:pt x="520858" y="543267"/>
                </a:lnTo>
                <a:lnTo>
                  <a:pt x="0" y="54326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38" name="TextBox 38">
            <a:extLst>
              <a:ext uri="{FF2B5EF4-FFF2-40B4-BE49-F238E27FC236}">
                <a16:creationId xmlns:a16="http://schemas.microsoft.com/office/drawing/2014/main" id="{C3201A12-B025-C736-1739-B6C67DE15436}"/>
              </a:ext>
            </a:extLst>
          </p:cNvPr>
          <p:cNvSpPr txBox="1"/>
          <p:nvPr/>
        </p:nvSpPr>
        <p:spPr>
          <a:xfrm>
            <a:off x="8413373" y="2988910"/>
            <a:ext cx="1409248" cy="730969"/>
          </a:xfrm>
          <a:prstGeom prst="rect">
            <a:avLst/>
          </a:prstGeom>
        </p:spPr>
        <p:txBody>
          <a:bodyPr lIns="0" tIns="0" rIns="0" bIns="0" rtlCol="0" anchor="t">
            <a:spAutoFit/>
          </a:bodyPr>
          <a:lstStyle/>
          <a:p>
            <a:pPr algn="r">
              <a:lnSpc>
                <a:spcPts val="5600"/>
              </a:lnSpc>
            </a:pPr>
            <a:r>
              <a:rPr lang="en-US" sz="5000" b="1" dirty="0">
                <a:solidFill>
                  <a:srgbClr val="122359"/>
                </a:solidFill>
                <a:latin typeface="TT Fors Bold"/>
                <a:ea typeface="TT Fors Bold"/>
                <a:cs typeface="TT Fors Bold"/>
                <a:sym typeface="TT Fors Bold"/>
              </a:rPr>
              <a:t>01</a:t>
            </a:r>
          </a:p>
        </p:txBody>
      </p:sp>
      <p:sp>
        <p:nvSpPr>
          <p:cNvPr id="39" name="TextBox 39">
            <a:extLst>
              <a:ext uri="{FF2B5EF4-FFF2-40B4-BE49-F238E27FC236}">
                <a16:creationId xmlns:a16="http://schemas.microsoft.com/office/drawing/2014/main" id="{64763796-9991-6D7C-92F6-E4763F27169A}"/>
              </a:ext>
            </a:extLst>
          </p:cNvPr>
          <p:cNvSpPr txBox="1"/>
          <p:nvPr/>
        </p:nvSpPr>
        <p:spPr>
          <a:xfrm>
            <a:off x="8413373" y="6547181"/>
            <a:ext cx="1409248" cy="730969"/>
          </a:xfrm>
          <a:prstGeom prst="rect">
            <a:avLst/>
          </a:prstGeom>
        </p:spPr>
        <p:txBody>
          <a:bodyPr lIns="0" tIns="0" rIns="0" bIns="0" rtlCol="0" anchor="t">
            <a:spAutoFit/>
          </a:bodyPr>
          <a:lstStyle/>
          <a:p>
            <a:pPr algn="r">
              <a:lnSpc>
                <a:spcPts val="5600"/>
              </a:lnSpc>
            </a:pPr>
            <a:r>
              <a:rPr lang="en-US" sz="5000" b="1" dirty="0">
                <a:solidFill>
                  <a:srgbClr val="122359"/>
                </a:solidFill>
                <a:latin typeface="TT Fors Bold"/>
                <a:ea typeface="TT Fors Bold"/>
                <a:cs typeface="TT Fors Bold"/>
                <a:sym typeface="TT Fors Bold"/>
              </a:rPr>
              <a:t>03</a:t>
            </a:r>
          </a:p>
        </p:txBody>
      </p:sp>
      <p:sp>
        <p:nvSpPr>
          <p:cNvPr id="40" name="TextBox 40">
            <a:extLst>
              <a:ext uri="{FF2B5EF4-FFF2-40B4-BE49-F238E27FC236}">
                <a16:creationId xmlns:a16="http://schemas.microsoft.com/office/drawing/2014/main" id="{F9072C54-2B82-358C-46CE-D44837263D01}"/>
              </a:ext>
            </a:extLst>
          </p:cNvPr>
          <p:cNvSpPr txBox="1"/>
          <p:nvPr/>
        </p:nvSpPr>
        <p:spPr>
          <a:xfrm>
            <a:off x="8817905" y="4757873"/>
            <a:ext cx="1409248" cy="730969"/>
          </a:xfrm>
          <a:prstGeom prst="rect">
            <a:avLst/>
          </a:prstGeom>
        </p:spPr>
        <p:txBody>
          <a:bodyPr lIns="0" tIns="0" rIns="0" bIns="0" rtlCol="0" anchor="t">
            <a:spAutoFit/>
          </a:bodyPr>
          <a:lstStyle/>
          <a:p>
            <a:pPr algn="r">
              <a:lnSpc>
                <a:spcPts val="5600"/>
              </a:lnSpc>
            </a:pPr>
            <a:r>
              <a:rPr lang="en-US" sz="5000" b="1" dirty="0">
                <a:solidFill>
                  <a:srgbClr val="122359"/>
                </a:solidFill>
                <a:latin typeface="TT Fors Bold"/>
                <a:ea typeface="TT Fors Bold"/>
                <a:cs typeface="TT Fors Bold"/>
                <a:sym typeface="TT Fors Bold"/>
              </a:rPr>
              <a:t>02</a:t>
            </a:r>
          </a:p>
        </p:txBody>
      </p:sp>
      <p:sp>
        <p:nvSpPr>
          <p:cNvPr id="48" name="TextBox 48">
            <a:extLst>
              <a:ext uri="{FF2B5EF4-FFF2-40B4-BE49-F238E27FC236}">
                <a16:creationId xmlns:a16="http://schemas.microsoft.com/office/drawing/2014/main" id="{1A809DB8-96B5-3AB5-D544-3563BCC03D68}"/>
              </a:ext>
            </a:extLst>
          </p:cNvPr>
          <p:cNvSpPr txBox="1"/>
          <p:nvPr/>
        </p:nvSpPr>
        <p:spPr>
          <a:xfrm>
            <a:off x="10244359" y="2872448"/>
            <a:ext cx="5248889" cy="684162"/>
          </a:xfrm>
          <a:prstGeom prst="rect">
            <a:avLst/>
          </a:prstGeom>
        </p:spPr>
        <p:txBody>
          <a:bodyPr lIns="0" tIns="0" rIns="0" bIns="0" rtlCol="0" anchor="t">
            <a:spAutoFit/>
          </a:bodyPr>
          <a:lstStyle/>
          <a:p>
            <a:pPr algn="l">
              <a:lnSpc>
                <a:spcPts val="2519"/>
              </a:lnSpc>
              <a:spcBef>
                <a:spcPct val="0"/>
              </a:spcBef>
            </a:pPr>
            <a:br>
              <a:rPr lang="en-US" sz="3200" b="1" dirty="0">
                <a:solidFill>
                  <a:srgbClr val="000000"/>
                </a:solidFill>
                <a:latin typeface="TT Fors Bold"/>
                <a:ea typeface="TT Fors Bold"/>
                <a:cs typeface="TT Fors Bold"/>
                <a:sym typeface="TT Fors Bold"/>
              </a:rPr>
            </a:br>
            <a:r>
              <a:rPr lang="en-US" sz="3200" b="1" dirty="0">
                <a:solidFill>
                  <a:srgbClr val="000000"/>
                </a:solidFill>
                <a:latin typeface="TT Fors Bold"/>
                <a:ea typeface="TT Fors Bold"/>
                <a:cs typeface="TT Fors Bold"/>
                <a:sym typeface="TT Fors Bold"/>
              </a:rPr>
              <a:t>Capstone Project</a:t>
            </a:r>
          </a:p>
        </p:txBody>
      </p:sp>
      <p:sp>
        <p:nvSpPr>
          <p:cNvPr id="49" name="TextBox 49">
            <a:extLst>
              <a:ext uri="{FF2B5EF4-FFF2-40B4-BE49-F238E27FC236}">
                <a16:creationId xmlns:a16="http://schemas.microsoft.com/office/drawing/2014/main" id="{E82F8FDE-D592-7119-18B8-CE7B88F95DEB}"/>
              </a:ext>
            </a:extLst>
          </p:cNvPr>
          <p:cNvSpPr txBox="1"/>
          <p:nvPr/>
        </p:nvSpPr>
        <p:spPr>
          <a:xfrm>
            <a:off x="10227153" y="6471114"/>
            <a:ext cx="5248889" cy="1004762"/>
          </a:xfrm>
          <a:prstGeom prst="rect">
            <a:avLst/>
          </a:prstGeom>
        </p:spPr>
        <p:txBody>
          <a:bodyPr lIns="0" tIns="0" rIns="0" bIns="0" rtlCol="0" anchor="t">
            <a:spAutoFit/>
          </a:bodyPr>
          <a:lstStyle/>
          <a:p>
            <a:pPr algn="l">
              <a:lnSpc>
                <a:spcPts val="2519"/>
              </a:lnSpc>
              <a:spcBef>
                <a:spcPct val="0"/>
              </a:spcBef>
            </a:pPr>
            <a:endParaRPr lang="en-US" sz="3200" b="1" dirty="0">
              <a:solidFill>
                <a:srgbClr val="000000"/>
              </a:solidFill>
              <a:latin typeface="TT Fors Bold"/>
              <a:ea typeface="TT Fors Bold"/>
              <a:cs typeface="TT Fors Bold"/>
              <a:sym typeface="TT Fors Bold"/>
            </a:endParaRPr>
          </a:p>
          <a:p>
            <a:pPr>
              <a:lnSpc>
                <a:spcPts val="2519"/>
              </a:lnSpc>
              <a:spcBef>
                <a:spcPct val="0"/>
              </a:spcBef>
            </a:pPr>
            <a:r>
              <a:rPr lang="en-GB" sz="3200" b="1" dirty="0">
                <a:solidFill>
                  <a:srgbClr val="000000"/>
                </a:solidFill>
                <a:latin typeface="TT Fors Bold"/>
              </a:rPr>
              <a:t>Using Tableau</a:t>
            </a:r>
          </a:p>
          <a:p>
            <a:pPr algn="l">
              <a:lnSpc>
                <a:spcPts val="2519"/>
              </a:lnSpc>
              <a:spcBef>
                <a:spcPct val="0"/>
              </a:spcBef>
            </a:pPr>
            <a:endParaRPr lang="en-US" sz="3200" b="1" dirty="0">
              <a:solidFill>
                <a:srgbClr val="000000"/>
              </a:solidFill>
              <a:latin typeface="TT Fors Bold"/>
              <a:ea typeface="TT Fors Bold"/>
              <a:cs typeface="TT Fors Bold"/>
              <a:sym typeface="TT Fors Bold"/>
            </a:endParaRPr>
          </a:p>
        </p:txBody>
      </p:sp>
      <p:sp>
        <p:nvSpPr>
          <p:cNvPr id="50" name="TextBox 50">
            <a:extLst>
              <a:ext uri="{FF2B5EF4-FFF2-40B4-BE49-F238E27FC236}">
                <a16:creationId xmlns:a16="http://schemas.microsoft.com/office/drawing/2014/main" id="{A85491C0-BFE7-B02D-02F5-7A86995A7B49}"/>
              </a:ext>
            </a:extLst>
          </p:cNvPr>
          <p:cNvSpPr txBox="1"/>
          <p:nvPr/>
        </p:nvSpPr>
        <p:spPr>
          <a:xfrm>
            <a:off x="10515600" y="4085597"/>
            <a:ext cx="6815190" cy="1969770"/>
          </a:xfrm>
          <a:prstGeom prst="rect">
            <a:avLst/>
          </a:prstGeom>
        </p:spPr>
        <p:txBody>
          <a:bodyPr wrap="square" lIns="0" tIns="0" rIns="0" bIns="0" rtlCol="0" anchor="t">
            <a:spAutoFit/>
          </a:bodyPr>
          <a:lstStyle/>
          <a:p>
            <a:pPr algn="l">
              <a:spcBef>
                <a:spcPct val="0"/>
              </a:spcBef>
            </a:pPr>
            <a:endParaRPr lang="en-US" sz="3200" b="1" dirty="0">
              <a:solidFill>
                <a:srgbClr val="000000"/>
              </a:solidFill>
              <a:latin typeface="TT Fors Bold"/>
              <a:ea typeface="TT Fors Bold"/>
              <a:cs typeface="TT Fors Bold"/>
              <a:sym typeface="TT Fors Bold"/>
            </a:endParaRPr>
          </a:p>
          <a:p>
            <a:pPr>
              <a:spcBef>
                <a:spcPct val="0"/>
              </a:spcBef>
            </a:pPr>
            <a:r>
              <a:rPr lang="en-GB" sz="3200" b="1" dirty="0">
                <a:solidFill>
                  <a:srgbClr val="000000"/>
                </a:solidFill>
                <a:latin typeface="TT Fors Bold"/>
              </a:rPr>
              <a:t>Comprehensive Analysis of the Gig Economy</a:t>
            </a:r>
          </a:p>
          <a:p>
            <a:pPr algn="l">
              <a:spcBef>
                <a:spcPct val="0"/>
              </a:spcBef>
            </a:pPr>
            <a:endParaRPr lang="en-US" sz="3200" b="1" dirty="0">
              <a:solidFill>
                <a:srgbClr val="000000"/>
              </a:solidFill>
              <a:latin typeface="TT Fors Bold"/>
              <a:ea typeface="TT Fors Bold"/>
              <a:cs typeface="TT Fors Bold"/>
              <a:sym typeface="TT Fors Bold"/>
            </a:endParaRPr>
          </a:p>
        </p:txBody>
      </p:sp>
      <p:pic>
        <p:nvPicPr>
          <p:cNvPr id="9" name="Picture 8">
            <a:extLst>
              <a:ext uri="{FF2B5EF4-FFF2-40B4-BE49-F238E27FC236}">
                <a16:creationId xmlns:a16="http://schemas.microsoft.com/office/drawing/2014/main" id="{5FD13B3A-24F0-5B48-C527-E41905878B40}"/>
              </a:ext>
            </a:extLst>
          </p:cNvPr>
          <p:cNvPicPr>
            <a:picLocks noChangeAspect="1"/>
          </p:cNvPicPr>
          <p:nvPr/>
        </p:nvPicPr>
        <p:blipFill>
          <a:blip r:embed="rId10">
            <a:alphaModFix/>
          </a:blip>
          <a:srcRect l="4143" t="3920" r="2254" b="-1864"/>
          <a:stretch>
            <a:fillRect/>
          </a:stretch>
        </p:blipFill>
        <p:spPr>
          <a:xfrm>
            <a:off x="1828800" y="2721904"/>
            <a:ext cx="3851508" cy="4846222"/>
          </a:xfrm>
          <a:prstGeom prst="rect">
            <a:avLst/>
          </a:prstGeom>
          <a:ln>
            <a:noFill/>
          </a:ln>
          <a:effectLst>
            <a:softEdge rad="112500"/>
          </a:effectLst>
        </p:spPr>
      </p:pic>
    </p:spTree>
    <p:extLst>
      <p:ext uri="{BB962C8B-B14F-4D97-AF65-F5344CB8AC3E}">
        <p14:creationId xmlns:p14="http://schemas.microsoft.com/office/powerpoint/2010/main" val="1490080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Freeform 2"/>
          <p:cNvSpPr/>
          <p:nvPr/>
        </p:nvSpPr>
        <p:spPr>
          <a:xfrm flipH="1">
            <a:off x="1389809" y="1330610"/>
            <a:ext cx="7891438" cy="7644830"/>
          </a:xfrm>
          <a:custGeom>
            <a:avLst/>
            <a:gdLst/>
            <a:ahLst/>
            <a:cxnLst/>
            <a:rect l="l" t="t" r="r" b="b"/>
            <a:pathLst>
              <a:path w="7891438" h="7644830">
                <a:moveTo>
                  <a:pt x="7891438" y="0"/>
                </a:moveTo>
                <a:lnTo>
                  <a:pt x="0" y="0"/>
                </a:lnTo>
                <a:lnTo>
                  <a:pt x="0" y="7644830"/>
                </a:lnTo>
                <a:lnTo>
                  <a:pt x="7891438" y="7644830"/>
                </a:lnTo>
                <a:lnTo>
                  <a:pt x="7891438"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0145238" y="3880522"/>
            <a:ext cx="6072282" cy="1203416"/>
          </a:xfrm>
          <a:custGeom>
            <a:avLst/>
            <a:gdLst/>
            <a:ahLst/>
            <a:cxnLst/>
            <a:rect l="l" t="t" r="r" b="b"/>
            <a:pathLst>
              <a:path w="6072282" h="1203416">
                <a:moveTo>
                  <a:pt x="0" y="0"/>
                </a:moveTo>
                <a:lnTo>
                  <a:pt x="6072282" y="0"/>
                </a:lnTo>
                <a:lnTo>
                  <a:pt x="6072282" y="1203416"/>
                </a:lnTo>
                <a:lnTo>
                  <a:pt x="0" y="1203416"/>
                </a:lnTo>
                <a:lnTo>
                  <a:pt x="0" y="0"/>
                </a:lnTo>
                <a:close/>
              </a:path>
            </a:pathLst>
          </a:custGeom>
          <a:blipFill>
            <a:blip r:embed="rId4"/>
            <a:stretch>
              <a:fillRect/>
            </a:stretch>
          </a:blipFill>
        </p:spPr>
        <p:txBody>
          <a:bodyPr/>
          <a:lstStyle/>
          <a:p>
            <a:endParaRPr lang="en-GB"/>
          </a:p>
        </p:txBody>
      </p:sp>
      <p:sp>
        <p:nvSpPr>
          <p:cNvPr id="4" name="Freeform 4"/>
          <p:cNvSpPr/>
          <p:nvPr/>
        </p:nvSpPr>
        <p:spPr>
          <a:xfrm>
            <a:off x="10145238" y="5513688"/>
            <a:ext cx="6072282" cy="1203416"/>
          </a:xfrm>
          <a:custGeom>
            <a:avLst/>
            <a:gdLst/>
            <a:ahLst/>
            <a:cxnLst/>
            <a:rect l="l" t="t" r="r" b="b"/>
            <a:pathLst>
              <a:path w="6072282" h="1203416">
                <a:moveTo>
                  <a:pt x="0" y="0"/>
                </a:moveTo>
                <a:lnTo>
                  <a:pt x="6072282" y="0"/>
                </a:lnTo>
                <a:lnTo>
                  <a:pt x="6072282" y="1203416"/>
                </a:lnTo>
                <a:lnTo>
                  <a:pt x="0" y="1203416"/>
                </a:lnTo>
                <a:lnTo>
                  <a:pt x="0" y="0"/>
                </a:lnTo>
                <a:close/>
              </a:path>
            </a:pathLst>
          </a:custGeom>
          <a:blipFill>
            <a:blip r:embed="rId4"/>
            <a:stretch>
              <a:fillRect/>
            </a:stretch>
          </a:blipFill>
        </p:spPr>
        <p:txBody>
          <a:bodyPr/>
          <a:lstStyle/>
          <a:p>
            <a:endParaRPr lang="en-GB"/>
          </a:p>
        </p:txBody>
      </p:sp>
      <p:grpSp>
        <p:nvGrpSpPr>
          <p:cNvPr id="5" name="Group 5"/>
          <p:cNvGrpSpPr/>
          <p:nvPr/>
        </p:nvGrpSpPr>
        <p:grpSpPr>
          <a:xfrm>
            <a:off x="9913103" y="3490249"/>
            <a:ext cx="6536552" cy="1154304"/>
            <a:chOff x="0" y="0"/>
            <a:chExt cx="1721561" cy="304014"/>
          </a:xfrm>
        </p:grpSpPr>
        <p:sp>
          <p:nvSpPr>
            <p:cNvPr id="6" name="Freeform 6"/>
            <p:cNvSpPr/>
            <p:nvPr/>
          </p:nvSpPr>
          <p:spPr>
            <a:xfrm>
              <a:off x="0" y="0"/>
              <a:ext cx="1721561" cy="304014"/>
            </a:xfrm>
            <a:custGeom>
              <a:avLst/>
              <a:gdLst/>
              <a:ahLst/>
              <a:cxnLst/>
              <a:rect l="l" t="t" r="r" b="b"/>
              <a:pathLst>
                <a:path w="1721561" h="304014">
                  <a:moveTo>
                    <a:pt x="20135" y="0"/>
                  </a:moveTo>
                  <a:lnTo>
                    <a:pt x="1701426" y="0"/>
                  </a:lnTo>
                  <a:cubicBezTo>
                    <a:pt x="1712546" y="0"/>
                    <a:pt x="1721561" y="9015"/>
                    <a:pt x="1721561" y="20135"/>
                  </a:cubicBezTo>
                  <a:lnTo>
                    <a:pt x="1721561" y="283879"/>
                  </a:lnTo>
                  <a:cubicBezTo>
                    <a:pt x="1721561" y="295000"/>
                    <a:pt x="1712546" y="304014"/>
                    <a:pt x="1701426" y="304014"/>
                  </a:cubicBezTo>
                  <a:lnTo>
                    <a:pt x="20135" y="304014"/>
                  </a:lnTo>
                  <a:cubicBezTo>
                    <a:pt x="9015" y="304014"/>
                    <a:pt x="0" y="295000"/>
                    <a:pt x="0" y="283879"/>
                  </a:cubicBezTo>
                  <a:lnTo>
                    <a:pt x="0" y="20135"/>
                  </a:lnTo>
                  <a:cubicBezTo>
                    <a:pt x="0" y="9015"/>
                    <a:pt x="9015" y="0"/>
                    <a:pt x="20135" y="0"/>
                  </a:cubicBezTo>
                  <a:close/>
                </a:path>
              </a:pathLst>
            </a:custGeom>
            <a:solidFill>
              <a:srgbClr val="122359"/>
            </a:solidFill>
          </p:spPr>
          <p:txBody>
            <a:bodyPr/>
            <a:lstStyle/>
            <a:p>
              <a:endParaRPr lang="en-GB"/>
            </a:p>
          </p:txBody>
        </p:sp>
        <p:sp>
          <p:nvSpPr>
            <p:cNvPr id="7" name="TextBox 7"/>
            <p:cNvSpPr txBox="1"/>
            <p:nvPr/>
          </p:nvSpPr>
          <p:spPr>
            <a:xfrm>
              <a:off x="0" y="-38100"/>
              <a:ext cx="1721561" cy="342114"/>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9913103" y="5179858"/>
            <a:ext cx="6536552" cy="1154304"/>
            <a:chOff x="0" y="0"/>
            <a:chExt cx="1721561" cy="304014"/>
          </a:xfrm>
        </p:grpSpPr>
        <p:sp>
          <p:nvSpPr>
            <p:cNvPr id="9" name="Freeform 9"/>
            <p:cNvSpPr/>
            <p:nvPr/>
          </p:nvSpPr>
          <p:spPr>
            <a:xfrm>
              <a:off x="0" y="0"/>
              <a:ext cx="1721561" cy="304014"/>
            </a:xfrm>
            <a:custGeom>
              <a:avLst/>
              <a:gdLst/>
              <a:ahLst/>
              <a:cxnLst/>
              <a:rect l="l" t="t" r="r" b="b"/>
              <a:pathLst>
                <a:path w="1721561" h="304014">
                  <a:moveTo>
                    <a:pt x="20135" y="0"/>
                  </a:moveTo>
                  <a:lnTo>
                    <a:pt x="1701426" y="0"/>
                  </a:lnTo>
                  <a:cubicBezTo>
                    <a:pt x="1712546" y="0"/>
                    <a:pt x="1721561" y="9015"/>
                    <a:pt x="1721561" y="20135"/>
                  </a:cubicBezTo>
                  <a:lnTo>
                    <a:pt x="1721561" y="283879"/>
                  </a:lnTo>
                  <a:cubicBezTo>
                    <a:pt x="1721561" y="295000"/>
                    <a:pt x="1712546" y="304014"/>
                    <a:pt x="1701426" y="304014"/>
                  </a:cubicBezTo>
                  <a:lnTo>
                    <a:pt x="20135" y="304014"/>
                  </a:lnTo>
                  <a:cubicBezTo>
                    <a:pt x="9015" y="304014"/>
                    <a:pt x="0" y="295000"/>
                    <a:pt x="0" y="283879"/>
                  </a:cubicBezTo>
                  <a:lnTo>
                    <a:pt x="0" y="20135"/>
                  </a:lnTo>
                  <a:cubicBezTo>
                    <a:pt x="0" y="9015"/>
                    <a:pt x="9015" y="0"/>
                    <a:pt x="20135" y="0"/>
                  </a:cubicBezTo>
                  <a:close/>
                </a:path>
              </a:pathLst>
            </a:custGeom>
            <a:solidFill>
              <a:srgbClr val="3E6398"/>
            </a:solidFill>
          </p:spPr>
          <p:txBody>
            <a:bodyPr/>
            <a:lstStyle/>
            <a:p>
              <a:endParaRPr lang="en-GB"/>
            </a:p>
          </p:txBody>
        </p:sp>
        <p:sp>
          <p:nvSpPr>
            <p:cNvPr id="10" name="TextBox 10"/>
            <p:cNvSpPr txBox="1"/>
            <p:nvPr/>
          </p:nvSpPr>
          <p:spPr>
            <a:xfrm>
              <a:off x="0" y="-38100"/>
              <a:ext cx="1721561" cy="342114"/>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0145238" y="3314700"/>
            <a:ext cx="6072282" cy="1505402"/>
            <a:chOff x="0" y="0"/>
            <a:chExt cx="1599284" cy="396484"/>
          </a:xfrm>
        </p:grpSpPr>
        <p:sp>
          <p:nvSpPr>
            <p:cNvPr id="12" name="Freeform 12"/>
            <p:cNvSpPr/>
            <p:nvPr/>
          </p:nvSpPr>
          <p:spPr>
            <a:xfrm>
              <a:off x="0" y="0"/>
              <a:ext cx="1599284" cy="396484"/>
            </a:xfrm>
            <a:custGeom>
              <a:avLst/>
              <a:gdLst/>
              <a:ahLst/>
              <a:cxnLst/>
              <a:rect l="l" t="t" r="r" b="b"/>
              <a:pathLst>
                <a:path w="1599284" h="396484">
                  <a:moveTo>
                    <a:pt x="24224" y="0"/>
                  </a:moveTo>
                  <a:lnTo>
                    <a:pt x="1575060" y="0"/>
                  </a:lnTo>
                  <a:cubicBezTo>
                    <a:pt x="1581484" y="0"/>
                    <a:pt x="1587646" y="2552"/>
                    <a:pt x="1592189" y="7095"/>
                  </a:cubicBezTo>
                  <a:cubicBezTo>
                    <a:pt x="1596732" y="11638"/>
                    <a:pt x="1599284" y="17800"/>
                    <a:pt x="1599284" y="24224"/>
                  </a:cubicBezTo>
                  <a:lnTo>
                    <a:pt x="1599284" y="372260"/>
                  </a:lnTo>
                  <a:cubicBezTo>
                    <a:pt x="1599284" y="378685"/>
                    <a:pt x="1596732" y="384846"/>
                    <a:pt x="1592189" y="389389"/>
                  </a:cubicBezTo>
                  <a:cubicBezTo>
                    <a:pt x="1587646" y="393932"/>
                    <a:pt x="1581484" y="396484"/>
                    <a:pt x="1575060" y="396484"/>
                  </a:cubicBezTo>
                  <a:lnTo>
                    <a:pt x="24224" y="396484"/>
                  </a:lnTo>
                  <a:cubicBezTo>
                    <a:pt x="17800" y="396484"/>
                    <a:pt x="11638" y="393932"/>
                    <a:pt x="7095" y="389389"/>
                  </a:cubicBezTo>
                  <a:cubicBezTo>
                    <a:pt x="2552" y="384846"/>
                    <a:pt x="0" y="378685"/>
                    <a:pt x="0" y="372260"/>
                  </a:cubicBezTo>
                  <a:lnTo>
                    <a:pt x="0" y="24224"/>
                  </a:lnTo>
                  <a:cubicBezTo>
                    <a:pt x="0" y="17800"/>
                    <a:pt x="2552" y="11638"/>
                    <a:pt x="7095" y="7095"/>
                  </a:cubicBezTo>
                  <a:cubicBezTo>
                    <a:pt x="11638" y="2552"/>
                    <a:pt x="17800" y="0"/>
                    <a:pt x="24224" y="0"/>
                  </a:cubicBezTo>
                  <a:close/>
                </a:path>
              </a:pathLst>
            </a:custGeom>
            <a:solidFill>
              <a:srgbClr val="FFFFFF"/>
            </a:solidFill>
          </p:spPr>
          <p:txBody>
            <a:bodyPr/>
            <a:lstStyle/>
            <a:p>
              <a:endParaRPr lang="en-GB" sz="2400"/>
            </a:p>
          </p:txBody>
        </p:sp>
        <p:sp>
          <p:nvSpPr>
            <p:cNvPr id="13" name="TextBox 13"/>
            <p:cNvSpPr txBox="1"/>
            <p:nvPr/>
          </p:nvSpPr>
          <p:spPr>
            <a:xfrm>
              <a:off x="0" y="-38100"/>
              <a:ext cx="1599284" cy="434584"/>
            </a:xfrm>
            <a:prstGeom prst="rect">
              <a:avLst/>
            </a:prstGeom>
          </p:spPr>
          <p:txBody>
            <a:bodyPr lIns="50800" tIns="50800" rIns="50800" bIns="50800" rtlCol="0" anchor="ctr"/>
            <a:lstStyle/>
            <a:p>
              <a:pPr algn="ctr">
                <a:lnSpc>
                  <a:spcPts val="2520"/>
                </a:lnSpc>
              </a:pPr>
              <a:endParaRPr sz="2400"/>
            </a:p>
          </p:txBody>
        </p:sp>
      </p:grpSp>
      <p:grpSp>
        <p:nvGrpSpPr>
          <p:cNvPr id="14" name="Group 14"/>
          <p:cNvGrpSpPr/>
          <p:nvPr/>
        </p:nvGrpSpPr>
        <p:grpSpPr>
          <a:xfrm>
            <a:off x="10145238" y="4859648"/>
            <a:ext cx="6072282" cy="1650063"/>
            <a:chOff x="0" y="-38100"/>
            <a:chExt cx="1599284" cy="434584"/>
          </a:xfrm>
        </p:grpSpPr>
        <p:sp>
          <p:nvSpPr>
            <p:cNvPr id="15" name="Freeform 15"/>
            <p:cNvSpPr/>
            <p:nvPr/>
          </p:nvSpPr>
          <p:spPr>
            <a:xfrm>
              <a:off x="0" y="0"/>
              <a:ext cx="1599284" cy="396484"/>
            </a:xfrm>
            <a:custGeom>
              <a:avLst/>
              <a:gdLst/>
              <a:ahLst/>
              <a:cxnLst/>
              <a:rect l="l" t="t" r="r" b="b"/>
              <a:pathLst>
                <a:path w="1599284" h="396484">
                  <a:moveTo>
                    <a:pt x="24224" y="0"/>
                  </a:moveTo>
                  <a:lnTo>
                    <a:pt x="1575060" y="0"/>
                  </a:lnTo>
                  <a:cubicBezTo>
                    <a:pt x="1581484" y="0"/>
                    <a:pt x="1587646" y="2552"/>
                    <a:pt x="1592189" y="7095"/>
                  </a:cubicBezTo>
                  <a:cubicBezTo>
                    <a:pt x="1596732" y="11638"/>
                    <a:pt x="1599284" y="17800"/>
                    <a:pt x="1599284" y="24224"/>
                  </a:cubicBezTo>
                  <a:lnTo>
                    <a:pt x="1599284" y="372260"/>
                  </a:lnTo>
                  <a:cubicBezTo>
                    <a:pt x="1599284" y="378685"/>
                    <a:pt x="1596732" y="384846"/>
                    <a:pt x="1592189" y="389389"/>
                  </a:cubicBezTo>
                  <a:cubicBezTo>
                    <a:pt x="1587646" y="393932"/>
                    <a:pt x="1581484" y="396484"/>
                    <a:pt x="1575060" y="396484"/>
                  </a:cubicBezTo>
                  <a:lnTo>
                    <a:pt x="24224" y="396484"/>
                  </a:lnTo>
                  <a:cubicBezTo>
                    <a:pt x="17800" y="396484"/>
                    <a:pt x="11638" y="393932"/>
                    <a:pt x="7095" y="389389"/>
                  </a:cubicBezTo>
                  <a:cubicBezTo>
                    <a:pt x="2552" y="384846"/>
                    <a:pt x="0" y="378685"/>
                    <a:pt x="0" y="372260"/>
                  </a:cubicBezTo>
                  <a:lnTo>
                    <a:pt x="0" y="24224"/>
                  </a:lnTo>
                  <a:cubicBezTo>
                    <a:pt x="0" y="17800"/>
                    <a:pt x="2552" y="11638"/>
                    <a:pt x="7095" y="7095"/>
                  </a:cubicBezTo>
                  <a:cubicBezTo>
                    <a:pt x="11638" y="2552"/>
                    <a:pt x="17800" y="0"/>
                    <a:pt x="24224" y="0"/>
                  </a:cubicBezTo>
                  <a:close/>
                </a:path>
              </a:pathLst>
            </a:custGeom>
            <a:solidFill>
              <a:srgbClr val="FFFFFF"/>
            </a:solidFill>
          </p:spPr>
          <p:txBody>
            <a:bodyPr/>
            <a:lstStyle/>
            <a:p>
              <a:endParaRPr lang="en-GB"/>
            </a:p>
          </p:txBody>
        </p:sp>
        <p:sp>
          <p:nvSpPr>
            <p:cNvPr id="16" name="TextBox 16"/>
            <p:cNvSpPr txBox="1"/>
            <p:nvPr/>
          </p:nvSpPr>
          <p:spPr>
            <a:xfrm>
              <a:off x="0" y="-38100"/>
              <a:ext cx="1599284" cy="434584"/>
            </a:xfrm>
            <a:prstGeom prst="rect">
              <a:avLst/>
            </a:prstGeom>
          </p:spPr>
          <p:txBody>
            <a:bodyPr lIns="50800" tIns="50800" rIns="50800" bIns="50800" rtlCol="0" anchor="ctr"/>
            <a:lstStyle/>
            <a:p>
              <a:pPr algn="ctr">
                <a:lnSpc>
                  <a:spcPts val="2520"/>
                </a:lnSpc>
              </a:pPr>
              <a:endParaRPr/>
            </a:p>
          </p:txBody>
        </p:sp>
      </p:grpSp>
      <p:sp>
        <p:nvSpPr>
          <p:cNvPr id="17" name="Freeform 17"/>
          <p:cNvSpPr/>
          <p:nvPr/>
        </p:nvSpPr>
        <p:spPr>
          <a:xfrm>
            <a:off x="10145238" y="6397534"/>
            <a:ext cx="6072282" cy="1203416"/>
          </a:xfrm>
          <a:custGeom>
            <a:avLst/>
            <a:gdLst/>
            <a:ahLst/>
            <a:cxnLst/>
            <a:rect l="l" t="t" r="r" b="b"/>
            <a:pathLst>
              <a:path w="6072282" h="1203416">
                <a:moveTo>
                  <a:pt x="0" y="0"/>
                </a:moveTo>
                <a:lnTo>
                  <a:pt x="6072282" y="0"/>
                </a:lnTo>
                <a:lnTo>
                  <a:pt x="6072282" y="1203416"/>
                </a:lnTo>
                <a:lnTo>
                  <a:pt x="0" y="1203416"/>
                </a:lnTo>
                <a:lnTo>
                  <a:pt x="0" y="0"/>
                </a:lnTo>
                <a:close/>
              </a:path>
            </a:pathLst>
          </a:custGeom>
          <a:blipFill>
            <a:blip r:embed="rId4"/>
            <a:stretch>
              <a:fillRect/>
            </a:stretch>
          </a:blipFill>
        </p:spPr>
        <p:txBody>
          <a:bodyPr/>
          <a:lstStyle/>
          <a:p>
            <a:endParaRPr lang="en-GB"/>
          </a:p>
        </p:txBody>
      </p:sp>
      <p:grpSp>
        <p:nvGrpSpPr>
          <p:cNvPr id="19" name="Group 19"/>
          <p:cNvGrpSpPr/>
          <p:nvPr/>
        </p:nvGrpSpPr>
        <p:grpSpPr>
          <a:xfrm>
            <a:off x="9913103" y="6869467"/>
            <a:ext cx="6536552" cy="1154304"/>
            <a:chOff x="0" y="0"/>
            <a:chExt cx="1721561" cy="304014"/>
          </a:xfrm>
        </p:grpSpPr>
        <p:sp>
          <p:nvSpPr>
            <p:cNvPr id="20" name="Freeform 20"/>
            <p:cNvSpPr/>
            <p:nvPr/>
          </p:nvSpPr>
          <p:spPr>
            <a:xfrm>
              <a:off x="0" y="0"/>
              <a:ext cx="1721561" cy="304014"/>
            </a:xfrm>
            <a:custGeom>
              <a:avLst/>
              <a:gdLst/>
              <a:ahLst/>
              <a:cxnLst/>
              <a:rect l="l" t="t" r="r" b="b"/>
              <a:pathLst>
                <a:path w="1721561" h="304014">
                  <a:moveTo>
                    <a:pt x="20135" y="0"/>
                  </a:moveTo>
                  <a:lnTo>
                    <a:pt x="1701426" y="0"/>
                  </a:lnTo>
                  <a:cubicBezTo>
                    <a:pt x="1712546" y="0"/>
                    <a:pt x="1721561" y="9015"/>
                    <a:pt x="1721561" y="20135"/>
                  </a:cubicBezTo>
                  <a:lnTo>
                    <a:pt x="1721561" y="283879"/>
                  </a:lnTo>
                  <a:cubicBezTo>
                    <a:pt x="1721561" y="295000"/>
                    <a:pt x="1712546" y="304014"/>
                    <a:pt x="1701426" y="304014"/>
                  </a:cubicBezTo>
                  <a:lnTo>
                    <a:pt x="20135" y="304014"/>
                  </a:lnTo>
                  <a:cubicBezTo>
                    <a:pt x="9015" y="304014"/>
                    <a:pt x="0" y="295000"/>
                    <a:pt x="0" y="283879"/>
                  </a:cubicBezTo>
                  <a:lnTo>
                    <a:pt x="0" y="20135"/>
                  </a:lnTo>
                  <a:cubicBezTo>
                    <a:pt x="0" y="9015"/>
                    <a:pt x="9015" y="0"/>
                    <a:pt x="20135" y="0"/>
                  </a:cubicBezTo>
                  <a:close/>
                </a:path>
              </a:pathLst>
            </a:custGeom>
            <a:solidFill>
              <a:srgbClr val="BEC8D9"/>
            </a:solidFill>
          </p:spPr>
          <p:txBody>
            <a:bodyPr/>
            <a:lstStyle/>
            <a:p>
              <a:endParaRPr lang="en-GB"/>
            </a:p>
          </p:txBody>
        </p:sp>
        <p:sp>
          <p:nvSpPr>
            <p:cNvPr id="21" name="TextBox 21"/>
            <p:cNvSpPr txBox="1"/>
            <p:nvPr/>
          </p:nvSpPr>
          <p:spPr>
            <a:xfrm>
              <a:off x="0" y="-38100"/>
              <a:ext cx="1721561" cy="342114"/>
            </a:xfrm>
            <a:prstGeom prst="rect">
              <a:avLst/>
            </a:prstGeom>
          </p:spPr>
          <p:txBody>
            <a:bodyPr lIns="50800" tIns="50800" rIns="50800" bIns="50800" rtlCol="0" anchor="ctr"/>
            <a:lstStyle/>
            <a:p>
              <a:pPr algn="ctr">
                <a:lnSpc>
                  <a:spcPts val="2520"/>
                </a:lnSpc>
              </a:pPr>
              <a:endParaRPr/>
            </a:p>
          </p:txBody>
        </p:sp>
      </p:grpSp>
      <p:grpSp>
        <p:nvGrpSpPr>
          <p:cNvPr id="22" name="Group 22"/>
          <p:cNvGrpSpPr/>
          <p:nvPr/>
        </p:nvGrpSpPr>
        <p:grpSpPr>
          <a:xfrm>
            <a:off x="10145238" y="6713823"/>
            <a:ext cx="6072282" cy="1505402"/>
            <a:chOff x="0" y="0"/>
            <a:chExt cx="1599284" cy="396484"/>
          </a:xfrm>
        </p:grpSpPr>
        <p:sp>
          <p:nvSpPr>
            <p:cNvPr id="23" name="Freeform 23"/>
            <p:cNvSpPr/>
            <p:nvPr/>
          </p:nvSpPr>
          <p:spPr>
            <a:xfrm>
              <a:off x="0" y="0"/>
              <a:ext cx="1599284" cy="396484"/>
            </a:xfrm>
            <a:custGeom>
              <a:avLst/>
              <a:gdLst/>
              <a:ahLst/>
              <a:cxnLst/>
              <a:rect l="l" t="t" r="r" b="b"/>
              <a:pathLst>
                <a:path w="1599284" h="396484">
                  <a:moveTo>
                    <a:pt x="24224" y="0"/>
                  </a:moveTo>
                  <a:lnTo>
                    <a:pt x="1575060" y="0"/>
                  </a:lnTo>
                  <a:cubicBezTo>
                    <a:pt x="1581484" y="0"/>
                    <a:pt x="1587646" y="2552"/>
                    <a:pt x="1592189" y="7095"/>
                  </a:cubicBezTo>
                  <a:cubicBezTo>
                    <a:pt x="1596732" y="11638"/>
                    <a:pt x="1599284" y="17800"/>
                    <a:pt x="1599284" y="24224"/>
                  </a:cubicBezTo>
                  <a:lnTo>
                    <a:pt x="1599284" y="372260"/>
                  </a:lnTo>
                  <a:cubicBezTo>
                    <a:pt x="1599284" y="378685"/>
                    <a:pt x="1596732" y="384846"/>
                    <a:pt x="1592189" y="389389"/>
                  </a:cubicBezTo>
                  <a:cubicBezTo>
                    <a:pt x="1587646" y="393932"/>
                    <a:pt x="1581484" y="396484"/>
                    <a:pt x="1575060" y="396484"/>
                  </a:cubicBezTo>
                  <a:lnTo>
                    <a:pt x="24224" y="396484"/>
                  </a:lnTo>
                  <a:cubicBezTo>
                    <a:pt x="17800" y="396484"/>
                    <a:pt x="11638" y="393932"/>
                    <a:pt x="7095" y="389389"/>
                  </a:cubicBezTo>
                  <a:cubicBezTo>
                    <a:pt x="2552" y="384846"/>
                    <a:pt x="0" y="378685"/>
                    <a:pt x="0" y="372260"/>
                  </a:cubicBezTo>
                  <a:lnTo>
                    <a:pt x="0" y="24224"/>
                  </a:lnTo>
                  <a:cubicBezTo>
                    <a:pt x="0" y="17800"/>
                    <a:pt x="2552" y="11638"/>
                    <a:pt x="7095" y="7095"/>
                  </a:cubicBezTo>
                  <a:cubicBezTo>
                    <a:pt x="11638" y="2552"/>
                    <a:pt x="17800" y="0"/>
                    <a:pt x="24224" y="0"/>
                  </a:cubicBezTo>
                  <a:close/>
                </a:path>
              </a:pathLst>
            </a:custGeom>
            <a:solidFill>
              <a:srgbClr val="FFFFFF"/>
            </a:solidFill>
          </p:spPr>
          <p:txBody>
            <a:bodyPr/>
            <a:lstStyle/>
            <a:p>
              <a:endParaRPr lang="en-GB"/>
            </a:p>
          </p:txBody>
        </p:sp>
        <p:sp>
          <p:nvSpPr>
            <p:cNvPr id="24" name="TextBox 24"/>
            <p:cNvSpPr txBox="1"/>
            <p:nvPr/>
          </p:nvSpPr>
          <p:spPr>
            <a:xfrm>
              <a:off x="0" y="-38100"/>
              <a:ext cx="1599284" cy="434584"/>
            </a:xfrm>
            <a:prstGeom prst="rect">
              <a:avLst/>
            </a:prstGeom>
          </p:spPr>
          <p:txBody>
            <a:bodyPr lIns="50800" tIns="50800" rIns="50800" bIns="50800" rtlCol="0" anchor="ctr"/>
            <a:lstStyle/>
            <a:p>
              <a:pPr algn="ctr">
                <a:lnSpc>
                  <a:spcPts val="2520"/>
                </a:lnSpc>
              </a:pPr>
              <a:endParaRPr/>
            </a:p>
          </p:txBody>
        </p:sp>
      </p:grpSp>
      <p:sp>
        <p:nvSpPr>
          <p:cNvPr id="31" name="Freeform 31"/>
          <p:cNvSpPr/>
          <p:nvPr/>
        </p:nvSpPr>
        <p:spPr>
          <a:xfrm>
            <a:off x="5490787" y="1830982"/>
            <a:ext cx="874675" cy="874675"/>
          </a:xfrm>
          <a:custGeom>
            <a:avLst/>
            <a:gdLst/>
            <a:ahLst/>
            <a:cxnLst/>
            <a:rect l="l" t="t" r="r" b="b"/>
            <a:pathLst>
              <a:path w="874675" h="874675">
                <a:moveTo>
                  <a:pt x="0" y="0"/>
                </a:moveTo>
                <a:lnTo>
                  <a:pt x="874675" y="0"/>
                </a:lnTo>
                <a:lnTo>
                  <a:pt x="874675" y="874675"/>
                </a:lnTo>
                <a:lnTo>
                  <a:pt x="0" y="8746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2" name="Freeform 32"/>
          <p:cNvSpPr/>
          <p:nvPr/>
        </p:nvSpPr>
        <p:spPr>
          <a:xfrm>
            <a:off x="5365777" y="3670626"/>
            <a:ext cx="1124695" cy="913815"/>
          </a:xfrm>
          <a:custGeom>
            <a:avLst/>
            <a:gdLst/>
            <a:ahLst/>
            <a:cxnLst/>
            <a:rect l="l" t="t" r="r" b="b"/>
            <a:pathLst>
              <a:path w="1124695" h="913815">
                <a:moveTo>
                  <a:pt x="0" y="0"/>
                </a:moveTo>
                <a:lnTo>
                  <a:pt x="1124695" y="0"/>
                </a:lnTo>
                <a:lnTo>
                  <a:pt x="1124695" y="913815"/>
                </a:lnTo>
                <a:lnTo>
                  <a:pt x="0" y="91381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33" name="Freeform 33"/>
          <p:cNvSpPr/>
          <p:nvPr/>
        </p:nvSpPr>
        <p:spPr>
          <a:xfrm>
            <a:off x="5438041" y="5624966"/>
            <a:ext cx="980168" cy="980168"/>
          </a:xfrm>
          <a:custGeom>
            <a:avLst/>
            <a:gdLst/>
            <a:ahLst/>
            <a:cxnLst/>
            <a:rect l="l" t="t" r="r" b="b"/>
            <a:pathLst>
              <a:path w="980168" h="980168">
                <a:moveTo>
                  <a:pt x="0" y="0"/>
                </a:moveTo>
                <a:lnTo>
                  <a:pt x="980168" y="0"/>
                </a:lnTo>
                <a:lnTo>
                  <a:pt x="980168" y="980168"/>
                </a:lnTo>
                <a:lnTo>
                  <a:pt x="0" y="98016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34" name="Freeform 34"/>
          <p:cNvSpPr/>
          <p:nvPr/>
        </p:nvSpPr>
        <p:spPr>
          <a:xfrm>
            <a:off x="5567025" y="7567159"/>
            <a:ext cx="722199" cy="962932"/>
          </a:xfrm>
          <a:custGeom>
            <a:avLst/>
            <a:gdLst/>
            <a:ahLst/>
            <a:cxnLst/>
            <a:rect l="l" t="t" r="r" b="b"/>
            <a:pathLst>
              <a:path w="722199" h="962932">
                <a:moveTo>
                  <a:pt x="0" y="0"/>
                </a:moveTo>
                <a:lnTo>
                  <a:pt x="722199" y="0"/>
                </a:lnTo>
                <a:lnTo>
                  <a:pt x="722199" y="962932"/>
                </a:lnTo>
                <a:lnTo>
                  <a:pt x="0" y="9629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35" name="TextBox 35"/>
          <p:cNvSpPr txBox="1"/>
          <p:nvPr/>
        </p:nvSpPr>
        <p:spPr>
          <a:xfrm>
            <a:off x="10498395" y="1917924"/>
            <a:ext cx="7591456" cy="634789"/>
          </a:xfrm>
          <a:prstGeom prst="rect">
            <a:avLst/>
          </a:prstGeom>
        </p:spPr>
        <p:txBody>
          <a:bodyPr lIns="0" tIns="0" rIns="0" bIns="0" rtlCol="0" anchor="t">
            <a:spAutoFit/>
          </a:bodyPr>
          <a:lstStyle/>
          <a:p>
            <a:pPr algn="l">
              <a:lnSpc>
                <a:spcPts val="5040"/>
              </a:lnSpc>
              <a:spcBef>
                <a:spcPct val="0"/>
              </a:spcBef>
            </a:pPr>
            <a:r>
              <a:rPr lang="en-US" sz="4000" b="1" dirty="0">
                <a:solidFill>
                  <a:srgbClr val="112F8D"/>
                </a:solidFill>
                <a:latin typeface="TT Fors Bold"/>
                <a:ea typeface="TT Fors Bold"/>
                <a:cs typeface="TT Fors Bold"/>
                <a:sym typeface="TT Fors Bold"/>
              </a:rPr>
              <a:t>Business Introduction</a:t>
            </a:r>
          </a:p>
        </p:txBody>
      </p:sp>
      <p:sp>
        <p:nvSpPr>
          <p:cNvPr id="36" name="TextBox 36"/>
          <p:cNvSpPr txBox="1"/>
          <p:nvPr/>
        </p:nvSpPr>
        <p:spPr>
          <a:xfrm>
            <a:off x="10498395" y="2580189"/>
            <a:ext cx="7591456" cy="371255"/>
          </a:xfrm>
          <a:prstGeom prst="rect">
            <a:avLst/>
          </a:prstGeom>
        </p:spPr>
        <p:txBody>
          <a:bodyPr lIns="0" tIns="0" rIns="0" bIns="0" rtlCol="0" anchor="t">
            <a:spAutoFit/>
          </a:bodyPr>
          <a:lstStyle/>
          <a:p>
            <a:pPr algn="l">
              <a:lnSpc>
                <a:spcPts val="2940"/>
              </a:lnSpc>
              <a:spcBef>
                <a:spcPct val="0"/>
              </a:spcBef>
            </a:pPr>
            <a:r>
              <a:rPr lang="en-US" sz="2400" dirty="0">
                <a:solidFill>
                  <a:srgbClr val="000000"/>
                </a:solidFill>
                <a:latin typeface="TT Fors"/>
                <a:ea typeface="TT Fors"/>
                <a:cs typeface="TT Fors"/>
                <a:sym typeface="TT Fors"/>
              </a:rPr>
              <a:t>There are three key stages to examine</a:t>
            </a:r>
          </a:p>
        </p:txBody>
      </p:sp>
      <p:sp>
        <p:nvSpPr>
          <p:cNvPr id="37" name="TextBox 37"/>
          <p:cNvSpPr txBox="1"/>
          <p:nvPr/>
        </p:nvSpPr>
        <p:spPr>
          <a:xfrm>
            <a:off x="1227884" y="3112896"/>
            <a:ext cx="1433154" cy="421005"/>
          </a:xfrm>
          <a:prstGeom prst="rect">
            <a:avLst/>
          </a:prstGeom>
        </p:spPr>
        <p:txBody>
          <a:bodyPr lIns="0" tIns="0" rIns="0" bIns="0" rtlCol="0" anchor="t">
            <a:spAutoFit/>
          </a:bodyPr>
          <a:lstStyle/>
          <a:p>
            <a:pPr algn="r">
              <a:lnSpc>
                <a:spcPts val="3360"/>
              </a:lnSpc>
            </a:pPr>
            <a:r>
              <a:rPr lang="en-US" sz="3000" b="1">
                <a:solidFill>
                  <a:srgbClr val="FFFFFF"/>
                </a:solidFill>
                <a:latin typeface="TT Fors Bold"/>
                <a:ea typeface="TT Fors Bold"/>
                <a:cs typeface="TT Fors Bold"/>
                <a:sym typeface="TT Fors Bold"/>
              </a:rPr>
              <a:t>01</a:t>
            </a:r>
          </a:p>
        </p:txBody>
      </p:sp>
      <p:sp>
        <p:nvSpPr>
          <p:cNvPr id="38" name="TextBox 38"/>
          <p:cNvSpPr txBox="1"/>
          <p:nvPr/>
        </p:nvSpPr>
        <p:spPr>
          <a:xfrm>
            <a:off x="1227884" y="4267200"/>
            <a:ext cx="1433154" cy="421005"/>
          </a:xfrm>
          <a:prstGeom prst="rect">
            <a:avLst/>
          </a:prstGeom>
        </p:spPr>
        <p:txBody>
          <a:bodyPr lIns="0" tIns="0" rIns="0" bIns="0" rtlCol="0" anchor="t">
            <a:spAutoFit/>
          </a:bodyPr>
          <a:lstStyle/>
          <a:p>
            <a:pPr algn="r">
              <a:lnSpc>
                <a:spcPts val="3360"/>
              </a:lnSpc>
            </a:pPr>
            <a:r>
              <a:rPr lang="en-US" sz="3000" b="1">
                <a:solidFill>
                  <a:srgbClr val="FFFFFF"/>
                </a:solidFill>
                <a:latin typeface="TT Fors Bold"/>
                <a:ea typeface="TT Fors Bold"/>
                <a:cs typeface="TT Fors Bold"/>
                <a:sym typeface="TT Fors Bold"/>
              </a:rPr>
              <a:t>02</a:t>
            </a:r>
          </a:p>
        </p:txBody>
      </p:sp>
      <p:sp>
        <p:nvSpPr>
          <p:cNvPr id="39" name="TextBox 39"/>
          <p:cNvSpPr txBox="1"/>
          <p:nvPr/>
        </p:nvSpPr>
        <p:spPr>
          <a:xfrm>
            <a:off x="1227884" y="5659629"/>
            <a:ext cx="1433154" cy="421005"/>
          </a:xfrm>
          <a:prstGeom prst="rect">
            <a:avLst/>
          </a:prstGeom>
        </p:spPr>
        <p:txBody>
          <a:bodyPr lIns="0" tIns="0" rIns="0" bIns="0" rtlCol="0" anchor="t">
            <a:spAutoFit/>
          </a:bodyPr>
          <a:lstStyle/>
          <a:p>
            <a:pPr algn="r">
              <a:lnSpc>
                <a:spcPts val="3360"/>
              </a:lnSpc>
            </a:pPr>
            <a:r>
              <a:rPr lang="en-US" sz="3000" b="1">
                <a:solidFill>
                  <a:srgbClr val="000000"/>
                </a:solidFill>
                <a:latin typeface="TT Fors Bold"/>
                <a:ea typeface="TT Fors Bold"/>
                <a:cs typeface="TT Fors Bold"/>
                <a:sym typeface="TT Fors Bold"/>
              </a:rPr>
              <a:t>03</a:t>
            </a:r>
          </a:p>
        </p:txBody>
      </p:sp>
      <p:sp>
        <p:nvSpPr>
          <p:cNvPr id="41" name="TextBox 41"/>
          <p:cNvSpPr txBox="1"/>
          <p:nvPr/>
        </p:nvSpPr>
        <p:spPr>
          <a:xfrm>
            <a:off x="10634704" y="3911341"/>
            <a:ext cx="5248889" cy="1150315"/>
          </a:xfrm>
          <a:prstGeom prst="rect">
            <a:avLst/>
          </a:prstGeom>
        </p:spPr>
        <p:txBody>
          <a:bodyPr lIns="0" tIns="0" rIns="0" bIns="0" rtlCol="0" anchor="t">
            <a:spAutoFit/>
          </a:bodyPr>
          <a:lstStyle/>
          <a:p>
            <a:pPr>
              <a:lnSpc>
                <a:spcPts val="2239"/>
              </a:lnSpc>
              <a:spcBef>
                <a:spcPct val="0"/>
              </a:spcBef>
            </a:pPr>
            <a:r>
              <a:rPr lang="en-GB" sz="2000" dirty="0">
                <a:solidFill>
                  <a:srgbClr val="000000"/>
                </a:solidFill>
                <a:latin typeface="TT Fors"/>
              </a:rPr>
              <a:t>FreelanceGig Analytics analyses trends in the gig economy.</a:t>
            </a:r>
          </a:p>
          <a:p>
            <a:pPr algn="l">
              <a:lnSpc>
                <a:spcPts val="2239"/>
              </a:lnSpc>
              <a:spcBef>
                <a:spcPct val="0"/>
              </a:spcBef>
            </a:pPr>
            <a:endParaRPr lang="en-US" sz="2000" dirty="0">
              <a:solidFill>
                <a:srgbClr val="000000"/>
              </a:solidFill>
              <a:latin typeface="TT Fors"/>
              <a:ea typeface="TT Fors"/>
              <a:cs typeface="TT Fors"/>
              <a:sym typeface="TT Fors"/>
            </a:endParaRPr>
          </a:p>
          <a:p>
            <a:pPr algn="l">
              <a:lnSpc>
                <a:spcPts val="2239"/>
              </a:lnSpc>
              <a:spcBef>
                <a:spcPct val="0"/>
              </a:spcBef>
            </a:pPr>
            <a:endParaRPr lang="en-US" sz="2000" dirty="0">
              <a:solidFill>
                <a:srgbClr val="000000"/>
              </a:solidFill>
              <a:latin typeface="TT Fors"/>
              <a:ea typeface="TT Fors"/>
              <a:cs typeface="TT Fors"/>
              <a:sym typeface="TT Fors"/>
            </a:endParaRPr>
          </a:p>
        </p:txBody>
      </p:sp>
      <p:sp>
        <p:nvSpPr>
          <p:cNvPr id="42" name="TextBox 42"/>
          <p:cNvSpPr txBox="1"/>
          <p:nvPr/>
        </p:nvSpPr>
        <p:spPr>
          <a:xfrm>
            <a:off x="10634704" y="5600950"/>
            <a:ext cx="5248889" cy="1119474"/>
          </a:xfrm>
          <a:prstGeom prst="rect">
            <a:avLst/>
          </a:prstGeom>
        </p:spPr>
        <p:txBody>
          <a:bodyPr lIns="0" tIns="0" rIns="0" bIns="0" rtlCol="0" anchor="t">
            <a:spAutoFit/>
          </a:bodyPr>
          <a:lstStyle/>
          <a:p>
            <a:pPr>
              <a:lnSpc>
                <a:spcPts val="2239"/>
              </a:lnSpc>
              <a:spcBef>
                <a:spcPct val="0"/>
              </a:spcBef>
            </a:pPr>
            <a:r>
              <a:rPr lang="en-GB" sz="2000" dirty="0">
                <a:solidFill>
                  <a:srgbClr val="000000"/>
                </a:solidFill>
                <a:latin typeface="TT Fors"/>
              </a:rPr>
              <a:t>The company focuses on freelancer earnings, job performance, and market demand.</a:t>
            </a:r>
          </a:p>
          <a:p>
            <a:pPr algn="l">
              <a:lnSpc>
                <a:spcPts val="2239"/>
              </a:lnSpc>
              <a:spcBef>
                <a:spcPct val="0"/>
              </a:spcBef>
            </a:pPr>
            <a:endParaRPr lang="en-US" sz="1599" dirty="0">
              <a:solidFill>
                <a:srgbClr val="000000"/>
              </a:solidFill>
              <a:latin typeface="TT Fors"/>
              <a:ea typeface="TT Fors"/>
              <a:cs typeface="TT Fors"/>
              <a:sym typeface="TT Fors"/>
            </a:endParaRPr>
          </a:p>
        </p:txBody>
      </p:sp>
      <p:sp>
        <p:nvSpPr>
          <p:cNvPr id="43" name="TextBox 43"/>
          <p:cNvSpPr txBox="1"/>
          <p:nvPr/>
        </p:nvSpPr>
        <p:spPr>
          <a:xfrm>
            <a:off x="10634704" y="3540526"/>
            <a:ext cx="5248889" cy="348172"/>
          </a:xfrm>
          <a:prstGeom prst="rect">
            <a:avLst/>
          </a:prstGeom>
        </p:spPr>
        <p:txBody>
          <a:bodyPr lIns="0" tIns="0" rIns="0" bIns="0" rtlCol="0" anchor="t">
            <a:spAutoFit/>
          </a:bodyPr>
          <a:lstStyle/>
          <a:p>
            <a:pPr algn="l">
              <a:lnSpc>
                <a:spcPts val="2519"/>
              </a:lnSpc>
              <a:spcBef>
                <a:spcPct val="0"/>
              </a:spcBef>
            </a:pPr>
            <a:r>
              <a:rPr lang="en-US" sz="2800" b="1" dirty="0">
                <a:solidFill>
                  <a:srgbClr val="000000"/>
                </a:solidFill>
                <a:latin typeface="TT Fors Bold"/>
                <a:ea typeface="TT Fors Bold"/>
                <a:cs typeface="TT Fors Bold"/>
                <a:sym typeface="TT Fors Bold"/>
              </a:rPr>
              <a:t>Analysis</a:t>
            </a:r>
          </a:p>
        </p:txBody>
      </p:sp>
      <p:sp>
        <p:nvSpPr>
          <p:cNvPr id="44" name="TextBox 44"/>
          <p:cNvSpPr txBox="1"/>
          <p:nvPr/>
        </p:nvSpPr>
        <p:spPr>
          <a:xfrm>
            <a:off x="10634704" y="5230135"/>
            <a:ext cx="5248889" cy="348172"/>
          </a:xfrm>
          <a:prstGeom prst="rect">
            <a:avLst/>
          </a:prstGeom>
        </p:spPr>
        <p:txBody>
          <a:bodyPr lIns="0" tIns="0" rIns="0" bIns="0" rtlCol="0" anchor="t">
            <a:spAutoFit/>
          </a:bodyPr>
          <a:lstStyle/>
          <a:p>
            <a:pPr algn="l">
              <a:lnSpc>
                <a:spcPts val="2519"/>
              </a:lnSpc>
              <a:spcBef>
                <a:spcPct val="0"/>
              </a:spcBef>
            </a:pPr>
            <a:r>
              <a:rPr lang="en-US" sz="2800" b="1" dirty="0">
                <a:solidFill>
                  <a:srgbClr val="000000"/>
                </a:solidFill>
                <a:latin typeface="TT Fors Bold"/>
                <a:sym typeface="TT Fors Bold"/>
              </a:rPr>
              <a:t>Freelancers</a:t>
            </a:r>
          </a:p>
        </p:txBody>
      </p:sp>
      <p:sp>
        <p:nvSpPr>
          <p:cNvPr id="45" name="TextBox 45"/>
          <p:cNvSpPr txBox="1"/>
          <p:nvPr/>
        </p:nvSpPr>
        <p:spPr>
          <a:xfrm>
            <a:off x="10634704" y="7290559"/>
            <a:ext cx="5248889" cy="570669"/>
          </a:xfrm>
          <a:prstGeom prst="rect">
            <a:avLst/>
          </a:prstGeom>
        </p:spPr>
        <p:txBody>
          <a:bodyPr lIns="0" tIns="0" rIns="0" bIns="0" rtlCol="0" anchor="t">
            <a:spAutoFit/>
          </a:bodyPr>
          <a:lstStyle/>
          <a:p>
            <a:pPr>
              <a:lnSpc>
                <a:spcPts val="2239"/>
              </a:lnSpc>
              <a:spcBef>
                <a:spcPct val="0"/>
              </a:spcBef>
            </a:pPr>
            <a:r>
              <a:rPr lang="en-GB" sz="2000" dirty="0">
                <a:solidFill>
                  <a:srgbClr val="000000"/>
                </a:solidFill>
                <a:latin typeface="TT Fors"/>
              </a:rPr>
              <a:t>Provides insights for freelancers, businesses, and policymakers.</a:t>
            </a:r>
            <a:endParaRPr lang="en-US" sz="2000" dirty="0">
              <a:solidFill>
                <a:srgbClr val="000000"/>
              </a:solidFill>
              <a:latin typeface="TT Fors"/>
              <a:sym typeface="TT Fors"/>
            </a:endParaRPr>
          </a:p>
        </p:txBody>
      </p:sp>
      <p:sp>
        <p:nvSpPr>
          <p:cNvPr id="46" name="TextBox 46"/>
          <p:cNvSpPr txBox="1"/>
          <p:nvPr/>
        </p:nvSpPr>
        <p:spPr>
          <a:xfrm>
            <a:off x="10634704" y="6919744"/>
            <a:ext cx="5248889" cy="348172"/>
          </a:xfrm>
          <a:prstGeom prst="rect">
            <a:avLst/>
          </a:prstGeom>
        </p:spPr>
        <p:txBody>
          <a:bodyPr lIns="0" tIns="0" rIns="0" bIns="0" rtlCol="0" anchor="t">
            <a:spAutoFit/>
          </a:bodyPr>
          <a:lstStyle/>
          <a:p>
            <a:pPr algn="l">
              <a:lnSpc>
                <a:spcPts val="2519"/>
              </a:lnSpc>
              <a:spcBef>
                <a:spcPct val="0"/>
              </a:spcBef>
            </a:pPr>
            <a:r>
              <a:rPr lang="en-US" sz="2800" b="1" dirty="0">
                <a:solidFill>
                  <a:srgbClr val="000000"/>
                </a:solidFill>
                <a:latin typeface="TT Fors Bold"/>
                <a:sym typeface="TT Fors Bold"/>
              </a:rPr>
              <a:t>Insight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Freeform 2"/>
          <p:cNvSpPr/>
          <p:nvPr/>
        </p:nvSpPr>
        <p:spPr>
          <a:xfrm>
            <a:off x="1439608" y="6640522"/>
            <a:ext cx="15408784" cy="3053741"/>
          </a:xfrm>
          <a:custGeom>
            <a:avLst/>
            <a:gdLst/>
            <a:ahLst/>
            <a:cxnLst/>
            <a:rect l="l" t="t" r="r" b="b"/>
            <a:pathLst>
              <a:path w="15408784" h="3053741">
                <a:moveTo>
                  <a:pt x="0" y="0"/>
                </a:moveTo>
                <a:lnTo>
                  <a:pt x="15408784" y="0"/>
                </a:lnTo>
                <a:lnTo>
                  <a:pt x="15408784" y="3053741"/>
                </a:lnTo>
                <a:lnTo>
                  <a:pt x="0" y="3053741"/>
                </a:lnTo>
                <a:lnTo>
                  <a:pt x="0" y="0"/>
                </a:lnTo>
                <a:close/>
              </a:path>
            </a:pathLst>
          </a:custGeom>
          <a:blipFill>
            <a:blip r:embed="rId2"/>
            <a:stretch>
              <a:fillRect/>
            </a:stretch>
          </a:blipFill>
        </p:spPr>
        <p:txBody>
          <a:bodyPr/>
          <a:lstStyle/>
          <a:p>
            <a:endParaRPr lang="en-GB"/>
          </a:p>
        </p:txBody>
      </p:sp>
      <p:grpSp>
        <p:nvGrpSpPr>
          <p:cNvPr id="3" name="Group 3"/>
          <p:cNvGrpSpPr/>
          <p:nvPr/>
        </p:nvGrpSpPr>
        <p:grpSpPr>
          <a:xfrm>
            <a:off x="1439608" y="5476723"/>
            <a:ext cx="15408784" cy="3857777"/>
            <a:chOff x="0" y="0"/>
            <a:chExt cx="4058280" cy="1016040"/>
          </a:xfrm>
        </p:grpSpPr>
        <p:sp>
          <p:nvSpPr>
            <p:cNvPr id="4" name="Freeform 4"/>
            <p:cNvSpPr/>
            <p:nvPr/>
          </p:nvSpPr>
          <p:spPr>
            <a:xfrm>
              <a:off x="0" y="0"/>
              <a:ext cx="4058281" cy="1016040"/>
            </a:xfrm>
            <a:custGeom>
              <a:avLst/>
              <a:gdLst/>
              <a:ahLst/>
              <a:cxnLst/>
              <a:rect l="l" t="t" r="r" b="b"/>
              <a:pathLst>
                <a:path w="4058281" h="1016040">
                  <a:moveTo>
                    <a:pt x="16580" y="0"/>
                  </a:moveTo>
                  <a:lnTo>
                    <a:pt x="4041700" y="0"/>
                  </a:lnTo>
                  <a:cubicBezTo>
                    <a:pt x="4050857" y="0"/>
                    <a:pt x="4058281" y="7423"/>
                    <a:pt x="4058281" y="16580"/>
                  </a:cubicBezTo>
                  <a:lnTo>
                    <a:pt x="4058281" y="999460"/>
                  </a:lnTo>
                  <a:cubicBezTo>
                    <a:pt x="4058281" y="1008617"/>
                    <a:pt x="4050857" y="1016040"/>
                    <a:pt x="4041700" y="1016040"/>
                  </a:cubicBezTo>
                  <a:lnTo>
                    <a:pt x="16580" y="1016040"/>
                  </a:lnTo>
                  <a:cubicBezTo>
                    <a:pt x="7423" y="1016040"/>
                    <a:pt x="0" y="1008617"/>
                    <a:pt x="0" y="999460"/>
                  </a:cubicBezTo>
                  <a:lnTo>
                    <a:pt x="0" y="16580"/>
                  </a:lnTo>
                  <a:cubicBezTo>
                    <a:pt x="0" y="7423"/>
                    <a:pt x="7423" y="0"/>
                    <a:pt x="16580" y="0"/>
                  </a:cubicBezTo>
                  <a:close/>
                </a:path>
              </a:pathLst>
            </a:custGeom>
            <a:solidFill>
              <a:srgbClr val="FFFFFF"/>
            </a:solidFill>
          </p:spPr>
          <p:txBody>
            <a:bodyPr/>
            <a:lstStyle/>
            <a:p>
              <a:endParaRPr lang="en-GB"/>
            </a:p>
          </p:txBody>
        </p:sp>
        <p:sp>
          <p:nvSpPr>
            <p:cNvPr id="5" name="TextBox 5"/>
            <p:cNvSpPr txBox="1"/>
            <p:nvPr/>
          </p:nvSpPr>
          <p:spPr>
            <a:xfrm>
              <a:off x="0" y="-38100"/>
              <a:ext cx="4058280" cy="1054140"/>
            </a:xfrm>
            <a:prstGeom prst="rect">
              <a:avLst/>
            </a:prstGeom>
          </p:spPr>
          <p:txBody>
            <a:bodyPr lIns="50800" tIns="50800" rIns="50800" bIns="50800" rtlCol="0" anchor="ctr"/>
            <a:lstStyle/>
            <a:p>
              <a:pPr algn="ctr">
                <a:lnSpc>
                  <a:spcPts val="2520"/>
                </a:lnSpc>
              </a:pPr>
              <a:endParaRPr/>
            </a:p>
          </p:txBody>
        </p:sp>
      </p:grpSp>
      <p:grpSp>
        <p:nvGrpSpPr>
          <p:cNvPr id="6" name="Group 6"/>
          <p:cNvGrpSpPr/>
          <p:nvPr/>
        </p:nvGrpSpPr>
        <p:grpSpPr>
          <a:xfrm>
            <a:off x="1439608" y="4906346"/>
            <a:ext cx="3081757" cy="303677"/>
            <a:chOff x="0" y="0"/>
            <a:chExt cx="811656" cy="79981"/>
          </a:xfrm>
        </p:grpSpPr>
        <p:sp>
          <p:nvSpPr>
            <p:cNvPr id="7" name="Freeform 7"/>
            <p:cNvSpPr/>
            <p:nvPr/>
          </p:nvSpPr>
          <p:spPr>
            <a:xfrm>
              <a:off x="0" y="0"/>
              <a:ext cx="811656" cy="79981"/>
            </a:xfrm>
            <a:custGeom>
              <a:avLst/>
              <a:gdLst/>
              <a:ahLst/>
              <a:cxnLst/>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a:srgbClr val="122359"/>
            </a:solidFill>
          </p:spPr>
          <p:txBody>
            <a:bodyPr/>
            <a:lstStyle/>
            <a:p>
              <a:endParaRPr lang="en-GB"/>
            </a:p>
          </p:txBody>
        </p:sp>
        <p:sp>
          <p:nvSpPr>
            <p:cNvPr id="8" name="TextBox 8"/>
            <p:cNvSpPr txBox="1"/>
            <p:nvPr/>
          </p:nvSpPr>
          <p:spPr>
            <a:xfrm>
              <a:off x="0" y="-38100"/>
              <a:ext cx="811656" cy="11808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9" name="Group 9"/>
          <p:cNvGrpSpPr/>
          <p:nvPr/>
        </p:nvGrpSpPr>
        <p:grpSpPr>
          <a:xfrm>
            <a:off x="4521365" y="4906346"/>
            <a:ext cx="3081757" cy="303677"/>
            <a:chOff x="0" y="0"/>
            <a:chExt cx="811656" cy="79981"/>
          </a:xfrm>
        </p:grpSpPr>
        <p:sp>
          <p:nvSpPr>
            <p:cNvPr id="10" name="Freeform 10"/>
            <p:cNvSpPr/>
            <p:nvPr/>
          </p:nvSpPr>
          <p:spPr>
            <a:xfrm>
              <a:off x="0" y="0"/>
              <a:ext cx="811656" cy="79981"/>
            </a:xfrm>
            <a:custGeom>
              <a:avLst/>
              <a:gdLst/>
              <a:ahLst/>
              <a:cxnLst/>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a:srgbClr val="3D6298"/>
            </a:solidFill>
          </p:spPr>
          <p:txBody>
            <a:bodyPr/>
            <a:lstStyle/>
            <a:p>
              <a:endParaRPr lang="en-GB"/>
            </a:p>
          </p:txBody>
        </p:sp>
        <p:sp>
          <p:nvSpPr>
            <p:cNvPr id="11" name="TextBox 11"/>
            <p:cNvSpPr txBox="1"/>
            <p:nvPr/>
          </p:nvSpPr>
          <p:spPr>
            <a:xfrm>
              <a:off x="0" y="-38100"/>
              <a:ext cx="811656" cy="11808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2" name="Group 12"/>
          <p:cNvGrpSpPr/>
          <p:nvPr/>
        </p:nvGrpSpPr>
        <p:grpSpPr>
          <a:xfrm>
            <a:off x="7603122" y="4906346"/>
            <a:ext cx="3081757" cy="303677"/>
            <a:chOff x="0" y="0"/>
            <a:chExt cx="811656" cy="79981"/>
          </a:xfrm>
        </p:grpSpPr>
        <p:sp>
          <p:nvSpPr>
            <p:cNvPr id="13" name="Freeform 13"/>
            <p:cNvSpPr/>
            <p:nvPr/>
          </p:nvSpPr>
          <p:spPr>
            <a:xfrm>
              <a:off x="0" y="0"/>
              <a:ext cx="811656" cy="79981"/>
            </a:xfrm>
            <a:custGeom>
              <a:avLst/>
              <a:gdLst/>
              <a:ahLst/>
              <a:cxnLst/>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a:srgbClr val="BEC8DA"/>
            </a:solidFill>
          </p:spPr>
          <p:txBody>
            <a:bodyPr/>
            <a:lstStyle/>
            <a:p>
              <a:endParaRPr lang="en-GB"/>
            </a:p>
          </p:txBody>
        </p:sp>
        <p:sp>
          <p:nvSpPr>
            <p:cNvPr id="14" name="TextBox 14"/>
            <p:cNvSpPr txBox="1"/>
            <p:nvPr/>
          </p:nvSpPr>
          <p:spPr>
            <a:xfrm>
              <a:off x="0" y="-38100"/>
              <a:ext cx="811656" cy="11808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5" name="Group 15"/>
          <p:cNvGrpSpPr/>
          <p:nvPr/>
        </p:nvGrpSpPr>
        <p:grpSpPr>
          <a:xfrm>
            <a:off x="10684878" y="4906346"/>
            <a:ext cx="3081757" cy="303677"/>
            <a:chOff x="0" y="0"/>
            <a:chExt cx="811656" cy="79981"/>
          </a:xfrm>
        </p:grpSpPr>
        <p:sp>
          <p:nvSpPr>
            <p:cNvPr id="16" name="Freeform 16"/>
            <p:cNvSpPr/>
            <p:nvPr/>
          </p:nvSpPr>
          <p:spPr>
            <a:xfrm>
              <a:off x="0" y="0"/>
              <a:ext cx="811656" cy="79981"/>
            </a:xfrm>
            <a:custGeom>
              <a:avLst/>
              <a:gdLst/>
              <a:ahLst/>
              <a:cxnLst/>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a:srgbClr val="F68D55"/>
            </a:solidFill>
          </p:spPr>
          <p:txBody>
            <a:bodyPr/>
            <a:lstStyle/>
            <a:p>
              <a:endParaRPr lang="en-GB"/>
            </a:p>
          </p:txBody>
        </p:sp>
        <p:sp>
          <p:nvSpPr>
            <p:cNvPr id="17" name="TextBox 17"/>
            <p:cNvSpPr txBox="1"/>
            <p:nvPr/>
          </p:nvSpPr>
          <p:spPr>
            <a:xfrm>
              <a:off x="0" y="-38100"/>
              <a:ext cx="811656" cy="11808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8" name="Group 18"/>
          <p:cNvGrpSpPr/>
          <p:nvPr/>
        </p:nvGrpSpPr>
        <p:grpSpPr>
          <a:xfrm>
            <a:off x="13766635" y="4906346"/>
            <a:ext cx="3081757" cy="303677"/>
            <a:chOff x="0" y="0"/>
            <a:chExt cx="811656" cy="79981"/>
          </a:xfrm>
        </p:grpSpPr>
        <p:sp>
          <p:nvSpPr>
            <p:cNvPr id="19" name="Freeform 19"/>
            <p:cNvSpPr/>
            <p:nvPr/>
          </p:nvSpPr>
          <p:spPr>
            <a:xfrm>
              <a:off x="0" y="0"/>
              <a:ext cx="811656" cy="79981"/>
            </a:xfrm>
            <a:custGeom>
              <a:avLst/>
              <a:gdLst/>
              <a:ahLst/>
              <a:cxnLst/>
              <a:rect l="l" t="t" r="r" b="b"/>
              <a:pathLst>
                <a:path w="811656" h="79981">
                  <a:moveTo>
                    <a:pt x="39990" y="0"/>
                  </a:moveTo>
                  <a:lnTo>
                    <a:pt x="771666" y="0"/>
                  </a:lnTo>
                  <a:cubicBezTo>
                    <a:pt x="793752" y="0"/>
                    <a:pt x="811656" y="17904"/>
                    <a:pt x="811656" y="39990"/>
                  </a:cubicBezTo>
                  <a:lnTo>
                    <a:pt x="811656" y="39990"/>
                  </a:lnTo>
                  <a:cubicBezTo>
                    <a:pt x="811656" y="62076"/>
                    <a:pt x="793752" y="79981"/>
                    <a:pt x="771666" y="79981"/>
                  </a:cubicBezTo>
                  <a:lnTo>
                    <a:pt x="39990" y="79981"/>
                  </a:lnTo>
                  <a:cubicBezTo>
                    <a:pt x="17904" y="79981"/>
                    <a:pt x="0" y="62076"/>
                    <a:pt x="0" y="39990"/>
                  </a:cubicBezTo>
                  <a:lnTo>
                    <a:pt x="0" y="39990"/>
                  </a:lnTo>
                  <a:cubicBezTo>
                    <a:pt x="0" y="17904"/>
                    <a:pt x="17904" y="0"/>
                    <a:pt x="39990" y="0"/>
                  </a:cubicBezTo>
                  <a:close/>
                </a:path>
              </a:pathLst>
            </a:custGeom>
            <a:solidFill>
              <a:srgbClr val="E8DED6"/>
            </a:solidFill>
          </p:spPr>
          <p:txBody>
            <a:bodyPr/>
            <a:lstStyle/>
            <a:p>
              <a:endParaRPr lang="en-GB"/>
            </a:p>
          </p:txBody>
        </p:sp>
        <p:sp>
          <p:nvSpPr>
            <p:cNvPr id="20" name="TextBox 20"/>
            <p:cNvSpPr txBox="1"/>
            <p:nvPr/>
          </p:nvSpPr>
          <p:spPr>
            <a:xfrm>
              <a:off x="0" y="-38100"/>
              <a:ext cx="811656" cy="11808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21" name="Group 21"/>
          <p:cNvGrpSpPr/>
          <p:nvPr/>
        </p:nvGrpSpPr>
        <p:grpSpPr>
          <a:xfrm>
            <a:off x="4294925" y="4831745"/>
            <a:ext cx="452880" cy="45288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04775" cap="sq">
              <a:solidFill>
                <a:srgbClr val="122359"/>
              </a:solidFill>
              <a:prstDash val="solid"/>
              <a:miter/>
            </a:ln>
          </p:spPr>
          <p:txBody>
            <a:bodyPr/>
            <a:lstStyle/>
            <a:p>
              <a:endParaRPr lang="en-GB"/>
            </a:p>
          </p:txBody>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7376682" y="4831745"/>
            <a:ext cx="452880" cy="452880"/>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04775" cap="sq">
              <a:solidFill>
                <a:srgbClr val="3D6298"/>
              </a:solidFill>
              <a:prstDash val="solid"/>
              <a:miter/>
            </a:ln>
          </p:spPr>
          <p:txBody>
            <a:bodyPr/>
            <a:lstStyle/>
            <a:p>
              <a:endParaRPr lang="en-GB"/>
            </a:p>
          </p:txBody>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27" name="Group 27"/>
          <p:cNvGrpSpPr/>
          <p:nvPr/>
        </p:nvGrpSpPr>
        <p:grpSpPr>
          <a:xfrm>
            <a:off x="10458438" y="4831745"/>
            <a:ext cx="452880" cy="452880"/>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04775" cap="sq">
              <a:solidFill>
                <a:srgbClr val="BEC8DA"/>
              </a:solidFill>
              <a:prstDash val="solid"/>
              <a:miter/>
            </a:ln>
          </p:spPr>
          <p:txBody>
            <a:bodyPr/>
            <a:lstStyle/>
            <a:p>
              <a:endParaRPr lang="en-GB"/>
            </a:p>
          </p:txBody>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30" name="Group 30"/>
          <p:cNvGrpSpPr/>
          <p:nvPr/>
        </p:nvGrpSpPr>
        <p:grpSpPr>
          <a:xfrm>
            <a:off x="13540195" y="4831745"/>
            <a:ext cx="452880" cy="452880"/>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04775" cap="sq">
              <a:solidFill>
                <a:srgbClr val="F68D55"/>
              </a:solidFill>
              <a:prstDash val="solid"/>
              <a:miter/>
            </a:ln>
          </p:spPr>
          <p:txBody>
            <a:bodyPr/>
            <a:lstStyle/>
            <a:p>
              <a:endParaRPr lang="en-GB"/>
            </a:p>
          </p:txBody>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grpSp>
        <p:nvGrpSpPr>
          <p:cNvPr id="33" name="Group 33"/>
          <p:cNvGrpSpPr/>
          <p:nvPr/>
        </p:nvGrpSpPr>
        <p:grpSpPr>
          <a:xfrm>
            <a:off x="16395512" y="4831745"/>
            <a:ext cx="452880" cy="452880"/>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04775" cap="sq">
              <a:solidFill>
                <a:srgbClr val="E8DED6"/>
              </a:solidFill>
              <a:prstDash val="solid"/>
              <a:miter/>
            </a:ln>
          </p:spPr>
          <p:txBody>
            <a:bodyPr/>
            <a:lstStyle/>
            <a:p>
              <a:endParaRPr lang="en-GB"/>
            </a:p>
          </p:txBody>
        </p:sp>
        <p:sp>
          <p:nvSpPr>
            <p:cNvPr id="35" name="TextBox 35"/>
            <p:cNvSpPr txBox="1"/>
            <p:nvPr/>
          </p:nvSpPr>
          <p:spPr>
            <a:xfrm>
              <a:off x="76200" y="38100"/>
              <a:ext cx="660400" cy="698500"/>
            </a:xfrm>
            <a:prstGeom prst="rect">
              <a:avLst/>
            </a:prstGeom>
          </p:spPr>
          <p:txBody>
            <a:bodyPr lIns="50800" tIns="50800" rIns="50800" bIns="50800" rtlCol="0" anchor="ctr"/>
            <a:lstStyle/>
            <a:p>
              <a:pPr algn="ctr">
                <a:lnSpc>
                  <a:spcPts val="2520"/>
                </a:lnSpc>
              </a:pPr>
              <a:endParaRPr/>
            </a:p>
          </p:txBody>
        </p:sp>
      </p:grpSp>
      <p:sp>
        <p:nvSpPr>
          <p:cNvPr id="36" name="Freeform 36"/>
          <p:cNvSpPr/>
          <p:nvPr/>
        </p:nvSpPr>
        <p:spPr>
          <a:xfrm>
            <a:off x="2053092" y="2667000"/>
            <a:ext cx="1799028" cy="2020434"/>
          </a:xfrm>
          <a:custGeom>
            <a:avLst/>
            <a:gdLst/>
            <a:ahLst/>
            <a:cxnLst/>
            <a:rect l="l" t="t" r="r" b="b"/>
            <a:pathLst>
              <a:path w="1799028" h="2020434">
                <a:moveTo>
                  <a:pt x="0" y="0"/>
                </a:moveTo>
                <a:lnTo>
                  <a:pt x="1799029" y="0"/>
                </a:lnTo>
                <a:lnTo>
                  <a:pt x="1799029" y="2020434"/>
                </a:lnTo>
                <a:lnTo>
                  <a:pt x="0" y="20204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37" name="Freeform 37"/>
          <p:cNvSpPr/>
          <p:nvPr/>
        </p:nvSpPr>
        <p:spPr>
          <a:xfrm>
            <a:off x="5162729" y="2667000"/>
            <a:ext cx="1799028" cy="2020434"/>
          </a:xfrm>
          <a:custGeom>
            <a:avLst/>
            <a:gdLst/>
            <a:ahLst/>
            <a:cxnLst/>
            <a:rect l="l" t="t" r="r" b="b"/>
            <a:pathLst>
              <a:path w="1799028" h="2020434">
                <a:moveTo>
                  <a:pt x="0" y="0"/>
                </a:moveTo>
                <a:lnTo>
                  <a:pt x="1799028" y="0"/>
                </a:lnTo>
                <a:lnTo>
                  <a:pt x="1799028" y="2020434"/>
                </a:lnTo>
                <a:lnTo>
                  <a:pt x="0" y="20204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38" name="Freeform 38"/>
          <p:cNvSpPr/>
          <p:nvPr/>
        </p:nvSpPr>
        <p:spPr>
          <a:xfrm>
            <a:off x="8244486" y="2667000"/>
            <a:ext cx="1799028" cy="2020434"/>
          </a:xfrm>
          <a:custGeom>
            <a:avLst/>
            <a:gdLst/>
            <a:ahLst/>
            <a:cxnLst/>
            <a:rect l="l" t="t" r="r" b="b"/>
            <a:pathLst>
              <a:path w="1799028" h="2020434">
                <a:moveTo>
                  <a:pt x="0" y="0"/>
                </a:moveTo>
                <a:lnTo>
                  <a:pt x="1799028" y="0"/>
                </a:lnTo>
                <a:lnTo>
                  <a:pt x="1799028" y="2020434"/>
                </a:lnTo>
                <a:lnTo>
                  <a:pt x="0" y="202043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39" name="Freeform 39"/>
          <p:cNvSpPr/>
          <p:nvPr/>
        </p:nvSpPr>
        <p:spPr>
          <a:xfrm>
            <a:off x="11326243" y="2667000"/>
            <a:ext cx="1799028" cy="2020434"/>
          </a:xfrm>
          <a:custGeom>
            <a:avLst/>
            <a:gdLst/>
            <a:ahLst/>
            <a:cxnLst/>
            <a:rect l="l" t="t" r="r" b="b"/>
            <a:pathLst>
              <a:path w="1799028" h="2020434">
                <a:moveTo>
                  <a:pt x="0" y="0"/>
                </a:moveTo>
                <a:lnTo>
                  <a:pt x="1799028" y="0"/>
                </a:lnTo>
                <a:lnTo>
                  <a:pt x="1799028" y="2020434"/>
                </a:lnTo>
                <a:lnTo>
                  <a:pt x="0" y="202043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40" name="Freeform 40"/>
          <p:cNvSpPr/>
          <p:nvPr/>
        </p:nvSpPr>
        <p:spPr>
          <a:xfrm>
            <a:off x="14407999" y="2667000"/>
            <a:ext cx="1799028" cy="2020434"/>
          </a:xfrm>
          <a:custGeom>
            <a:avLst/>
            <a:gdLst/>
            <a:ahLst/>
            <a:cxnLst/>
            <a:rect l="l" t="t" r="r" b="b"/>
            <a:pathLst>
              <a:path w="1799028" h="2020434">
                <a:moveTo>
                  <a:pt x="0" y="0"/>
                </a:moveTo>
                <a:lnTo>
                  <a:pt x="1799029" y="0"/>
                </a:lnTo>
                <a:lnTo>
                  <a:pt x="1799029" y="2020434"/>
                </a:lnTo>
                <a:lnTo>
                  <a:pt x="0" y="202043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41" name="AutoShape 41"/>
          <p:cNvSpPr/>
          <p:nvPr/>
        </p:nvSpPr>
        <p:spPr>
          <a:xfrm>
            <a:off x="4521365" y="5905500"/>
            <a:ext cx="0" cy="3018643"/>
          </a:xfrm>
          <a:prstGeom prst="line">
            <a:avLst/>
          </a:prstGeom>
          <a:ln w="38100" cap="flat">
            <a:solidFill>
              <a:srgbClr val="E9ECF4"/>
            </a:solidFill>
            <a:prstDash val="solid"/>
            <a:headEnd type="none" w="sm" len="sm"/>
            <a:tailEnd type="none" w="sm" len="sm"/>
          </a:ln>
        </p:spPr>
        <p:txBody>
          <a:bodyPr/>
          <a:lstStyle/>
          <a:p>
            <a:endParaRPr lang="en-GB"/>
          </a:p>
        </p:txBody>
      </p:sp>
      <p:sp>
        <p:nvSpPr>
          <p:cNvPr id="42" name="AutoShape 42"/>
          <p:cNvSpPr/>
          <p:nvPr/>
        </p:nvSpPr>
        <p:spPr>
          <a:xfrm>
            <a:off x="7603122" y="5905500"/>
            <a:ext cx="0" cy="3018643"/>
          </a:xfrm>
          <a:prstGeom prst="line">
            <a:avLst/>
          </a:prstGeom>
          <a:ln w="38100" cap="flat">
            <a:solidFill>
              <a:srgbClr val="E9ECF4"/>
            </a:solidFill>
            <a:prstDash val="solid"/>
            <a:headEnd type="none" w="sm" len="sm"/>
            <a:tailEnd type="none" w="sm" len="sm"/>
          </a:ln>
        </p:spPr>
        <p:txBody>
          <a:bodyPr/>
          <a:lstStyle/>
          <a:p>
            <a:endParaRPr lang="en-GB"/>
          </a:p>
        </p:txBody>
      </p:sp>
      <p:sp>
        <p:nvSpPr>
          <p:cNvPr id="43" name="AutoShape 43"/>
          <p:cNvSpPr/>
          <p:nvPr/>
        </p:nvSpPr>
        <p:spPr>
          <a:xfrm>
            <a:off x="10684878" y="5905500"/>
            <a:ext cx="0" cy="3018643"/>
          </a:xfrm>
          <a:prstGeom prst="line">
            <a:avLst/>
          </a:prstGeom>
          <a:ln w="38100" cap="flat">
            <a:solidFill>
              <a:srgbClr val="E9ECF4"/>
            </a:solidFill>
            <a:prstDash val="solid"/>
            <a:headEnd type="none" w="sm" len="sm"/>
            <a:tailEnd type="none" w="sm" len="sm"/>
          </a:ln>
        </p:spPr>
        <p:txBody>
          <a:bodyPr/>
          <a:lstStyle/>
          <a:p>
            <a:endParaRPr lang="en-GB"/>
          </a:p>
        </p:txBody>
      </p:sp>
      <p:sp>
        <p:nvSpPr>
          <p:cNvPr id="44" name="AutoShape 44"/>
          <p:cNvSpPr/>
          <p:nvPr/>
        </p:nvSpPr>
        <p:spPr>
          <a:xfrm>
            <a:off x="13766635" y="5905500"/>
            <a:ext cx="0" cy="3018643"/>
          </a:xfrm>
          <a:prstGeom prst="line">
            <a:avLst/>
          </a:prstGeom>
          <a:ln w="38100" cap="flat">
            <a:solidFill>
              <a:srgbClr val="E9ECF4"/>
            </a:solidFill>
            <a:prstDash val="solid"/>
            <a:headEnd type="none" w="sm" len="sm"/>
            <a:tailEnd type="none" w="sm" len="sm"/>
          </a:ln>
        </p:spPr>
        <p:txBody>
          <a:bodyPr/>
          <a:lstStyle/>
          <a:p>
            <a:endParaRPr lang="en-GB"/>
          </a:p>
        </p:txBody>
      </p:sp>
      <p:sp>
        <p:nvSpPr>
          <p:cNvPr id="45" name="Freeform 45"/>
          <p:cNvSpPr/>
          <p:nvPr/>
        </p:nvSpPr>
        <p:spPr>
          <a:xfrm>
            <a:off x="2702131" y="3263380"/>
            <a:ext cx="556712" cy="556712"/>
          </a:xfrm>
          <a:custGeom>
            <a:avLst/>
            <a:gdLst/>
            <a:ahLst/>
            <a:cxnLst/>
            <a:rect l="l" t="t" r="r" b="b"/>
            <a:pathLst>
              <a:path w="556712" h="556712">
                <a:moveTo>
                  <a:pt x="0" y="0"/>
                </a:moveTo>
                <a:lnTo>
                  <a:pt x="556711" y="0"/>
                </a:lnTo>
                <a:lnTo>
                  <a:pt x="556711" y="556712"/>
                </a:lnTo>
                <a:lnTo>
                  <a:pt x="0" y="55671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sp>
        <p:nvSpPr>
          <p:cNvPr id="46" name="Freeform 46"/>
          <p:cNvSpPr/>
          <p:nvPr/>
        </p:nvSpPr>
        <p:spPr>
          <a:xfrm>
            <a:off x="8803697" y="3201433"/>
            <a:ext cx="680606" cy="680606"/>
          </a:xfrm>
          <a:custGeom>
            <a:avLst/>
            <a:gdLst/>
            <a:ahLst/>
            <a:cxnLst/>
            <a:rect l="l" t="t" r="r" b="b"/>
            <a:pathLst>
              <a:path w="680606" h="680606">
                <a:moveTo>
                  <a:pt x="0" y="0"/>
                </a:moveTo>
                <a:lnTo>
                  <a:pt x="680606" y="0"/>
                </a:lnTo>
                <a:lnTo>
                  <a:pt x="680606" y="680606"/>
                </a:lnTo>
                <a:lnTo>
                  <a:pt x="0" y="680606"/>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GB"/>
          </a:p>
        </p:txBody>
      </p:sp>
      <p:sp>
        <p:nvSpPr>
          <p:cNvPr id="47" name="Freeform 47"/>
          <p:cNvSpPr/>
          <p:nvPr/>
        </p:nvSpPr>
        <p:spPr>
          <a:xfrm>
            <a:off x="11906250" y="3210958"/>
            <a:ext cx="639013" cy="639013"/>
          </a:xfrm>
          <a:custGeom>
            <a:avLst/>
            <a:gdLst/>
            <a:ahLst/>
            <a:cxnLst/>
            <a:rect l="l" t="t" r="r" b="b"/>
            <a:pathLst>
              <a:path w="639013" h="639013">
                <a:moveTo>
                  <a:pt x="0" y="0"/>
                </a:moveTo>
                <a:lnTo>
                  <a:pt x="639013" y="0"/>
                </a:lnTo>
                <a:lnTo>
                  <a:pt x="639013" y="639013"/>
                </a:lnTo>
                <a:lnTo>
                  <a:pt x="0" y="63901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n-GB"/>
          </a:p>
        </p:txBody>
      </p:sp>
      <p:sp>
        <p:nvSpPr>
          <p:cNvPr id="48" name="Freeform 48"/>
          <p:cNvSpPr/>
          <p:nvPr/>
        </p:nvSpPr>
        <p:spPr>
          <a:xfrm>
            <a:off x="14974290" y="3215592"/>
            <a:ext cx="666447" cy="666447"/>
          </a:xfrm>
          <a:custGeom>
            <a:avLst/>
            <a:gdLst/>
            <a:ahLst/>
            <a:cxnLst/>
            <a:rect l="l" t="t" r="r" b="b"/>
            <a:pathLst>
              <a:path w="666447" h="666447">
                <a:moveTo>
                  <a:pt x="0" y="0"/>
                </a:moveTo>
                <a:lnTo>
                  <a:pt x="666447" y="0"/>
                </a:lnTo>
                <a:lnTo>
                  <a:pt x="666447" y="666447"/>
                </a:lnTo>
                <a:lnTo>
                  <a:pt x="0" y="666447"/>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n-GB"/>
          </a:p>
        </p:txBody>
      </p:sp>
      <p:sp>
        <p:nvSpPr>
          <p:cNvPr id="49" name="Freeform 49"/>
          <p:cNvSpPr/>
          <p:nvPr/>
        </p:nvSpPr>
        <p:spPr>
          <a:xfrm>
            <a:off x="5721940" y="3201433"/>
            <a:ext cx="680606" cy="680606"/>
          </a:xfrm>
          <a:custGeom>
            <a:avLst/>
            <a:gdLst/>
            <a:ahLst/>
            <a:cxnLst/>
            <a:rect l="l" t="t" r="r" b="b"/>
            <a:pathLst>
              <a:path w="680606" h="680606">
                <a:moveTo>
                  <a:pt x="0" y="0"/>
                </a:moveTo>
                <a:lnTo>
                  <a:pt x="680606" y="0"/>
                </a:lnTo>
                <a:lnTo>
                  <a:pt x="680606" y="680606"/>
                </a:lnTo>
                <a:lnTo>
                  <a:pt x="0" y="68060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GB"/>
          </a:p>
        </p:txBody>
      </p:sp>
      <p:sp>
        <p:nvSpPr>
          <p:cNvPr id="50" name="TextBox 50"/>
          <p:cNvSpPr txBox="1"/>
          <p:nvPr/>
        </p:nvSpPr>
        <p:spPr>
          <a:xfrm>
            <a:off x="4053312" y="981075"/>
            <a:ext cx="10181376" cy="650178"/>
          </a:xfrm>
          <a:prstGeom prst="rect">
            <a:avLst/>
          </a:prstGeom>
        </p:spPr>
        <p:txBody>
          <a:bodyPr lIns="0" tIns="0" rIns="0" bIns="0" rtlCol="0" anchor="t">
            <a:spAutoFit/>
          </a:bodyPr>
          <a:lstStyle/>
          <a:p>
            <a:pPr algn="ctr">
              <a:lnSpc>
                <a:spcPts val="5040"/>
              </a:lnSpc>
              <a:spcBef>
                <a:spcPct val="0"/>
              </a:spcBef>
            </a:pPr>
            <a:r>
              <a:rPr lang="en-US" sz="4400" b="1" dirty="0">
                <a:solidFill>
                  <a:srgbClr val="112F8D"/>
                </a:solidFill>
                <a:latin typeface="TT Fors Bold"/>
                <a:ea typeface="TT Fors Bold"/>
                <a:cs typeface="TT Fors Bold"/>
                <a:sym typeface="TT Fors Bold"/>
              </a:rPr>
              <a:t>Problem Statement</a:t>
            </a:r>
          </a:p>
        </p:txBody>
      </p:sp>
      <p:sp>
        <p:nvSpPr>
          <p:cNvPr id="51" name="TextBox 51"/>
          <p:cNvSpPr txBox="1"/>
          <p:nvPr/>
        </p:nvSpPr>
        <p:spPr>
          <a:xfrm>
            <a:off x="4053312" y="1738590"/>
            <a:ext cx="10181376" cy="386644"/>
          </a:xfrm>
          <a:prstGeom prst="rect">
            <a:avLst/>
          </a:prstGeom>
        </p:spPr>
        <p:txBody>
          <a:bodyPr lIns="0" tIns="0" rIns="0" bIns="0" rtlCol="0" anchor="t">
            <a:spAutoFit/>
          </a:bodyPr>
          <a:lstStyle/>
          <a:p>
            <a:pPr algn="ctr">
              <a:lnSpc>
                <a:spcPts val="2940"/>
              </a:lnSpc>
              <a:spcBef>
                <a:spcPct val="0"/>
              </a:spcBef>
            </a:pPr>
            <a:r>
              <a:rPr lang="en-GB" sz="2800" dirty="0">
                <a:solidFill>
                  <a:srgbClr val="000000"/>
                </a:solidFill>
                <a:latin typeface="TT Fors"/>
              </a:rPr>
              <a:t>Freelancers and clients often struggle to predict:</a:t>
            </a:r>
            <a:endParaRPr lang="en-US" sz="2800" dirty="0">
              <a:solidFill>
                <a:srgbClr val="000000"/>
              </a:solidFill>
              <a:latin typeface="TT Fors"/>
              <a:ea typeface="TT Fors"/>
              <a:cs typeface="TT Fors"/>
              <a:sym typeface="TT Fors"/>
            </a:endParaRPr>
          </a:p>
        </p:txBody>
      </p:sp>
      <p:sp>
        <p:nvSpPr>
          <p:cNvPr id="52" name="TextBox 52"/>
          <p:cNvSpPr txBox="1"/>
          <p:nvPr/>
        </p:nvSpPr>
        <p:spPr>
          <a:xfrm>
            <a:off x="1851901" y="7255510"/>
            <a:ext cx="2201410" cy="837345"/>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TT Fors"/>
                <a:ea typeface="TT Fors"/>
                <a:cs typeface="TT Fors"/>
                <a:sym typeface="TT Fors"/>
              </a:rPr>
              <a:t>Enable freelancers discover their earning powers.</a:t>
            </a:r>
          </a:p>
        </p:txBody>
      </p:sp>
      <p:sp>
        <p:nvSpPr>
          <p:cNvPr id="53" name="TextBox 53"/>
          <p:cNvSpPr txBox="1"/>
          <p:nvPr/>
        </p:nvSpPr>
        <p:spPr>
          <a:xfrm>
            <a:off x="4961538" y="7255510"/>
            <a:ext cx="2201410" cy="555217"/>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TT Fors"/>
                <a:ea typeface="TT Fors"/>
                <a:cs typeface="TT Fors"/>
                <a:sym typeface="TT Fors"/>
              </a:rPr>
              <a:t>The importance of customer satisfaction.</a:t>
            </a:r>
          </a:p>
        </p:txBody>
      </p:sp>
      <p:sp>
        <p:nvSpPr>
          <p:cNvPr id="54" name="TextBox 54"/>
          <p:cNvSpPr txBox="1"/>
          <p:nvPr/>
        </p:nvSpPr>
        <p:spPr>
          <a:xfrm>
            <a:off x="1851901" y="6815455"/>
            <a:ext cx="2201410" cy="309637"/>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Earnings potential</a:t>
            </a:r>
            <a:endParaRPr lang="en-US" sz="1799" b="1" dirty="0">
              <a:solidFill>
                <a:srgbClr val="000000"/>
              </a:solidFill>
              <a:latin typeface="TT Fors Bold"/>
              <a:sym typeface="TT Fors Bold"/>
            </a:endParaRPr>
          </a:p>
        </p:txBody>
      </p:sp>
      <p:sp>
        <p:nvSpPr>
          <p:cNvPr id="55" name="TextBox 55"/>
          <p:cNvSpPr txBox="1"/>
          <p:nvPr/>
        </p:nvSpPr>
        <p:spPr>
          <a:xfrm>
            <a:off x="4961538" y="6815455"/>
            <a:ext cx="2201410" cy="309637"/>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Job success rates</a:t>
            </a:r>
            <a:endParaRPr lang="en-US" sz="1799" b="1" dirty="0">
              <a:solidFill>
                <a:srgbClr val="000000"/>
              </a:solidFill>
              <a:latin typeface="TT Fors Bold"/>
              <a:sym typeface="TT Fors Bold"/>
            </a:endParaRPr>
          </a:p>
        </p:txBody>
      </p:sp>
      <p:sp>
        <p:nvSpPr>
          <p:cNvPr id="56" name="TextBox 56"/>
          <p:cNvSpPr txBox="1"/>
          <p:nvPr/>
        </p:nvSpPr>
        <p:spPr>
          <a:xfrm>
            <a:off x="8043295" y="7255510"/>
            <a:ext cx="2201410" cy="555217"/>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TT Fors"/>
                <a:ea typeface="TT Fors"/>
                <a:cs typeface="TT Fors"/>
                <a:sym typeface="TT Fors"/>
              </a:rPr>
              <a:t>Discovery of diverse earning power.</a:t>
            </a:r>
          </a:p>
        </p:txBody>
      </p:sp>
      <p:sp>
        <p:nvSpPr>
          <p:cNvPr id="57" name="TextBox 57"/>
          <p:cNvSpPr txBox="1"/>
          <p:nvPr/>
        </p:nvSpPr>
        <p:spPr>
          <a:xfrm>
            <a:off x="7787106" y="6815455"/>
            <a:ext cx="2781326" cy="309637"/>
          </a:xfrm>
          <a:prstGeom prst="rect">
            <a:avLst/>
          </a:prstGeom>
        </p:spPr>
        <p:txBody>
          <a:bodyPr wrap="square" lIns="0" tIns="0" rIns="0" bIns="0" rtlCol="0" anchor="t">
            <a:spAutoFit/>
          </a:bodyPr>
          <a:lstStyle/>
          <a:p>
            <a:pPr algn="ctr">
              <a:lnSpc>
                <a:spcPts val="2519"/>
              </a:lnSpc>
              <a:spcBef>
                <a:spcPct val="0"/>
              </a:spcBef>
            </a:pPr>
            <a:r>
              <a:rPr lang="en-GB" sz="1799" b="1" dirty="0">
                <a:solidFill>
                  <a:srgbClr val="000000"/>
                </a:solidFill>
                <a:latin typeface="TT Fors Bold"/>
              </a:rPr>
              <a:t>Demand for skills</a:t>
            </a:r>
            <a:endParaRPr lang="en-US" sz="1799" b="1" dirty="0">
              <a:solidFill>
                <a:srgbClr val="000000"/>
              </a:solidFill>
              <a:latin typeface="TT Fors Bold"/>
              <a:sym typeface="TT Fors Bold"/>
            </a:endParaRPr>
          </a:p>
        </p:txBody>
      </p:sp>
      <p:sp>
        <p:nvSpPr>
          <p:cNvPr id="58" name="TextBox 58"/>
          <p:cNvSpPr txBox="1"/>
          <p:nvPr/>
        </p:nvSpPr>
        <p:spPr>
          <a:xfrm>
            <a:off x="11125052" y="7255510"/>
            <a:ext cx="2201410" cy="837345"/>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TT Fors"/>
                <a:ea typeface="TT Fors"/>
                <a:cs typeface="TT Fors"/>
                <a:sym typeface="TT Fors"/>
              </a:rPr>
              <a:t>How marketing tools help to unlock more earnings.</a:t>
            </a:r>
          </a:p>
        </p:txBody>
      </p:sp>
      <p:sp>
        <p:nvSpPr>
          <p:cNvPr id="59" name="TextBox 59"/>
          <p:cNvSpPr txBox="1"/>
          <p:nvPr/>
        </p:nvSpPr>
        <p:spPr>
          <a:xfrm>
            <a:off x="11125052" y="6815455"/>
            <a:ext cx="2201410" cy="309637"/>
          </a:xfrm>
          <a:prstGeom prst="rect">
            <a:avLst/>
          </a:prstGeom>
        </p:spPr>
        <p:txBody>
          <a:bodyPr lIns="0" tIns="0" rIns="0" bIns="0" rtlCol="0" anchor="t">
            <a:spAutoFit/>
          </a:bodyPr>
          <a:lstStyle/>
          <a:p>
            <a:pPr algn="ctr">
              <a:lnSpc>
                <a:spcPts val="2519"/>
              </a:lnSpc>
              <a:spcBef>
                <a:spcPct val="0"/>
              </a:spcBef>
            </a:pPr>
            <a:r>
              <a:rPr lang="en-US" sz="1799" b="1" dirty="0">
                <a:solidFill>
                  <a:srgbClr val="000000"/>
                </a:solidFill>
                <a:latin typeface="TT Fors Bold"/>
                <a:ea typeface="TT Fors Bold"/>
                <a:cs typeface="TT Fors Bold"/>
                <a:sym typeface="TT Fors Bold"/>
              </a:rPr>
              <a:t>Marketing Tools</a:t>
            </a:r>
          </a:p>
        </p:txBody>
      </p:sp>
      <p:sp>
        <p:nvSpPr>
          <p:cNvPr id="60" name="TextBox 60"/>
          <p:cNvSpPr txBox="1"/>
          <p:nvPr/>
        </p:nvSpPr>
        <p:spPr>
          <a:xfrm>
            <a:off x="14090367" y="7255510"/>
            <a:ext cx="2434293" cy="555217"/>
          </a:xfrm>
          <a:prstGeom prst="rect">
            <a:avLst/>
          </a:prstGeom>
        </p:spPr>
        <p:txBody>
          <a:bodyPr lIns="0" tIns="0" rIns="0" bIns="0" rtlCol="0" anchor="t">
            <a:spAutoFit/>
          </a:bodyPr>
          <a:lstStyle/>
          <a:p>
            <a:pPr algn="ctr">
              <a:lnSpc>
                <a:spcPts val="2239"/>
              </a:lnSpc>
              <a:spcBef>
                <a:spcPct val="0"/>
              </a:spcBef>
            </a:pPr>
            <a:r>
              <a:rPr lang="en-US" sz="1599" dirty="0">
                <a:solidFill>
                  <a:srgbClr val="000000"/>
                </a:solidFill>
                <a:latin typeface="TT Fors"/>
                <a:ea typeface="TT Fors"/>
                <a:cs typeface="TT Fors"/>
                <a:sym typeface="TT Fors"/>
              </a:rPr>
              <a:t>Predicting the future in the freelancing space.</a:t>
            </a:r>
          </a:p>
        </p:txBody>
      </p:sp>
      <p:sp>
        <p:nvSpPr>
          <p:cNvPr id="61" name="TextBox 61"/>
          <p:cNvSpPr txBox="1"/>
          <p:nvPr/>
        </p:nvSpPr>
        <p:spPr>
          <a:xfrm>
            <a:off x="14206808" y="6815455"/>
            <a:ext cx="2201410" cy="306705"/>
          </a:xfrm>
          <a:prstGeom prst="rect">
            <a:avLst/>
          </a:prstGeom>
        </p:spPr>
        <p:txBody>
          <a:bodyPr lIns="0" tIns="0" rIns="0" bIns="0" rtlCol="0" anchor="t">
            <a:spAutoFit/>
          </a:bodyPr>
          <a:lstStyle/>
          <a:p>
            <a:pPr algn="ctr">
              <a:lnSpc>
                <a:spcPts val="2519"/>
              </a:lnSpc>
              <a:spcBef>
                <a:spcPct val="0"/>
              </a:spcBef>
            </a:pPr>
            <a:r>
              <a:rPr lang="en-US" sz="1799" b="1" dirty="0">
                <a:solidFill>
                  <a:srgbClr val="000000"/>
                </a:solidFill>
                <a:latin typeface="TT Fors Bold"/>
                <a:ea typeface="TT Fors Bold"/>
                <a:cs typeface="TT Fors Bold"/>
                <a:sym typeface="TT Fors Bold"/>
              </a:rPr>
              <a:t>Forecasting</a:t>
            </a:r>
          </a:p>
        </p:txBody>
      </p:sp>
      <p:sp>
        <p:nvSpPr>
          <p:cNvPr id="62" name="TextBox 62"/>
          <p:cNvSpPr txBox="1"/>
          <p:nvPr/>
        </p:nvSpPr>
        <p:spPr>
          <a:xfrm>
            <a:off x="2218803" y="5990282"/>
            <a:ext cx="1467607" cy="574040"/>
          </a:xfrm>
          <a:prstGeom prst="rect">
            <a:avLst/>
          </a:prstGeom>
        </p:spPr>
        <p:txBody>
          <a:bodyPr lIns="0" tIns="0" rIns="0" bIns="0" rtlCol="0" anchor="t">
            <a:spAutoFit/>
          </a:bodyPr>
          <a:lstStyle/>
          <a:p>
            <a:pPr algn="ctr">
              <a:lnSpc>
                <a:spcPts val="4479"/>
              </a:lnSpc>
            </a:pPr>
            <a:r>
              <a:rPr lang="en-US" sz="3999" b="1">
                <a:solidFill>
                  <a:srgbClr val="112F8D"/>
                </a:solidFill>
                <a:latin typeface="TT Fors Bold"/>
                <a:ea typeface="TT Fors Bold"/>
                <a:cs typeface="TT Fors Bold"/>
                <a:sym typeface="TT Fors Bold"/>
              </a:rPr>
              <a:t>01</a:t>
            </a:r>
          </a:p>
        </p:txBody>
      </p:sp>
      <p:sp>
        <p:nvSpPr>
          <p:cNvPr id="63" name="TextBox 63"/>
          <p:cNvSpPr txBox="1"/>
          <p:nvPr/>
        </p:nvSpPr>
        <p:spPr>
          <a:xfrm>
            <a:off x="5328440" y="5990282"/>
            <a:ext cx="1467607" cy="574040"/>
          </a:xfrm>
          <a:prstGeom prst="rect">
            <a:avLst/>
          </a:prstGeom>
        </p:spPr>
        <p:txBody>
          <a:bodyPr lIns="0" tIns="0" rIns="0" bIns="0" rtlCol="0" anchor="t">
            <a:spAutoFit/>
          </a:bodyPr>
          <a:lstStyle/>
          <a:p>
            <a:pPr algn="ctr">
              <a:lnSpc>
                <a:spcPts val="4479"/>
              </a:lnSpc>
            </a:pPr>
            <a:r>
              <a:rPr lang="en-US" sz="3999" b="1">
                <a:solidFill>
                  <a:srgbClr val="3E6398"/>
                </a:solidFill>
                <a:latin typeface="TT Fors Bold"/>
                <a:ea typeface="TT Fors Bold"/>
                <a:cs typeface="TT Fors Bold"/>
                <a:sym typeface="TT Fors Bold"/>
              </a:rPr>
              <a:t>02</a:t>
            </a:r>
          </a:p>
        </p:txBody>
      </p:sp>
      <p:sp>
        <p:nvSpPr>
          <p:cNvPr id="64" name="TextBox 64"/>
          <p:cNvSpPr txBox="1"/>
          <p:nvPr/>
        </p:nvSpPr>
        <p:spPr>
          <a:xfrm>
            <a:off x="8438076" y="5990282"/>
            <a:ext cx="1467607" cy="574040"/>
          </a:xfrm>
          <a:prstGeom prst="rect">
            <a:avLst/>
          </a:prstGeom>
        </p:spPr>
        <p:txBody>
          <a:bodyPr lIns="0" tIns="0" rIns="0" bIns="0" rtlCol="0" anchor="t">
            <a:spAutoFit/>
          </a:bodyPr>
          <a:lstStyle/>
          <a:p>
            <a:pPr algn="ctr">
              <a:lnSpc>
                <a:spcPts val="4479"/>
              </a:lnSpc>
            </a:pPr>
            <a:r>
              <a:rPr lang="en-US" sz="3999" b="1" dirty="0">
                <a:solidFill>
                  <a:srgbClr val="BEC8DA"/>
                </a:solidFill>
                <a:latin typeface="TT Fors Bold"/>
                <a:ea typeface="TT Fors Bold"/>
                <a:cs typeface="TT Fors Bold"/>
                <a:sym typeface="TT Fors Bold"/>
              </a:rPr>
              <a:t>03</a:t>
            </a:r>
          </a:p>
        </p:txBody>
      </p:sp>
      <p:sp>
        <p:nvSpPr>
          <p:cNvPr id="65" name="TextBox 65"/>
          <p:cNvSpPr txBox="1"/>
          <p:nvPr/>
        </p:nvSpPr>
        <p:spPr>
          <a:xfrm>
            <a:off x="11547713" y="5990282"/>
            <a:ext cx="1467607" cy="574040"/>
          </a:xfrm>
          <a:prstGeom prst="rect">
            <a:avLst/>
          </a:prstGeom>
        </p:spPr>
        <p:txBody>
          <a:bodyPr lIns="0" tIns="0" rIns="0" bIns="0" rtlCol="0" anchor="t">
            <a:spAutoFit/>
          </a:bodyPr>
          <a:lstStyle/>
          <a:p>
            <a:pPr algn="ctr">
              <a:lnSpc>
                <a:spcPts val="4479"/>
              </a:lnSpc>
            </a:pPr>
            <a:r>
              <a:rPr lang="en-US" sz="3999" b="1">
                <a:solidFill>
                  <a:srgbClr val="F68D56"/>
                </a:solidFill>
                <a:latin typeface="TT Fors Bold"/>
                <a:ea typeface="TT Fors Bold"/>
                <a:cs typeface="TT Fors Bold"/>
                <a:sym typeface="TT Fors Bold"/>
              </a:rPr>
              <a:t>04</a:t>
            </a:r>
          </a:p>
        </p:txBody>
      </p:sp>
      <p:sp>
        <p:nvSpPr>
          <p:cNvPr id="66" name="TextBox 66"/>
          <p:cNvSpPr txBox="1"/>
          <p:nvPr/>
        </p:nvSpPr>
        <p:spPr>
          <a:xfrm>
            <a:off x="14657350" y="5990282"/>
            <a:ext cx="1467607" cy="574040"/>
          </a:xfrm>
          <a:prstGeom prst="rect">
            <a:avLst/>
          </a:prstGeom>
        </p:spPr>
        <p:txBody>
          <a:bodyPr lIns="0" tIns="0" rIns="0" bIns="0" rtlCol="0" anchor="t">
            <a:spAutoFit/>
          </a:bodyPr>
          <a:lstStyle/>
          <a:p>
            <a:pPr algn="ctr">
              <a:lnSpc>
                <a:spcPts val="4479"/>
              </a:lnSpc>
            </a:pPr>
            <a:r>
              <a:rPr lang="en-US" sz="3999" b="1">
                <a:solidFill>
                  <a:srgbClr val="E7DED6"/>
                </a:solidFill>
                <a:latin typeface="TT Fors Bold"/>
                <a:ea typeface="TT Fors Bold"/>
                <a:cs typeface="TT Fors Bold"/>
                <a:sym typeface="TT Fors Bold"/>
              </a:rPr>
              <a:t>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grpSp>
        <p:nvGrpSpPr>
          <p:cNvPr id="17" name="Group 17"/>
          <p:cNvGrpSpPr/>
          <p:nvPr/>
        </p:nvGrpSpPr>
        <p:grpSpPr>
          <a:xfrm>
            <a:off x="4781450" y="7859216"/>
            <a:ext cx="157072" cy="892902"/>
            <a:chOff x="0" y="0"/>
            <a:chExt cx="41369" cy="235168"/>
          </a:xfrm>
        </p:grpSpPr>
        <p:sp>
          <p:nvSpPr>
            <p:cNvPr id="18" name="Freeform 18"/>
            <p:cNvSpPr/>
            <p:nvPr/>
          </p:nvSpPr>
          <p:spPr>
            <a:xfrm>
              <a:off x="0" y="0"/>
              <a:ext cx="41369" cy="235168"/>
            </a:xfrm>
            <a:custGeom>
              <a:avLst/>
              <a:gdLst/>
              <a:ahLst/>
              <a:cxnLst/>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a:srgbClr val="E8DED6"/>
            </a:solidFill>
            <a:ln cap="rnd">
              <a:noFill/>
              <a:prstDash val="solid"/>
              <a:round/>
            </a:ln>
          </p:spPr>
          <p:txBody>
            <a:bodyPr/>
            <a:lstStyle/>
            <a:p>
              <a:endParaRPr lang="en-GB" sz="2400"/>
            </a:p>
          </p:txBody>
        </p:sp>
        <p:sp>
          <p:nvSpPr>
            <p:cNvPr id="19" name="TextBox 19"/>
            <p:cNvSpPr txBox="1"/>
            <p:nvPr/>
          </p:nvSpPr>
          <p:spPr>
            <a:xfrm>
              <a:off x="0" y="-38100"/>
              <a:ext cx="41369" cy="273268"/>
            </a:xfrm>
            <a:prstGeom prst="rect">
              <a:avLst/>
            </a:prstGeom>
          </p:spPr>
          <p:txBody>
            <a:bodyPr lIns="50800" tIns="50800" rIns="50800" bIns="50800" rtlCol="0" anchor="ctr"/>
            <a:lstStyle/>
            <a:p>
              <a:pPr marL="0" lvl="0" indent="0" algn="ctr">
                <a:lnSpc>
                  <a:spcPts val="2520"/>
                </a:lnSpc>
                <a:spcBef>
                  <a:spcPct val="0"/>
                </a:spcBef>
              </a:pPr>
              <a:endParaRPr sz="2400"/>
            </a:p>
          </p:txBody>
        </p:sp>
      </p:grpSp>
      <p:grpSp>
        <p:nvGrpSpPr>
          <p:cNvPr id="20" name="Group 20"/>
          <p:cNvGrpSpPr/>
          <p:nvPr/>
        </p:nvGrpSpPr>
        <p:grpSpPr>
          <a:xfrm>
            <a:off x="4769543" y="6594386"/>
            <a:ext cx="157072" cy="892902"/>
            <a:chOff x="0" y="0"/>
            <a:chExt cx="41369" cy="235168"/>
          </a:xfrm>
        </p:grpSpPr>
        <p:sp>
          <p:nvSpPr>
            <p:cNvPr id="21" name="Freeform 21"/>
            <p:cNvSpPr/>
            <p:nvPr/>
          </p:nvSpPr>
          <p:spPr>
            <a:xfrm>
              <a:off x="0" y="0"/>
              <a:ext cx="41369" cy="235168"/>
            </a:xfrm>
            <a:custGeom>
              <a:avLst/>
              <a:gdLst/>
              <a:ahLst/>
              <a:cxnLst/>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a:srgbClr val="F68D55"/>
            </a:solidFill>
            <a:ln cap="rnd">
              <a:noFill/>
              <a:prstDash val="solid"/>
              <a:round/>
            </a:ln>
          </p:spPr>
          <p:txBody>
            <a:bodyPr/>
            <a:lstStyle/>
            <a:p>
              <a:endParaRPr lang="en-GB" sz="2400"/>
            </a:p>
          </p:txBody>
        </p:sp>
        <p:sp>
          <p:nvSpPr>
            <p:cNvPr id="22" name="TextBox 22"/>
            <p:cNvSpPr txBox="1"/>
            <p:nvPr/>
          </p:nvSpPr>
          <p:spPr>
            <a:xfrm>
              <a:off x="0" y="-38100"/>
              <a:ext cx="41369" cy="273268"/>
            </a:xfrm>
            <a:prstGeom prst="rect">
              <a:avLst/>
            </a:prstGeom>
          </p:spPr>
          <p:txBody>
            <a:bodyPr lIns="50800" tIns="50800" rIns="50800" bIns="50800" rtlCol="0" anchor="ctr"/>
            <a:lstStyle/>
            <a:p>
              <a:pPr marL="0" lvl="0" indent="0" algn="ctr">
                <a:lnSpc>
                  <a:spcPts val="2520"/>
                </a:lnSpc>
                <a:spcBef>
                  <a:spcPct val="0"/>
                </a:spcBef>
              </a:pPr>
              <a:endParaRPr sz="2400"/>
            </a:p>
          </p:txBody>
        </p:sp>
      </p:grpSp>
      <p:grpSp>
        <p:nvGrpSpPr>
          <p:cNvPr id="23" name="Group 23"/>
          <p:cNvGrpSpPr/>
          <p:nvPr/>
        </p:nvGrpSpPr>
        <p:grpSpPr>
          <a:xfrm>
            <a:off x="4756869" y="5318822"/>
            <a:ext cx="157072" cy="892902"/>
            <a:chOff x="0" y="0"/>
            <a:chExt cx="41369" cy="235168"/>
          </a:xfrm>
        </p:grpSpPr>
        <p:sp>
          <p:nvSpPr>
            <p:cNvPr id="24" name="Freeform 24"/>
            <p:cNvSpPr/>
            <p:nvPr/>
          </p:nvSpPr>
          <p:spPr>
            <a:xfrm>
              <a:off x="0" y="0"/>
              <a:ext cx="41369" cy="235168"/>
            </a:xfrm>
            <a:custGeom>
              <a:avLst/>
              <a:gdLst/>
              <a:ahLst/>
              <a:cxnLst/>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a:srgbClr val="BEC8DA"/>
            </a:solidFill>
          </p:spPr>
          <p:txBody>
            <a:bodyPr/>
            <a:lstStyle/>
            <a:p>
              <a:endParaRPr lang="en-GB" sz="2400"/>
            </a:p>
          </p:txBody>
        </p:sp>
        <p:sp>
          <p:nvSpPr>
            <p:cNvPr id="25" name="TextBox 25"/>
            <p:cNvSpPr txBox="1"/>
            <p:nvPr/>
          </p:nvSpPr>
          <p:spPr>
            <a:xfrm>
              <a:off x="0" y="-38100"/>
              <a:ext cx="41369" cy="273268"/>
            </a:xfrm>
            <a:prstGeom prst="rect">
              <a:avLst/>
            </a:prstGeom>
          </p:spPr>
          <p:txBody>
            <a:bodyPr lIns="50800" tIns="50800" rIns="50800" bIns="50800" rtlCol="0" anchor="ctr"/>
            <a:lstStyle/>
            <a:p>
              <a:pPr marL="0" lvl="0" indent="0" algn="ctr">
                <a:lnSpc>
                  <a:spcPts val="2520"/>
                </a:lnSpc>
                <a:spcBef>
                  <a:spcPct val="0"/>
                </a:spcBef>
              </a:pPr>
              <a:endParaRPr sz="2400"/>
            </a:p>
          </p:txBody>
        </p:sp>
      </p:grpSp>
      <p:grpSp>
        <p:nvGrpSpPr>
          <p:cNvPr id="26" name="Group 26"/>
          <p:cNvGrpSpPr/>
          <p:nvPr/>
        </p:nvGrpSpPr>
        <p:grpSpPr>
          <a:xfrm>
            <a:off x="4759327" y="4094662"/>
            <a:ext cx="157072" cy="892902"/>
            <a:chOff x="0" y="0"/>
            <a:chExt cx="41369" cy="235168"/>
          </a:xfrm>
        </p:grpSpPr>
        <p:sp>
          <p:nvSpPr>
            <p:cNvPr id="27" name="Freeform 27"/>
            <p:cNvSpPr/>
            <p:nvPr/>
          </p:nvSpPr>
          <p:spPr>
            <a:xfrm>
              <a:off x="0" y="0"/>
              <a:ext cx="41369" cy="235168"/>
            </a:xfrm>
            <a:custGeom>
              <a:avLst/>
              <a:gdLst/>
              <a:ahLst/>
              <a:cxnLst/>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a:srgbClr val="3C6198"/>
            </a:solidFill>
            <a:ln cap="rnd">
              <a:noFill/>
              <a:prstDash val="solid"/>
              <a:round/>
            </a:ln>
          </p:spPr>
          <p:txBody>
            <a:bodyPr/>
            <a:lstStyle/>
            <a:p>
              <a:endParaRPr lang="en-GB" sz="2400"/>
            </a:p>
          </p:txBody>
        </p:sp>
        <p:sp>
          <p:nvSpPr>
            <p:cNvPr id="28" name="TextBox 28"/>
            <p:cNvSpPr txBox="1"/>
            <p:nvPr/>
          </p:nvSpPr>
          <p:spPr>
            <a:xfrm>
              <a:off x="0" y="-38100"/>
              <a:ext cx="41369" cy="273268"/>
            </a:xfrm>
            <a:prstGeom prst="rect">
              <a:avLst/>
            </a:prstGeom>
          </p:spPr>
          <p:txBody>
            <a:bodyPr lIns="50800" tIns="50800" rIns="50800" bIns="50800" rtlCol="0" anchor="ctr"/>
            <a:lstStyle/>
            <a:p>
              <a:pPr marL="0" lvl="0" indent="0" algn="ctr">
                <a:lnSpc>
                  <a:spcPts val="2520"/>
                </a:lnSpc>
                <a:spcBef>
                  <a:spcPct val="0"/>
                </a:spcBef>
              </a:pPr>
              <a:endParaRPr sz="2400"/>
            </a:p>
          </p:txBody>
        </p:sp>
      </p:grpSp>
      <p:grpSp>
        <p:nvGrpSpPr>
          <p:cNvPr id="29" name="Group 29"/>
          <p:cNvGrpSpPr/>
          <p:nvPr/>
        </p:nvGrpSpPr>
        <p:grpSpPr>
          <a:xfrm>
            <a:off x="4780995" y="2781961"/>
            <a:ext cx="157072" cy="892902"/>
            <a:chOff x="0" y="0"/>
            <a:chExt cx="41369" cy="235168"/>
          </a:xfrm>
        </p:grpSpPr>
        <p:sp>
          <p:nvSpPr>
            <p:cNvPr id="30" name="Freeform 30"/>
            <p:cNvSpPr/>
            <p:nvPr/>
          </p:nvSpPr>
          <p:spPr>
            <a:xfrm>
              <a:off x="0" y="0"/>
              <a:ext cx="41369" cy="235168"/>
            </a:xfrm>
            <a:custGeom>
              <a:avLst/>
              <a:gdLst/>
              <a:ahLst/>
              <a:cxnLst/>
              <a:rect l="l" t="t" r="r" b="b"/>
              <a:pathLst>
                <a:path w="41369" h="235168">
                  <a:moveTo>
                    <a:pt x="20684" y="0"/>
                  </a:moveTo>
                  <a:lnTo>
                    <a:pt x="20684" y="0"/>
                  </a:lnTo>
                  <a:cubicBezTo>
                    <a:pt x="26170" y="0"/>
                    <a:pt x="31431" y="2179"/>
                    <a:pt x="35310" y="6058"/>
                  </a:cubicBezTo>
                  <a:cubicBezTo>
                    <a:pt x="39189" y="9937"/>
                    <a:pt x="41369" y="15199"/>
                    <a:pt x="41369" y="20684"/>
                  </a:cubicBezTo>
                  <a:lnTo>
                    <a:pt x="41369" y="214483"/>
                  </a:lnTo>
                  <a:cubicBezTo>
                    <a:pt x="41369" y="225907"/>
                    <a:pt x="32108" y="235168"/>
                    <a:pt x="20684" y="235168"/>
                  </a:cubicBezTo>
                  <a:lnTo>
                    <a:pt x="20684" y="235168"/>
                  </a:lnTo>
                  <a:cubicBezTo>
                    <a:pt x="9261" y="235168"/>
                    <a:pt x="0" y="225907"/>
                    <a:pt x="0" y="214483"/>
                  </a:cubicBezTo>
                  <a:lnTo>
                    <a:pt x="0" y="20684"/>
                  </a:lnTo>
                  <a:cubicBezTo>
                    <a:pt x="0" y="9261"/>
                    <a:pt x="9261" y="0"/>
                    <a:pt x="20684" y="0"/>
                  </a:cubicBezTo>
                  <a:close/>
                </a:path>
              </a:pathLst>
            </a:custGeom>
            <a:solidFill>
              <a:srgbClr val="122359"/>
            </a:solidFill>
            <a:ln cap="rnd">
              <a:noFill/>
              <a:prstDash val="solid"/>
              <a:round/>
            </a:ln>
          </p:spPr>
          <p:txBody>
            <a:bodyPr/>
            <a:lstStyle/>
            <a:p>
              <a:endParaRPr lang="en-GB" sz="2400"/>
            </a:p>
          </p:txBody>
        </p:sp>
        <p:sp>
          <p:nvSpPr>
            <p:cNvPr id="31" name="TextBox 31"/>
            <p:cNvSpPr txBox="1"/>
            <p:nvPr/>
          </p:nvSpPr>
          <p:spPr>
            <a:xfrm>
              <a:off x="0" y="-38100"/>
              <a:ext cx="41369" cy="273268"/>
            </a:xfrm>
            <a:prstGeom prst="rect">
              <a:avLst/>
            </a:prstGeom>
          </p:spPr>
          <p:txBody>
            <a:bodyPr lIns="50800" tIns="50800" rIns="50800" bIns="50800" rtlCol="0" anchor="ctr"/>
            <a:lstStyle/>
            <a:p>
              <a:pPr marL="0" lvl="0" indent="0" algn="ctr">
                <a:lnSpc>
                  <a:spcPts val="2520"/>
                </a:lnSpc>
                <a:spcBef>
                  <a:spcPct val="0"/>
                </a:spcBef>
              </a:pPr>
              <a:endParaRPr sz="2400"/>
            </a:p>
          </p:txBody>
        </p:sp>
      </p:grpSp>
      <p:sp>
        <p:nvSpPr>
          <p:cNvPr id="32" name="TextBox 32"/>
          <p:cNvSpPr txBox="1"/>
          <p:nvPr/>
        </p:nvSpPr>
        <p:spPr>
          <a:xfrm>
            <a:off x="7134326" y="1151984"/>
            <a:ext cx="6414747" cy="650178"/>
          </a:xfrm>
          <a:prstGeom prst="rect">
            <a:avLst/>
          </a:prstGeom>
        </p:spPr>
        <p:txBody>
          <a:bodyPr lIns="0" tIns="0" rIns="0" bIns="0" rtlCol="0" anchor="t">
            <a:spAutoFit/>
          </a:bodyPr>
          <a:lstStyle/>
          <a:p>
            <a:pPr algn="ctr">
              <a:lnSpc>
                <a:spcPts val="5040"/>
              </a:lnSpc>
              <a:spcBef>
                <a:spcPct val="0"/>
              </a:spcBef>
            </a:pPr>
            <a:r>
              <a:rPr lang="en-US" sz="4400" b="1" dirty="0">
                <a:solidFill>
                  <a:srgbClr val="112F8D"/>
                </a:solidFill>
                <a:latin typeface="TT Fors Bold"/>
                <a:ea typeface="TT Fors Bold"/>
                <a:cs typeface="TT Fors Bold"/>
                <a:sym typeface="TT Fors Bold"/>
              </a:rPr>
              <a:t>Project Objectives</a:t>
            </a:r>
          </a:p>
        </p:txBody>
      </p:sp>
      <p:sp>
        <p:nvSpPr>
          <p:cNvPr id="35" name="TextBox 35"/>
          <p:cNvSpPr txBox="1"/>
          <p:nvPr/>
        </p:nvSpPr>
        <p:spPr>
          <a:xfrm>
            <a:off x="5161979" y="7886700"/>
            <a:ext cx="8706421" cy="668773"/>
          </a:xfrm>
          <a:prstGeom prst="rect">
            <a:avLst/>
          </a:prstGeom>
        </p:spPr>
        <p:txBody>
          <a:bodyPr wrap="square" lIns="0" tIns="0" rIns="0" bIns="0" rtlCol="0" anchor="t">
            <a:spAutoFit/>
          </a:bodyPr>
          <a:lstStyle/>
          <a:p>
            <a:pPr algn="l">
              <a:lnSpc>
                <a:spcPts val="2519"/>
              </a:lnSpc>
              <a:spcBef>
                <a:spcPct val="0"/>
              </a:spcBef>
            </a:pPr>
            <a:r>
              <a:rPr lang="en-US" sz="2800" b="1" dirty="0">
                <a:solidFill>
                  <a:srgbClr val="000000"/>
                </a:solidFill>
                <a:latin typeface="TT Fors Bold"/>
                <a:ea typeface="TT Fors Bold"/>
                <a:cs typeface="TT Fors Bold"/>
                <a:sym typeface="TT Fors Bold"/>
              </a:rPr>
              <a:t> </a:t>
            </a:r>
          </a:p>
          <a:p>
            <a:pPr>
              <a:lnSpc>
                <a:spcPts val="2519"/>
              </a:lnSpc>
              <a:spcBef>
                <a:spcPct val="0"/>
              </a:spcBef>
            </a:pPr>
            <a:r>
              <a:rPr lang="en-GB" sz="2800" b="1" dirty="0">
                <a:solidFill>
                  <a:srgbClr val="000000"/>
                </a:solidFill>
                <a:latin typeface="TT Fors Bold"/>
              </a:rPr>
              <a:t>Develop an interactive Tableau dashboard</a:t>
            </a:r>
            <a:endParaRPr lang="en-US" sz="2800" b="1" dirty="0">
              <a:solidFill>
                <a:srgbClr val="000000"/>
              </a:solidFill>
              <a:latin typeface="TT Fors Bold"/>
              <a:ea typeface="TT Fors Bold"/>
              <a:cs typeface="TT Fors Bold"/>
              <a:sym typeface="TT Fors Bold"/>
            </a:endParaRPr>
          </a:p>
        </p:txBody>
      </p:sp>
      <p:sp>
        <p:nvSpPr>
          <p:cNvPr id="37" name="TextBox 37"/>
          <p:cNvSpPr txBox="1"/>
          <p:nvPr/>
        </p:nvSpPr>
        <p:spPr>
          <a:xfrm>
            <a:off x="5084205" y="6948709"/>
            <a:ext cx="6650595" cy="668773"/>
          </a:xfrm>
          <a:prstGeom prst="rect">
            <a:avLst/>
          </a:prstGeom>
        </p:spPr>
        <p:txBody>
          <a:bodyPr wrap="square" lIns="0" tIns="0" rIns="0" bIns="0" rtlCol="0" anchor="t">
            <a:spAutoFit/>
          </a:bodyPr>
          <a:lstStyle/>
          <a:p>
            <a:pPr>
              <a:lnSpc>
                <a:spcPts val="2519"/>
              </a:lnSpc>
              <a:spcBef>
                <a:spcPct val="0"/>
              </a:spcBef>
            </a:pPr>
            <a:r>
              <a:rPr lang="en-GB" sz="2800" b="1" dirty="0">
                <a:solidFill>
                  <a:srgbClr val="000000"/>
                </a:solidFill>
                <a:latin typeface="TT Fors Bold"/>
              </a:rPr>
              <a:t>Forecast freelancer earnings</a:t>
            </a:r>
            <a:endParaRPr lang="en-US" sz="2800" b="1" dirty="0">
              <a:solidFill>
                <a:srgbClr val="000000"/>
              </a:solidFill>
              <a:latin typeface="TT Fors Bold"/>
              <a:sym typeface="TT Fors Bold"/>
            </a:endParaRPr>
          </a:p>
          <a:p>
            <a:pPr algn="l">
              <a:lnSpc>
                <a:spcPts val="2519"/>
              </a:lnSpc>
              <a:spcBef>
                <a:spcPct val="0"/>
              </a:spcBef>
            </a:pPr>
            <a:endParaRPr lang="en-US" sz="2800" b="1" dirty="0">
              <a:solidFill>
                <a:srgbClr val="000000"/>
              </a:solidFill>
              <a:latin typeface="TT Fors Bold"/>
              <a:ea typeface="TT Fors Bold"/>
              <a:cs typeface="TT Fors Bold"/>
              <a:sym typeface="TT Fors Bold"/>
            </a:endParaRPr>
          </a:p>
        </p:txBody>
      </p:sp>
      <p:sp>
        <p:nvSpPr>
          <p:cNvPr id="39" name="TextBox 39"/>
          <p:cNvSpPr txBox="1"/>
          <p:nvPr/>
        </p:nvSpPr>
        <p:spPr>
          <a:xfrm>
            <a:off x="5052250" y="5633528"/>
            <a:ext cx="5295749" cy="348172"/>
          </a:xfrm>
          <a:prstGeom prst="rect">
            <a:avLst/>
          </a:prstGeom>
        </p:spPr>
        <p:txBody>
          <a:bodyPr lIns="0" tIns="0" rIns="0" bIns="0" rtlCol="0" anchor="t">
            <a:spAutoFit/>
          </a:bodyPr>
          <a:lstStyle/>
          <a:p>
            <a:pPr>
              <a:lnSpc>
                <a:spcPts val="2519"/>
              </a:lnSpc>
              <a:spcBef>
                <a:spcPct val="0"/>
              </a:spcBef>
            </a:pPr>
            <a:r>
              <a:rPr lang="en-GB" sz="2800" b="1" dirty="0">
                <a:solidFill>
                  <a:srgbClr val="000000"/>
                </a:solidFill>
                <a:latin typeface="TT Fors Bold"/>
              </a:rPr>
              <a:t>Identify key success factors</a:t>
            </a:r>
            <a:endParaRPr lang="en-US" sz="2800" b="1" dirty="0">
              <a:solidFill>
                <a:srgbClr val="000000"/>
              </a:solidFill>
              <a:latin typeface="TT Fors Bold"/>
              <a:sym typeface="TT Fors Bold"/>
            </a:endParaRPr>
          </a:p>
        </p:txBody>
      </p:sp>
      <p:sp>
        <p:nvSpPr>
          <p:cNvPr id="41" name="TextBox 41"/>
          <p:cNvSpPr txBox="1"/>
          <p:nvPr/>
        </p:nvSpPr>
        <p:spPr>
          <a:xfrm>
            <a:off x="5105400" y="4398527"/>
            <a:ext cx="5295749" cy="668773"/>
          </a:xfrm>
          <a:prstGeom prst="rect">
            <a:avLst/>
          </a:prstGeom>
        </p:spPr>
        <p:txBody>
          <a:bodyPr lIns="0" tIns="0" rIns="0" bIns="0" rtlCol="0" anchor="t">
            <a:spAutoFit/>
          </a:bodyPr>
          <a:lstStyle/>
          <a:p>
            <a:pPr>
              <a:lnSpc>
                <a:spcPts val="2519"/>
              </a:lnSpc>
              <a:spcBef>
                <a:spcPct val="0"/>
              </a:spcBef>
            </a:pPr>
            <a:r>
              <a:rPr lang="en-GB" sz="2800" b="1" dirty="0">
                <a:solidFill>
                  <a:srgbClr val="000000"/>
                </a:solidFill>
                <a:latin typeface="TT Fors Bold"/>
              </a:rPr>
              <a:t>Assess freelancer earnings</a:t>
            </a:r>
          </a:p>
          <a:p>
            <a:pPr algn="l">
              <a:lnSpc>
                <a:spcPts val="2519"/>
              </a:lnSpc>
              <a:spcBef>
                <a:spcPct val="0"/>
              </a:spcBef>
            </a:pPr>
            <a:endParaRPr lang="en-US" sz="2800" b="1" dirty="0">
              <a:solidFill>
                <a:srgbClr val="000000"/>
              </a:solidFill>
              <a:latin typeface="TT Fors Bold"/>
              <a:ea typeface="TT Fors Bold"/>
              <a:cs typeface="TT Fors Bold"/>
              <a:sym typeface="TT Fors Bold"/>
            </a:endParaRPr>
          </a:p>
        </p:txBody>
      </p:sp>
      <p:sp>
        <p:nvSpPr>
          <p:cNvPr id="43" name="TextBox 43"/>
          <p:cNvSpPr txBox="1"/>
          <p:nvPr/>
        </p:nvSpPr>
        <p:spPr>
          <a:xfrm>
            <a:off x="5105400" y="2722127"/>
            <a:ext cx="6414747" cy="668773"/>
          </a:xfrm>
          <a:prstGeom prst="rect">
            <a:avLst/>
          </a:prstGeom>
        </p:spPr>
        <p:txBody>
          <a:bodyPr wrap="square" lIns="0" tIns="0" rIns="0" bIns="0" rtlCol="0" anchor="t">
            <a:spAutoFit/>
          </a:bodyPr>
          <a:lstStyle>
            <a:defPPr>
              <a:defRPr lang="en-US"/>
            </a:defPPr>
            <a:lvl1pPr>
              <a:lnSpc>
                <a:spcPts val="2519"/>
              </a:lnSpc>
              <a:spcBef>
                <a:spcPct val="0"/>
              </a:spcBef>
              <a:defRPr sz="1799" b="1">
                <a:solidFill>
                  <a:srgbClr val="000000"/>
                </a:solidFill>
                <a:latin typeface="TT Fors Bold"/>
                <a:ea typeface="TT Fors Bold"/>
                <a:cs typeface="TT Fors Bold"/>
              </a:defRPr>
            </a:lvl1pPr>
          </a:lstStyle>
          <a:p>
            <a:endParaRPr lang="en-US" sz="2800" dirty="0">
              <a:sym typeface="TT Fors Bold"/>
            </a:endParaRPr>
          </a:p>
          <a:p>
            <a:r>
              <a:rPr lang="en-GB" sz="2800" dirty="0"/>
              <a:t>Analyse freelancer job trends</a:t>
            </a:r>
            <a:endParaRPr lang="en-US" sz="2800" dirty="0">
              <a:sym typeface="TT Fors Bold"/>
            </a:endParaRPr>
          </a:p>
        </p:txBody>
      </p:sp>
      <p:sp>
        <p:nvSpPr>
          <p:cNvPr id="44" name="TextBox 44"/>
          <p:cNvSpPr txBox="1"/>
          <p:nvPr/>
        </p:nvSpPr>
        <p:spPr>
          <a:xfrm>
            <a:off x="3624172" y="8122377"/>
            <a:ext cx="938785" cy="450123"/>
          </a:xfrm>
          <a:prstGeom prst="rect">
            <a:avLst/>
          </a:prstGeom>
        </p:spPr>
        <p:txBody>
          <a:bodyPr lIns="0" tIns="0" rIns="0" bIns="0" rtlCol="0" anchor="t">
            <a:spAutoFit/>
          </a:bodyPr>
          <a:lstStyle/>
          <a:p>
            <a:pPr algn="ctr">
              <a:lnSpc>
                <a:spcPts val="3359"/>
              </a:lnSpc>
              <a:spcBef>
                <a:spcPct val="0"/>
              </a:spcBef>
            </a:pPr>
            <a:r>
              <a:rPr lang="en-US" sz="2800" b="1" dirty="0">
                <a:solidFill>
                  <a:schemeClr val="accent6">
                    <a:lumMod val="40000"/>
                    <a:lumOff val="60000"/>
                  </a:schemeClr>
                </a:solidFill>
                <a:latin typeface="TT Fors Bold"/>
                <a:ea typeface="TT Fors Bold"/>
                <a:cs typeface="TT Fors Bold"/>
                <a:sym typeface="TT Fors Bold"/>
              </a:rPr>
              <a:t>05</a:t>
            </a:r>
          </a:p>
        </p:txBody>
      </p:sp>
      <p:sp>
        <p:nvSpPr>
          <p:cNvPr id="45" name="TextBox 45"/>
          <p:cNvSpPr txBox="1"/>
          <p:nvPr/>
        </p:nvSpPr>
        <p:spPr>
          <a:xfrm>
            <a:off x="3666717" y="6819900"/>
            <a:ext cx="938785" cy="450123"/>
          </a:xfrm>
          <a:prstGeom prst="rect">
            <a:avLst/>
          </a:prstGeom>
        </p:spPr>
        <p:txBody>
          <a:bodyPr lIns="0" tIns="0" rIns="0" bIns="0" rtlCol="0" anchor="t">
            <a:spAutoFit/>
          </a:bodyPr>
          <a:lstStyle/>
          <a:p>
            <a:pPr algn="ctr">
              <a:lnSpc>
                <a:spcPts val="3359"/>
              </a:lnSpc>
              <a:spcBef>
                <a:spcPct val="0"/>
              </a:spcBef>
            </a:pPr>
            <a:r>
              <a:rPr lang="en-US" sz="2800" b="1" dirty="0">
                <a:solidFill>
                  <a:schemeClr val="accent6">
                    <a:lumMod val="75000"/>
                  </a:schemeClr>
                </a:solidFill>
                <a:latin typeface="TT Fors Bold"/>
                <a:ea typeface="TT Fors Bold"/>
                <a:cs typeface="TT Fors Bold"/>
                <a:sym typeface="TT Fors Bold"/>
              </a:rPr>
              <a:t>04</a:t>
            </a:r>
          </a:p>
        </p:txBody>
      </p:sp>
      <p:sp>
        <p:nvSpPr>
          <p:cNvPr id="46" name="TextBox 46"/>
          <p:cNvSpPr txBox="1"/>
          <p:nvPr/>
        </p:nvSpPr>
        <p:spPr>
          <a:xfrm>
            <a:off x="3660675" y="5504953"/>
            <a:ext cx="938785" cy="450123"/>
          </a:xfrm>
          <a:prstGeom prst="rect">
            <a:avLst/>
          </a:prstGeom>
        </p:spPr>
        <p:txBody>
          <a:bodyPr lIns="0" tIns="0" rIns="0" bIns="0" rtlCol="0" anchor="t">
            <a:spAutoFit/>
          </a:bodyPr>
          <a:lstStyle/>
          <a:p>
            <a:pPr algn="ctr">
              <a:lnSpc>
                <a:spcPts val="3359"/>
              </a:lnSpc>
              <a:spcBef>
                <a:spcPct val="0"/>
              </a:spcBef>
            </a:pPr>
            <a:r>
              <a:rPr lang="en-US" sz="2800" b="1" dirty="0">
                <a:solidFill>
                  <a:schemeClr val="bg1">
                    <a:lumMod val="65000"/>
                  </a:schemeClr>
                </a:solidFill>
                <a:latin typeface="TT Fors Bold"/>
                <a:ea typeface="TT Fors Bold"/>
                <a:cs typeface="TT Fors Bold"/>
                <a:sym typeface="TT Fors Bold"/>
              </a:rPr>
              <a:t>03</a:t>
            </a:r>
          </a:p>
        </p:txBody>
      </p:sp>
      <p:sp>
        <p:nvSpPr>
          <p:cNvPr id="47" name="TextBox 47"/>
          <p:cNvSpPr txBox="1"/>
          <p:nvPr/>
        </p:nvSpPr>
        <p:spPr>
          <a:xfrm>
            <a:off x="3660675" y="4382475"/>
            <a:ext cx="938785" cy="450123"/>
          </a:xfrm>
          <a:prstGeom prst="rect">
            <a:avLst/>
          </a:prstGeom>
        </p:spPr>
        <p:txBody>
          <a:bodyPr lIns="0" tIns="0" rIns="0" bIns="0" rtlCol="0" anchor="t">
            <a:spAutoFit/>
          </a:bodyPr>
          <a:lstStyle/>
          <a:p>
            <a:pPr algn="ctr">
              <a:lnSpc>
                <a:spcPts val="3359"/>
              </a:lnSpc>
              <a:spcBef>
                <a:spcPct val="0"/>
              </a:spcBef>
            </a:pPr>
            <a:r>
              <a:rPr lang="en-US" sz="2800" b="1" dirty="0">
                <a:solidFill>
                  <a:schemeClr val="accent1">
                    <a:lumMod val="50000"/>
                  </a:schemeClr>
                </a:solidFill>
                <a:latin typeface="TT Fors Bold"/>
                <a:ea typeface="TT Fors Bold"/>
                <a:cs typeface="TT Fors Bold"/>
                <a:sym typeface="TT Fors Bold"/>
              </a:rPr>
              <a:t>02</a:t>
            </a:r>
          </a:p>
        </p:txBody>
      </p:sp>
      <p:sp>
        <p:nvSpPr>
          <p:cNvPr id="48" name="TextBox 48"/>
          <p:cNvSpPr txBox="1"/>
          <p:nvPr/>
        </p:nvSpPr>
        <p:spPr>
          <a:xfrm>
            <a:off x="3660675" y="3009900"/>
            <a:ext cx="938785" cy="450123"/>
          </a:xfrm>
          <a:prstGeom prst="rect">
            <a:avLst/>
          </a:prstGeom>
        </p:spPr>
        <p:txBody>
          <a:bodyPr lIns="0" tIns="0" rIns="0" bIns="0" rtlCol="0" anchor="t">
            <a:spAutoFit/>
          </a:bodyPr>
          <a:lstStyle/>
          <a:p>
            <a:pPr algn="ctr">
              <a:lnSpc>
                <a:spcPts val="3359"/>
              </a:lnSpc>
              <a:spcBef>
                <a:spcPct val="0"/>
              </a:spcBef>
            </a:pPr>
            <a:r>
              <a:rPr lang="en-US" sz="2800" b="1" dirty="0">
                <a:solidFill>
                  <a:srgbClr val="002060"/>
                </a:solidFill>
                <a:latin typeface="TT Fors Bold"/>
                <a:ea typeface="TT Fors Bold"/>
                <a:cs typeface="TT Fors Bold"/>
                <a:sym typeface="TT Fors Bold"/>
              </a:rPr>
              <a:t>01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grpSp>
        <p:nvGrpSpPr>
          <p:cNvPr id="2" name="Group 2"/>
          <p:cNvGrpSpPr/>
          <p:nvPr/>
        </p:nvGrpSpPr>
        <p:grpSpPr>
          <a:xfrm>
            <a:off x="2195338" y="3565233"/>
            <a:ext cx="875980" cy="85795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359"/>
            </a:solidFill>
          </p:spPr>
          <p:txBody>
            <a:bodyPr/>
            <a:lstStyle/>
            <a:p>
              <a:endParaRPr lang="en-GB"/>
            </a:p>
          </p:txBody>
        </p:sp>
        <p:sp>
          <p:nvSpPr>
            <p:cNvPr id="4" name="TextBox 4"/>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a:solidFill>
                    <a:srgbClr val="FFFFFF"/>
                  </a:solidFill>
                  <a:latin typeface="TT Fors Bold"/>
                  <a:ea typeface="TT Fors Bold"/>
                  <a:cs typeface="TT Fors Bold"/>
                  <a:sym typeface="TT Fors Bold"/>
                </a:rPr>
                <a:t>01</a:t>
              </a:r>
            </a:p>
          </p:txBody>
        </p:sp>
      </p:grpSp>
      <p:grpSp>
        <p:nvGrpSpPr>
          <p:cNvPr id="5" name="Group 5"/>
          <p:cNvGrpSpPr/>
          <p:nvPr/>
        </p:nvGrpSpPr>
        <p:grpSpPr>
          <a:xfrm>
            <a:off x="5754271" y="3403350"/>
            <a:ext cx="897860" cy="89379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D54"/>
            </a:solidFill>
          </p:spPr>
          <p:txBody>
            <a:bodyPr/>
            <a:lstStyle/>
            <a:p>
              <a:endParaRPr lang="en-GB"/>
            </a:p>
          </p:txBody>
        </p:sp>
        <p:sp>
          <p:nvSpPr>
            <p:cNvPr id="7" name="TextBox 7"/>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u="none" strike="noStrike">
                  <a:solidFill>
                    <a:srgbClr val="122359"/>
                  </a:solidFill>
                  <a:latin typeface="TT Fors Bold"/>
                  <a:ea typeface="TT Fors Bold"/>
                  <a:cs typeface="TT Fors Bold"/>
                  <a:sym typeface="TT Fors Bold"/>
                </a:rPr>
                <a:t>04</a:t>
              </a:r>
            </a:p>
          </p:txBody>
        </p:sp>
      </p:grpSp>
      <p:grpSp>
        <p:nvGrpSpPr>
          <p:cNvPr id="8" name="Group 8"/>
          <p:cNvGrpSpPr/>
          <p:nvPr/>
        </p:nvGrpSpPr>
        <p:grpSpPr>
          <a:xfrm>
            <a:off x="2195337" y="5649894"/>
            <a:ext cx="888813" cy="86036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6198"/>
            </a:solidFill>
          </p:spPr>
          <p:txBody>
            <a:bodyPr/>
            <a:lstStyle/>
            <a:p>
              <a:endParaRPr lang="en-GB"/>
            </a:p>
          </p:txBody>
        </p:sp>
        <p:sp>
          <p:nvSpPr>
            <p:cNvPr id="10" name="TextBox 10"/>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a:solidFill>
                    <a:srgbClr val="FFFFFF"/>
                  </a:solidFill>
                  <a:latin typeface="TT Fors Bold"/>
                  <a:ea typeface="TT Fors Bold"/>
                  <a:cs typeface="TT Fors Bold"/>
                  <a:sym typeface="TT Fors Bold"/>
                </a:rPr>
                <a:t>02</a:t>
              </a:r>
            </a:p>
          </p:txBody>
        </p:sp>
      </p:grpSp>
      <p:grpSp>
        <p:nvGrpSpPr>
          <p:cNvPr id="11" name="Group 11"/>
          <p:cNvGrpSpPr/>
          <p:nvPr/>
        </p:nvGrpSpPr>
        <p:grpSpPr>
          <a:xfrm>
            <a:off x="5754271" y="5616012"/>
            <a:ext cx="897860" cy="89379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DED6"/>
            </a:solidFill>
          </p:spPr>
          <p:txBody>
            <a:bodyPr/>
            <a:lstStyle/>
            <a:p>
              <a:endParaRPr lang="en-GB"/>
            </a:p>
          </p:txBody>
        </p:sp>
        <p:sp>
          <p:nvSpPr>
            <p:cNvPr id="13" name="TextBox 13"/>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u="none" strike="noStrike">
                  <a:solidFill>
                    <a:srgbClr val="122359"/>
                  </a:solidFill>
                  <a:latin typeface="TT Fors Bold"/>
                  <a:ea typeface="TT Fors Bold"/>
                  <a:cs typeface="TT Fors Bold"/>
                  <a:sym typeface="TT Fors Bold"/>
                </a:rPr>
                <a:t>05</a:t>
              </a:r>
            </a:p>
          </p:txBody>
        </p:sp>
      </p:grpSp>
      <p:grpSp>
        <p:nvGrpSpPr>
          <p:cNvPr id="14" name="Group 14"/>
          <p:cNvGrpSpPr/>
          <p:nvPr/>
        </p:nvGrpSpPr>
        <p:grpSpPr>
          <a:xfrm>
            <a:off x="2152348" y="7777112"/>
            <a:ext cx="1022556" cy="95083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EC8D9"/>
            </a:solidFill>
          </p:spPr>
          <p:txBody>
            <a:bodyPr/>
            <a:lstStyle/>
            <a:p>
              <a:endParaRPr lang="en-GB"/>
            </a:p>
          </p:txBody>
        </p:sp>
        <p:sp>
          <p:nvSpPr>
            <p:cNvPr id="16" name="TextBox 16"/>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a:solidFill>
                    <a:srgbClr val="122359"/>
                  </a:solidFill>
                  <a:latin typeface="TT Fors Bold"/>
                  <a:ea typeface="TT Fors Bold"/>
                  <a:cs typeface="TT Fors Bold"/>
                  <a:sym typeface="TT Fors Bold"/>
                </a:rPr>
                <a:t>03</a:t>
              </a:r>
            </a:p>
          </p:txBody>
        </p:sp>
      </p:grpSp>
      <p:grpSp>
        <p:nvGrpSpPr>
          <p:cNvPr id="17" name="Group 17"/>
          <p:cNvGrpSpPr/>
          <p:nvPr/>
        </p:nvGrpSpPr>
        <p:grpSpPr>
          <a:xfrm>
            <a:off x="5770860" y="7833698"/>
            <a:ext cx="897860" cy="89379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6EF"/>
            </a:solidFill>
          </p:spPr>
          <p:txBody>
            <a:bodyPr/>
            <a:lstStyle/>
            <a:p>
              <a:endParaRPr lang="en-GB"/>
            </a:p>
          </p:txBody>
        </p:sp>
        <p:sp>
          <p:nvSpPr>
            <p:cNvPr id="19" name="TextBox 19"/>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u="none" strike="noStrike">
                  <a:solidFill>
                    <a:srgbClr val="122359"/>
                  </a:solidFill>
                  <a:latin typeface="TT Fors Bold"/>
                  <a:ea typeface="TT Fors Bold"/>
                  <a:cs typeface="TT Fors Bold"/>
                  <a:sym typeface="TT Fors Bold"/>
                </a:rPr>
                <a:t>06</a:t>
              </a:r>
            </a:p>
          </p:txBody>
        </p:sp>
      </p:grpSp>
      <p:sp>
        <p:nvSpPr>
          <p:cNvPr id="20" name="Freeform 20"/>
          <p:cNvSpPr/>
          <p:nvPr/>
        </p:nvSpPr>
        <p:spPr>
          <a:xfrm>
            <a:off x="3418616" y="4199136"/>
            <a:ext cx="1932186" cy="620427"/>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21" name="Freeform 21"/>
          <p:cNvSpPr/>
          <p:nvPr/>
        </p:nvSpPr>
        <p:spPr>
          <a:xfrm>
            <a:off x="7094863" y="4165385"/>
            <a:ext cx="1996419" cy="692587"/>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22" name="Freeform 22"/>
          <p:cNvSpPr/>
          <p:nvPr/>
        </p:nvSpPr>
        <p:spPr>
          <a:xfrm>
            <a:off x="3418616" y="6416822"/>
            <a:ext cx="1879776" cy="620427"/>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23" name="Freeform 23"/>
          <p:cNvSpPr/>
          <p:nvPr/>
        </p:nvSpPr>
        <p:spPr>
          <a:xfrm>
            <a:off x="7094863" y="6383071"/>
            <a:ext cx="1993742" cy="692587"/>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24" name="Group 24"/>
          <p:cNvGrpSpPr/>
          <p:nvPr/>
        </p:nvGrpSpPr>
        <p:grpSpPr>
          <a:xfrm>
            <a:off x="3421762" y="3398185"/>
            <a:ext cx="1932185" cy="1202811"/>
            <a:chOff x="0" y="0"/>
            <a:chExt cx="1174449" cy="451556"/>
          </a:xfrm>
        </p:grpSpPr>
        <p:sp>
          <p:nvSpPr>
            <p:cNvPr id="25" name="Freeform 25"/>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26" name="TextBox 26"/>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27" name="Group 27"/>
          <p:cNvGrpSpPr/>
          <p:nvPr/>
        </p:nvGrpSpPr>
        <p:grpSpPr>
          <a:xfrm>
            <a:off x="7098008" y="3296698"/>
            <a:ext cx="1996418" cy="1342707"/>
            <a:chOff x="0" y="0"/>
            <a:chExt cx="1174449" cy="451556"/>
          </a:xfrm>
        </p:grpSpPr>
        <p:sp>
          <p:nvSpPr>
            <p:cNvPr id="28" name="Freeform 28"/>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29" name="TextBox 29"/>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30" name="Group 30"/>
          <p:cNvGrpSpPr/>
          <p:nvPr/>
        </p:nvGrpSpPr>
        <p:grpSpPr>
          <a:xfrm>
            <a:off x="3421762" y="5615871"/>
            <a:ext cx="1929720" cy="1202811"/>
            <a:chOff x="0" y="0"/>
            <a:chExt cx="1174449" cy="451556"/>
          </a:xfrm>
        </p:grpSpPr>
        <p:sp>
          <p:nvSpPr>
            <p:cNvPr id="31" name="Freeform 31"/>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32" name="TextBox 32"/>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33" name="Group 33"/>
          <p:cNvGrpSpPr/>
          <p:nvPr/>
        </p:nvGrpSpPr>
        <p:grpSpPr>
          <a:xfrm>
            <a:off x="7098008" y="5514384"/>
            <a:ext cx="1993742" cy="1342707"/>
            <a:chOff x="0" y="0"/>
            <a:chExt cx="1174449" cy="451556"/>
          </a:xfrm>
        </p:grpSpPr>
        <p:sp>
          <p:nvSpPr>
            <p:cNvPr id="34" name="Freeform 34"/>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35" name="TextBox 35"/>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sp>
        <p:nvSpPr>
          <p:cNvPr id="36" name="TextBox 36"/>
          <p:cNvSpPr txBox="1"/>
          <p:nvPr/>
        </p:nvSpPr>
        <p:spPr>
          <a:xfrm>
            <a:off x="4053312" y="981075"/>
            <a:ext cx="10181376" cy="634789"/>
          </a:xfrm>
          <a:prstGeom prst="rect">
            <a:avLst/>
          </a:prstGeom>
        </p:spPr>
        <p:txBody>
          <a:bodyPr lIns="0" tIns="0" rIns="0" bIns="0" rtlCol="0" anchor="t">
            <a:spAutoFit/>
          </a:bodyPr>
          <a:lstStyle/>
          <a:p>
            <a:pPr algn="ctr">
              <a:lnSpc>
                <a:spcPts val="5040"/>
              </a:lnSpc>
              <a:spcBef>
                <a:spcPct val="0"/>
              </a:spcBef>
            </a:pPr>
            <a:r>
              <a:rPr lang="en-GB" sz="4000" b="1" dirty="0">
                <a:solidFill>
                  <a:srgbClr val="112F8D"/>
                </a:solidFill>
                <a:latin typeface="TT Fors Bold"/>
              </a:rPr>
              <a:t>Key Performance Indicators (KPIs)</a:t>
            </a:r>
            <a:endParaRPr lang="en-US" sz="4000" b="1" dirty="0">
              <a:solidFill>
                <a:srgbClr val="112F8D"/>
              </a:solidFill>
              <a:latin typeface="TT Fors Bold"/>
              <a:sym typeface="TT Fors Bold"/>
            </a:endParaRPr>
          </a:p>
        </p:txBody>
      </p:sp>
      <p:sp>
        <p:nvSpPr>
          <p:cNvPr id="42" name="TextBox 42"/>
          <p:cNvSpPr txBox="1"/>
          <p:nvPr/>
        </p:nvSpPr>
        <p:spPr>
          <a:xfrm>
            <a:off x="3655664" y="3328458"/>
            <a:ext cx="4083805" cy="950838"/>
          </a:xfrm>
          <a:prstGeom prst="rect">
            <a:avLst/>
          </a:prstGeom>
        </p:spPr>
        <p:txBody>
          <a:bodyPr wrap="square" lIns="0" tIns="0" rIns="0" bIns="0" rtlCol="0" anchor="t">
            <a:spAutoFit/>
          </a:bodyPr>
          <a:lstStyle/>
          <a:p>
            <a:pPr algn="l">
              <a:lnSpc>
                <a:spcPts val="2519"/>
              </a:lnSpc>
              <a:spcBef>
                <a:spcPct val="0"/>
              </a:spcBef>
            </a:pPr>
            <a:endParaRPr lang="en-US" sz="1799" b="1" dirty="0">
              <a:solidFill>
                <a:srgbClr val="000000"/>
              </a:solidFill>
              <a:latin typeface="TT Fors Bold"/>
              <a:ea typeface="TT Fors Bold"/>
              <a:cs typeface="TT Fors Bold"/>
              <a:sym typeface="TT Fors Bold"/>
            </a:endParaRPr>
          </a:p>
          <a:p>
            <a:pPr>
              <a:lnSpc>
                <a:spcPts val="2519"/>
              </a:lnSpc>
              <a:spcBef>
                <a:spcPct val="0"/>
              </a:spcBef>
            </a:pPr>
            <a:r>
              <a:rPr lang="en-GB" sz="1799" b="1" dirty="0">
                <a:solidFill>
                  <a:srgbClr val="000000"/>
                </a:solidFill>
                <a:latin typeface="TT Fors Bold"/>
              </a:rPr>
              <a:t>Total </a:t>
            </a:r>
          </a:p>
          <a:p>
            <a:pPr>
              <a:lnSpc>
                <a:spcPts val="2519"/>
              </a:lnSpc>
              <a:spcBef>
                <a:spcPct val="0"/>
              </a:spcBef>
            </a:pPr>
            <a:r>
              <a:rPr lang="en-GB" sz="1799" b="1" dirty="0">
                <a:solidFill>
                  <a:srgbClr val="000000"/>
                </a:solidFill>
                <a:latin typeface="TT Fors Bold"/>
              </a:rPr>
              <a:t>Earnings</a:t>
            </a:r>
            <a:endParaRPr lang="en-US" sz="1799" b="1" dirty="0">
              <a:solidFill>
                <a:srgbClr val="000000"/>
              </a:solidFill>
              <a:latin typeface="TT Fors Bold"/>
              <a:sym typeface="TT Fors Bold"/>
            </a:endParaRPr>
          </a:p>
        </p:txBody>
      </p:sp>
      <p:sp>
        <p:nvSpPr>
          <p:cNvPr id="43" name="TextBox 43"/>
          <p:cNvSpPr txBox="1"/>
          <p:nvPr/>
        </p:nvSpPr>
        <p:spPr>
          <a:xfrm>
            <a:off x="7267899" y="3566323"/>
            <a:ext cx="1752653" cy="630237"/>
          </a:xfrm>
          <a:prstGeom prst="rect">
            <a:avLst/>
          </a:prstGeom>
        </p:spPr>
        <p:txBody>
          <a:bodyPr wrap="square" lIns="0" tIns="0" rIns="0" bIns="0" rtlCol="0" anchor="t">
            <a:spAutoFit/>
          </a:bodyPr>
          <a:lstStyle/>
          <a:p>
            <a:pPr>
              <a:lnSpc>
                <a:spcPts val="2519"/>
              </a:lnSpc>
              <a:spcBef>
                <a:spcPct val="0"/>
              </a:spcBef>
            </a:pPr>
            <a:r>
              <a:rPr lang="en-GB" sz="1799" b="1" dirty="0">
                <a:solidFill>
                  <a:srgbClr val="000000"/>
                </a:solidFill>
                <a:latin typeface="TT Fors Bold"/>
              </a:rPr>
              <a:t>Average Job </a:t>
            </a:r>
          </a:p>
          <a:p>
            <a:pPr>
              <a:lnSpc>
                <a:spcPts val="2519"/>
              </a:lnSpc>
              <a:spcBef>
                <a:spcPct val="0"/>
              </a:spcBef>
            </a:pPr>
            <a:r>
              <a:rPr lang="en-GB" sz="1799" b="1" dirty="0">
                <a:solidFill>
                  <a:srgbClr val="000000"/>
                </a:solidFill>
                <a:latin typeface="TT Fors Bold"/>
              </a:rPr>
              <a:t>Success Rate</a:t>
            </a:r>
            <a:endParaRPr lang="en-US" sz="1799" b="1" dirty="0">
              <a:solidFill>
                <a:srgbClr val="000000"/>
              </a:solidFill>
              <a:latin typeface="TT Fors Bold"/>
              <a:sym typeface="TT Fors Bold"/>
            </a:endParaRPr>
          </a:p>
        </p:txBody>
      </p:sp>
      <p:sp>
        <p:nvSpPr>
          <p:cNvPr id="44" name="TextBox 44"/>
          <p:cNvSpPr txBox="1"/>
          <p:nvPr/>
        </p:nvSpPr>
        <p:spPr>
          <a:xfrm>
            <a:off x="3682419" y="5884863"/>
            <a:ext cx="4083805" cy="630237"/>
          </a:xfrm>
          <a:prstGeom prst="rect">
            <a:avLst/>
          </a:prstGeom>
        </p:spPr>
        <p:txBody>
          <a:bodyPr wrap="square" lIns="0" tIns="0" rIns="0" bIns="0" rtlCol="0" anchor="t">
            <a:spAutoFit/>
          </a:bodyPr>
          <a:lstStyle/>
          <a:p>
            <a:pPr>
              <a:lnSpc>
                <a:spcPts val="2519"/>
              </a:lnSpc>
              <a:spcBef>
                <a:spcPct val="0"/>
              </a:spcBef>
            </a:pPr>
            <a:r>
              <a:rPr lang="en-GB" sz="1799" b="1" dirty="0">
                <a:solidFill>
                  <a:srgbClr val="000000"/>
                </a:solidFill>
                <a:latin typeface="TT Fors Bold"/>
              </a:rPr>
              <a:t>Total Jobs </a:t>
            </a:r>
          </a:p>
          <a:p>
            <a:pPr>
              <a:lnSpc>
                <a:spcPts val="2519"/>
              </a:lnSpc>
              <a:spcBef>
                <a:spcPct val="0"/>
              </a:spcBef>
            </a:pPr>
            <a:r>
              <a:rPr lang="en-GB" sz="1799" b="1" dirty="0">
                <a:solidFill>
                  <a:srgbClr val="000000"/>
                </a:solidFill>
                <a:latin typeface="TT Fors Bold"/>
              </a:rPr>
              <a:t>Completed</a:t>
            </a:r>
            <a:endParaRPr lang="en-US" sz="1799" b="1" dirty="0">
              <a:solidFill>
                <a:srgbClr val="000000"/>
              </a:solidFill>
              <a:latin typeface="TT Fors Bold"/>
              <a:sym typeface="TT Fors Bold"/>
            </a:endParaRPr>
          </a:p>
        </p:txBody>
      </p:sp>
      <p:sp>
        <p:nvSpPr>
          <p:cNvPr id="45" name="TextBox 45"/>
          <p:cNvSpPr txBox="1"/>
          <p:nvPr/>
        </p:nvSpPr>
        <p:spPr>
          <a:xfrm>
            <a:off x="7315200" y="5564262"/>
            <a:ext cx="1671403" cy="950838"/>
          </a:xfrm>
          <a:prstGeom prst="rect">
            <a:avLst/>
          </a:prstGeom>
        </p:spPr>
        <p:txBody>
          <a:bodyPr wrap="square" lIns="0" tIns="0" rIns="0" bIns="0" rtlCol="0" anchor="t">
            <a:spAutoFit/>
          </a:bodyPr>
          <a:lstStyle/>
          <a:p>
            <a:pPr algn="l">
              <a:lnSpc>
                <a:spcPts val="2519"/>
              </a:lnSpc>
              <a:spcBef>
                <a:spcPct val="0"/>
              </a:spcBef>
            </a:pPr>
            <a:endParaRPr lang="en-US" sz="1799" b="1" dirty="0">
              <a:solidFill>
                <a:srgbClr val="000000"/>
              </a:solidFill>
              <a:latin typeface="TT Fors Bold"/>
              <a:ea typeface="TT Fors Bold"/>
              <a:cs typeface="TT Fors Bold"/>
              <a:sym typeface="TT Fors Bold"/>
            </a:endParaRPr>
          </a:p>
          <a:p>
            <a:pPr>
              <a:lnSpc>
                <a:spcPts val="2519"/>
              </a:lnSpc>
              <a:spcBef>
                <a:spcPct val="0"/>
              </a:spcBef>
            </a:pPr>
            <a:r>
              <a:rPr lang="en-GB" sz="1799" b="1" dirty="0">
                <a:solidFill>
                  <a:srgbClr val="000000"/>
                </a:solidFill>
                <a:latin typeface="TT Fors Bold"/>
              </a:rPr>
              <a:t>Average Client Rating </a:t>
            </a:r>
            <a:endParaRPr lang="en-US" sz="1799" b="1" dirty="0">
              <a:solidFill>
                <a:srgbClr val="000000"/>
              </a:solidFill>
              <a:latin typeface="TT Fors Bold"/>
              <a:ea typeface="TT Fors Bold"/>
              <a:cs typeface="TT Fors Bold"/>
              <a:sym typeface="TT Fors Bold"/>
            </a:endParaRPr>
          </a:p>
        </p:txBody>
      </p:sp>
      <p:sp>
        <p:nvSpPr>
          <p:cNvPr id="46" name="Freeform 46"/>
          <p:cNvSpPr/>
          <p:nvPr/>
        </p:nvSpPr>
        <p:spPr>
          <a:xfrm>
            <a:off x="3418616" y="8385592"/>
            <a:ext cx="1929720" cy="620427"/>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47" name="Freeform 47"/>
          <p:cNvSpPr/>
          <p:nvPr/>
        </p:nvSpPr>
        <p:spPr>
          <a:xfrm>
            <a:off x="7181548" y="8537992"/>
            <a:ext cx="1999096" cy="692587"/>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48" name="Group 48"/>
          <p:cNvGrpSpPr/>
          <p:nvPr/>
        </p:nvGrpSpPr>
        <p:grpSpPr>
          <a:xfrm>
            <a:off x="3421762" y="7699792"/>
            <a:ext cx="1929720" cy="1202811"/>
            <a:chOff x="0" y="0"/>
            <a:chExt cx="1174449" cy="451556"/>
          </a:xfrm>
        </p:grpSpPr>
        <p:sp>
          <p:nvSpPr>
            <p:cNvPr id="49" name="Freeform 49"/>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50" name="TextBox 50"/>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51" name="Group 51"/>
          <p:cNvGrpSpPr/>
          <p:nvPr/>
        </p:nvGrpSpPr>
        <p:grpSpPr>
          <a:xfrm>
            <a:off x="7098008" y="7732070"/>
            <a:ext cx="1991065" cy="1342707"/>
            <a:chOff x="0" y="0"/>
            <a:chExt cx="1174449" cy="451556"/>
          </a:xfrm>
        </p:grpSpPr>
        <p:sp>
          <p:nvSpPr>
            <p:cNvPr id="52" name="Freeform 52"/>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pPr>
                <a:lnSpc>
                  <a:spcPts val="2519"/>
                </a:lnSpc>
                <a:spcBef>
                  <a:spcPct val="0"/>
                </a:spcBef>
              </a:pPr>
              <a:endParaRPr lang="en-GB" sz="1799" b="1" dirty="0">
                <a:solidFill>
                  <a:srgbClr val="000000"/>
                </a:solidFill>
                <a:latin typeface="TT Fors Bold"/>
              </a:endParaRPr>
            </a:p>
            <a:p>
              <a:pPr>
                <a:lnSpc>
                  <a:spcPts val="2519"/>
                </a:lnSpc>
                <a:spcBef>
                  <a:spcPct val="0"/>
                </a:spcBef>
              </a:pPr>
              <a:r>
                <a:rPr lang="en-GB" sz="1799" b="1" dirty="0">
                  <a:solidFill>
                    <a:srgbClr val="000000"/>
                  </a:solidFill>
                  <a:latin typeface="TT Fors Bold"/>
                </a:rPr>
                <a:t>Rehire Rate</a:t>
              </a:r>
              <a:endParaRPr lang="en-US" sz="1799" b="1" dirty="0">
                <a:solidFill>
                  <a:srgbClr val="000000"/>
                </a:solidFill>
                <a:latin typeface="TT Fors Bold"/>
                <a:sym typeface="TT Fors Bold"/>
              </a:endParaRPr>
            </a:p>
          </p:txBody>
        </p:sp>
        <p:sp>
          <p:nvSpPr>
            <p:cNvPr id="53" name="TextBox 53"/>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sp>
        <p:nvSpPr>
          <p:cNvPr id="56" name="TextBox 56"/>
          <p:cNvSpPr txBox="1"/>
          <p:nvPr/>
        </p:nvSpPr>
        <p:spPr>
          <a:xfrm>
            <a:off x="3675329" y="7908784"/>
            <a:ext cx="4083805" cy="630237"/>
          </a:xfrm>
          <a:prstGeom prst="rect">
            <a:avLst/>
          </a:prstGeom>
        </p:spPr>
        <p:txBody>
          <a:bodyPr wrap="square" lIns="0" tIns="0" rIns="0" bIns="0" rtlCol="0" anchor="t">
            <a:spAutoFit/>
          </a:bodyPr>
          <a:lstStyle/>
          <a:p>
            <a:pPr>
              <a:lnSpc>
                <a:spcPts val="2519"/>
              </a:lnSpc>
              <a:spcBef>
                <a:spcPct val="0"/>
              </a:spcBef>
            </a:pPr>
            <a:r>
              <a:rPr lang="en-GB" sz="1799" b="1" dirty="0">
                <a:solidFill>
                  <a:srgbClr val="000000"/>
                </a:solidFill>
                <a:latin typeface="TT Fors Bold"/>
              </a:rPr>
              <a:t>Average </a:t>
            </a:r>
          </a:p>
          <a:p>
            <a:pPr>
              <a:lnSpc>
                <a:spcPts val="2519"/>
              </a:lnSpc>
              <a:spcBef>
                <a:spcPct val="0"/>
              </a:spcBef>
            </a:pPr>
            <a:r>
              <a:rPr lang="en-GB" sz="1799" b="1" dirty="0">
                <a:solidFill>
                  <a:srgbClr val="000000"/>
                </a:solidFill>
                <a:latin typeface="TT Fors Bold"/>
              </a:rPr>
              <a:t>Hourly Rate</a:t>
            </a:r>
            <a:endParaRPr lang="en-US" sz="1799" b="1" dirty="0">
              <a:solidFill>
                <a:srgbClr val="000000"/>
              </a:solidFill>
              <a:latin typeface="TT Fors Bold"/>
              <a:sym typeface="TT Fors Bold"/>
            </a:endParaRPr>
          </a:p>
        </p:txBody>
      </p:sp>
      <p:grpSp>
        <p:nvGrpSpPr>
          <p:cNvPr id="82" name="Group 82"/>
          <p:cNvGrpSpPr/>
          <p:nvPr/>
        </p:nvGrpSpPr>
        <p:grpSpPr>
          <a:xfrm>
            <a:off x="3257366" y="3051592"/>
            <a:ext cx="282979" cy="1831115"/>
            <a:chOff x="0" y="0"/>
            <a:chExt cx="95104" cy="687431"/>
          </a:xfrm>
        </p:grpSpPr>
        <p:sp>
          <p:nvSpPr>
            <p:cNvPr id="83" name="Freeform 83"/>
            <p:cNvSpPr/>
            <p:nvPr/>
          </p:nvSpPr>
          <p:spPr>
            <a:xfrm>
              <a:off x="0" y="0"/>
              <a:ext cx="95104" cy="687431"/>
            </a:xfrm>
            <a:custGeom>
              <a:avLst/>
              <a:gdLst/>
              <a:ahLst/>
              <a:cxnLst/>
              <a:rect l="l" t="t" r="r" b="b"/>
              <a:pathLst>
                <a:path w="95104" h="687431">
                  <a:moveTo>
                    <a:pt x="47552" y="0"/>
                  </a:moveTo>
                  <a:lnTo>
                    <a:pt x="47552" y="0"/>
                  </a:lnTo>
                  <a:cubicBezTo>
                    <a:pt x="73814" y="0"/>
                    <a:pt x="95104" y="21290"/>
                    <a:pt x="95104" y="47552"/>
                  </a:cubicBezTo>
                  <a:lnTo>
                    <a:pt x="95104" y="639879"/>
                  </a:lnTo>
                  <a:cubicBezTo>
                    <a:pt x="95104" y="666142"/>
                    <a:pt x="73814" y="687431"/>
                    <a:pt x="47552" y="687431"/>
                  </a:cubicBezTo>
                  <a:lnTo>
                    <a:pt x="47552" y="687431"/>
                  </a:lnTo>
                  <a:cubicBezTo>
                    <a:pt x="21290" y="687431"/>
                    <a:pt x="0" y="666142"/>
                    <a:pt x="0" y="639879"/>
                  </a:cubicBezTo>
                  <a:lnTo>
                    <a:pt x="0" y="47552"/>
                  </a:lnTo>
                  <a:cubicBezTo>
                    <a:pt x="0" y="21290"/>
                    <a:pt x="21290" y="0"/>
                    <a:pt x="47552" y="0"/>
                  </a:cubicBezTo>
                  <a:close/>
                </a:path>
              </a:pathLst>
            </a:custGeom>
            <a:solidFill>
              <a:srgbClr val="122359"/>
            </a:solidFill>
          </p:spPr>
          <p:txBody>
            <a:bodyPr/>
            <a:lstStyle/>
            <a:p>
              <a:endParaRPr lang="en-GB"/>
            </a:p>
          </p:txBody>
        </p:sp>
        <p:sp>
          <p:nvSpPr>
            <p:cNvPr id="84" name="TextBox 84"/>
            <p:cNvSpPr txBox="1"/>
            <p:nvPr/>
          </p:nvSpPr>
          <p:spPr>
            <a:xfrm>
              <a:off x="0" y="-38100"/>
              <a:ext cx="95104" cy="72553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85" name="Group 85"/>
          <p:cNvGrpSpPr/>
          <p:nvPr/>
        </p:nvGrpSpPr>
        <p:grpSpPr>
          <a:xfrm>
            <a:off x="6804531" y="2950105"/>
            <a:ext cx="307459" cy="2044087"/>
            <a:chOff x="0" y="0"/>
            <a:chExt cx="95104" cy="687431"/>
          </a:xfrm>
        </p:grpSpPr>
        <p:sp>
          <p:nvSpPr>
            <p:cNvPr id="86" name="Freeform 86"/>
            <p:cNvSpPr/>
            <p:nvPr/>
          </p:nvSpPr>
          <p:spPr>
            <a:xfrm>
              <a:off x="0" y="0"/>
              <a:ext cx="95104" cy="687431"/>
            </a:xfrm>
            <a:custGeom>
              <a:avLst/>
              <a:gdLst/>
              <a:ahLst/>
              <a:cxnLst/>
              <a:rect l="l" t="t" r="r" b="b"/>
              <a:pathLst>
                <a:path w="95104" h="687431">
                  <a:moveTo>
                    <a:pt x="47552" y="0"/>
                  </a:moveTo>
                  <a:lnTo>
                    <a:pt x="47552" y="0"/>
                  </a:lnTo>
                  <a:cubicBezTo>
                    <a:pt x="73814" y="0"/>
                    <a:pt x="95104" y="21290"/>
                    <a:pt x="95104" y="47552"/>
                  </a:cubicBezTo>
                  <a:lnTo>
                    <a:pt x="95104" y="639879"/>
                  </a:lnTo>
                  <a:cubicBezTo>
                    <a:pt x="95104" y="666142"/>
                    <a:pt x="73814" y="687431"/>
                    <a:pt x="47552" y="687431"/>
                  </a:cubicBezTo>
                  <a:lnTo>
                    <a:pt x="47552" y="687431"/>
                  </a:lnTo>
                  <a:cubicBezTo>
                    <a:pt x="21290" y="687431"/>
                    <a:pt x="0" y="666142"/>
                    <a:pt x="0" y="639879"/>
                  </a:cubicBezTo>
                  <a:lnTo>
                    <a:pt x="0" y="47552"/>
                  </a:lnTo>
                  <a:cubicBezTo>
                    <a:pt x="0" y="21290"/>
                    <a:pt x="21290" y="0"/>
                    <a:pt x="47552" y="0"/>
                  </a:cubicBezTo>
                  <a:close/>
                </a:path>
              </a:pathLst>
            </a:custGeom>
            <a:solidFill>
              <a:srgbClr val="F68D54"/>
            </a:solidFill>
          </p:spPr>
          <p:txBody>
            <a:bodyPr/>
            <a:lstStyle/>
            <a:p>
              <a:endParaRPr lang="en-GB"/>
            </a:p>
          </p:txBody>
        </p:sp>
        <p:sp>
          <p:nvSpPr>
            <p:cNvPr id="87" name="TextBox 87"/>
            <p:cNvSpPr txBox="1"/>
            <p:nvPr/>
          </p:nvSpPr>
          <p:spPr>
            <a:xfrm>
              <a:off x="0" y="-38100"/>
              <a:ext cx="95104" cy="72553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88" name="Group 88"/>
          <p:cNvGrpSpPr/>
          <p:nvPr/>
        </p:nvGrpSpPr>
        <p:grpSpPr>
          <a:xfrm>
            <a:off x="3257366" y="5336041"/>
            <a:ext cx="282979" cy="1755498"/>
            <a:chOff x="0" y="0"/>
            <a:chExt cx="95104" cy="659044"/>
          </a:xfrm>
        </p:grpSpPr>
        <p:sp>
          <p:nvSpPr>
            <p:cNvPr id="89" name="Freeform 89"/>
            <p:cNvSpPr/>
            <p:nvPr/>
          </p:nvSpPr>
          <p:spPr>
            <a:xfrm>
              <a:off x="0" y="0"/>
              <a:ext cx="95104" cy="659044"/>
            </a:xfrm>
            <a:custGeom>
              <a:avLst/>
              <a:gdLst/>
              <a:ahLst/>
              <a:cxnLst/>
              <a:rect l="l" t="t" r="r" b="b"/>
              <a:pathLst>
                <a:path w="95104" h="659044">
                  <a:moveTo>
                    <a:pt x="47552" y="0"/>
                  </a:moveTo>
                  <a:lnTo>
                    <a:pt x="47552" y="0"/>
                  </a:lnTo>
                  <a:cubicBezTo>
                    <a:pt x="73814" y="0"/>
                    <a:pt x="95104" y="21290"/>
                    <a:pt x="95104" y="47552"/>
                  </a:cubicBezTo>
                  <a:lnTo>
                    <a:pt x="95104" y="611492"/>
                  </a:lnTo>
                  <a:cubicBezTo>
                    <a:pt x="95104" y="637754"/>
                    <a:pt x="73814" y="659044"/>
                    <a:pt x="47552" y="659044"/>
                  </a:cubicBezTo>
                  <a:lnTo>
                    <a:pt x="47552" y="659044"/>
                  </a:lnTo>
                  <a:cubicBezTo>
                    <a:pt x="21290" y="659044"/>
                    <a:pt x="0" y="637754"/>
                    <a:pt x="0" y="611492"/>
                  </a:cubicBezTo>
                  <a:lnTo>
                    <a:pt x="0" y="47552"/>
                  </a:lnTo>
                  <a:cubicBezTo>
                    <a:pt x="0" y="21290"/>
                    <a:pt x="21290" y="0"/>
                    <a:pt x="47552" y="0"/>
                  </a:cubicBezTo>
                  <a:close/>
                </a:path>
              </a:pathLst>
            </a:custGeom>
            <a:solidFill>
              <a:srgbClr val="3C6198"/>
            </a:solidFill>
          </p:spPr>
          <p:txBody>
            <a:bodyPr/>
            <a:lstStyle/>
            <a:p>
              <a:endParaRPr lang="en-GB"/>
            </a:p>
          </p:txBody>
        </p:sp>
        <p:sp>
          <p:nvSpPr>
            <p:cNvPr id="90" name="TextBox 90"/>
            <p:cNvSpPr txBox="1"/>
            <p:nvPr/>
          </p:nvSpPr>
          <p:spPr>
            <a:xfrm>
              <a:off x="0" y="-38100"/>
              <a:ext cx="95104" cy="697144"/>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91" name="Group 91"/>
          <p:cNvGrpSpPr/>
          <p:nvPr/>
        </p:nvGrpSpPr>
        <p:grpSpPr>
          <a:xfrm>
            <a:off x="6804531" y="5291480"/>
            <a:ext cx="307459" cy="1959676"/>
            <a:chOff x="0" y="0"/>
            <a:chExt cx="95104" cy="659044"/>
          </a:xfrm>
        </p:grpSpPr>
        <p:sp>
          <p:nvSpPr>
            <p:cNvPr id="92" name="Freeform 92"/>
            <p:cNvSpPr/>
            <p:nvPr/>
          </p:nvSpPr>
          <p:spPr>
            <a:xfrm>
              <a:off x="0" y="0"/>
              <a:ext cx="95104" cy="659044"/>
            </a:xfrm>
            <a:custGeom>
              <a:avLst/>
              <a:gdLst/>
              <a:ahLst/>
              <a:cxnLst/>
              <a:rect l="l" t="t" r="r" b="b"/>
              <a:pathLst>
                <a:path w="95104" h="659044">
                  <a:moveTo>
                    <a:pt x="47552" y="0"/>
                  </a:moveTo>
                  <a:lnTo>
                    <a:pt x="47552" y="0"/>
                  </a:lnTo>
                  <a:cubicBezTo>
                    <a:pt x="73814" y="0"/>
                    <a:pt x="95104" y="21290"/>
                    <a:pt x="95104" y="47552"/>
                  </a:cubicBezTo>
                  <a:lnTo>
                    <a:pt x="95104" y="611492"/>
                  </a:lnTo>
                  <a:cubicBezTo>
                    <a:pt x="95104" y="637754"/>
                    <a:pt x="73814" y="659044"/>
                    <a:pt x="47552" y="659044"/>
                  </a:cubicBezTo>
                  <a:lnTo>
                    <a:pt x="47552" y="659044"/>
                  </a:lnTo>
                  <a:cubicBezTo>
                    <a:pt x="21290" y="659044"/>
                    <a:pt x="0" y="637754"/>
                    <a:pt x="0" y="611492"/>
                  </a:cubicBezTo>
                  <a:lnTo>
                    <a:pt x="0" y="47552"/>
                  </a:lnTo>
                  <a:cubicBezTo>
                    <a:pt x="0" y="21290"/>
                    <a:pt x="21290" y="0"/>
                    <a:pt x="47552" y="0"/>
                  </a:cubicBezTo>
                  <a:close/>
                </a:path>
              </a:pathLst>
            </a:custGeom>
            <a:solidFill>
              <a:srgbClr val="E7DED6"/>
            </a:solidFill>
          </p:spPr>
          <p:txBody>
            <a:bodyPr/>
            <a:lstStyle/>
            <a:p>
              <a:endParaRPr lang="en-GB"/>
            </a:p>
          </p:txBody>
        </p:sp>
        <p:sp>
          <p:nvSpPr>
            <p:cNvPr id="93" name="TextBox 93"/>
            <p:cNvSpPr txBox="1"/>
            <p:nvPr/>
          </p:nvSpPr>
          <p:spPr>
            <a:xfrm>
              <a:off x="0" y="-38100"/>
              <a:ext cx="95104" cy="697144"/>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94" name="Group 94"/>
          <p:cNvGrpSpPr/>
          <p:nvPr/>
        </p:nvGrpSpPr>
        <p:grpSpPr>
          <a:xfrm>
            <a:off x="3257366" y="7515667"/>
            <a:ext cx="282979" cy="1507588"/>
            <a:chOff x="0" y="0"/>
            <a:chExt cx="95104" cy="565974"/>
          </a:xfrm>
        </p:grpSpPr>
        <p:sp>
          <p:nvSpPr>
            <p:cNvPr id="95" name="Freeform 95"/>
            <p:cNvSpPr/>
            <p:nvPr/>
          </p:nvSpPr>
          <p:spPr>
            <a:xfrm>
              <a:off x="0" y="0"/>
              <a:ext cx="95104" cy="565974"/>
            </a:xfrm>
            <a:custGeom>
              <a:avLst/>
              <a:gdLst/>
              <a:ahLst/>
              <a:cxnLst/>
              <a:rect l="l" t="t" r="r" b="b"/>
              <a:pathLst>
                <a:path w="95104" h="565974">
                  <a:moveTo>
                    <a:pt x="47552" y="0"/>
                  </a:moveTo>
                  <a:lnTo>
                    <a:pt x="47552" y="0"/>
                  </a:lnTo>
                  <a:cubicBezTo>
                    <a:pt x="73814" y="0"/>
                    <a:pt x="95104" y="21290"/>
                    <a:pt x="95104" y="47552"/>
                  </a:cubicBezTo>
                  <a:lnTo>
                    <a:pt x="95104" y="518422"/>
                  </a:lnTo>
                  <a:cubicBezTo>
                    <a:pt x="95104" y="544684"/>
                    <a:pt x="73814" y="565974"/>
                    <a:pt x="47552" y="565974"/>
                  </a:cubicBezTo>
                  <a:lnTo>
                    <a:pt x="47552" y="565974"/>
                  </a:lnTo>
                  <a:cubicBezTo>
                    <a:pt x="21290" y="565974"/>
                    <a:pt x="0" y="544684"/>
                    <a:pt x="0" y="518422"/>
                  </a:cubicBezTo>
                  <a:lnTo>
                    <a:pt x="0" y="47552"/>
                  </a:lnTo>
                  <a:cubicBezTo>
                    <a:pt x="0" y="21290"/>
                    <a:pt x="21290" y="0"/>
                    <a:pt x="47552" y="0"/>
                  </a:cubicBezTo>
                  <a:close/>
                </a:path>
              </a:pathLst>
            </a:custGeom>
            <a:solidFill>
              <a:srgbClr val="BEC8D9"/>
            </a:solidFill>
          </p:spPr>
          <p:txBody>
            <a:bodyPr/>
            <a:lstStyle/>
            <a:p>
              <a:endParaRPr lang="en-GB"/>
            </a:p>
          </p:txBody>
        </p:sp>
        <p:sp>
          <p:nvSpPr>
            <p:cNvPr id="96" name="TextBox 96"/>
            <p:cNvSpPr txBox="1"/>
            <p:nvPr/>
          </p:nvSpPr>
          <p:spPr>
            <a:xfrm>
              <a:off x="0" y="-38100"/>
              <a:ext cx="95104" cy="604074"/>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97" name="Group 97"/>
          <p:cNvGrpSpPr/>
          <p:nvPr/>
        </p:nvGrpSpPr>
        <p:grpSpPr>
          <a:xfrm>
            <a:off x="6804531" y="7499940"/>
            <a:ext cx="307459" cy="1682931"/>
            <a:chOff x="0" y="0"/>
            <a:chExt cx="95104" cy="565974"/>
          </a:xfrm>
        </p:grpSpPr>
        <p:sp>
          <p:nvSpPr>
            <p:cNvPr id="98" name="Freeform 98"/>
            <p:cNvSpPr/>
            <p:nvPr/>
          </p:nvSpPr>
          <p:spPr>
            <a:xfrm>
              <a:off x="0" y="0"/>
              <a:ext cx="95104" cy="565974"/>
            </a:xfrm>
            <a:custGeom>
              <a:avLst/>
              <a:gdLst/>
              <a:ahLst/>
              <a:cxnLst/>
              <a:rect l="l" t="t" r="r" b="b"/>
              <a:pathLst>
                <a:path w="95104" h="565974">
                  <a:moveTo>
                    <a:pt x="47552" y="0"/>
                  </a:moveTo>
                  <a:lnTo>
                    <a:pt x="47552" y="0"/>
                  </a:lnTo>
                  <a:cubicBezTo>
                    <a:pt x="73814" y="0"/>
                    <a:pt x="95104" y="21290"/>
                    <a:pt x="95104" y="47552"/>
                  </a:cubicBezTo>
                  <a:lnTo>
                    <a:pt x="95104" y="518422"/>
                  </a:lnTo>
                  <a:cubicBezTo>
                    <a:pt x="95104" y="544684"/>
                    <a:pt x="73814" y="565974"/>
                    <a:pt x="47552" y="565974"/>
                  </a:cubicBezTo>
                  <a:lnTo>
                    <a:pt x="47552" y="565974"/>
                  </a:lnTo>
                  <a:cubicBezTo>
                    <a:pt x="21290" y="565974"/>
                    <a:pt x="0" y="544684"/>
                    <a:pt x="0" y="518422"/>
                  </a:cubicBezTo>
                  <a:lnTo>
                    <a:pt x="0" y="47552"/>
                  </a:lnTo>
                  <a:cubicBezTo>
                    <a:pt x="0" y="21290"/>
                    <a:pt x="21290" y="0"/>
                    <a:pt x="47552" y="0"/>
                  </a:cubicBezTo>
                  <a:close/>
                </a:path>
              </a:pathLst>
            </a:custGeom>
            <a:solidFill>
              <a:srgbClr val="FBF6EF"/>
            </a:solidFill>
          </p:spPr>
          <p:txBody>
            <a:bodyPr/>
            <a:lstStyle/>
            <a:p>
              <a:endParaRPr lang="en-GB"/>
            </a:p>
          </p:txBody>
        </p:sp>
        <p:sp>
          <p:nvSpPr>
            <p:cNvPr id="99" name="TextBox 99"/>
            <p:cNvSpPr txBox="1"/>
            <p:nvPr/>
          </p:nvSpPr>
          <p:spPr>
            <a:xfrm>
              <a:off x="0" y="-38100"/>
              <a:ext cx="95104" cy="604074"/>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00" name="Freeform 21">
            <a:extLst>
              <a:ext uri="{FF2B5EF4-FFF2-40B4-BE49-F238E27FC236}">
                <a16:creationId xmlns:a16="http://schemas.microsoft.com/office/drawing/2014/main" id="{8D166FA0-CBD1-9D37-0755-EF01495AD3D5}"/>
              </a:ext>
            </a:extLst>
          </p:cNvPr>
          <p:cNvSpPr/>
          <p:nvPr/>
        </p:nvSpPr>
        <p:spPr>
          <a:xfrm>
            <a:off x="10523275" y="4178689"/>
            <a:ext cx="1914710" cy="668512"/>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101" name="Freeform 23">
            <a:extLst>
              <a:ext uri="{FF2B5EF4-FFF2-40B4-BE49-F238E27FC236}">
                <a16:creationId xmlns:a16="http://schemas.microsoft.com/office/drawing/2014/main" id="{09461110-F382-4EE7-C546-55D9C13A8429}"/>
              </a:ext>
            </a:extLst>
          </p:cNvPr>
          <p:cNvSpPr/>
          <p:nvPr/>
        </p:nvSpPr>
        <p:spPr>
          <a:xfrm>
            <a:off x="10523275" y="6396375"/>
            <a:ext cx="1912142" cy="668512"/>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102" name="Group 27">
            <a:extLst>
              <a:ext uri="{FF2B5EF4-FFF2-40B4-BE49-F238E27FC236}">
                <a16:creationId xmlns:a16="http://schemas.microsoft.com/office/drawing/2014/main" id="{CC1880CE-4DC5-E854-CEDB-26E87167B818}"/>
              </a:ext>
            </a:extLst>
          </p:cNvPr>
          <p:cNvGrpSpPr/>
          <p:nvPr/>
        </p:nvGrpSpPr>
        <p:grpSpPr>
          <a:xfrm>
            <a:off x="10526419" y="3332601"/>
            <a:ext cx="1914709" cy="1296034"/>
            <a:chOff x="0" y="0"/>
            <a:chExt cx="1174449" cy="451556"/>
          </a:xfrm>
        </p:grpSpPr>
        <p:sp>
          <p:nvSpPr>
            <p:cNvPr id="103" name="Freeform 28">
              <a:extLst>
                <a:ext uri="{FF2B5EF4-FFF2-40B4-BE49-F238E27FC236}">
                  <a16:creationId xmlns:a16="http://schemas.microsoft.com/office/drawing/2014/main" id="{38CAB60B-2C81-C27F-9252-755767B184E0}"/>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04" name="TextBox 29">
              <a:extLst>
                <a:ext uri="{FF2B5EF4-FFF2-40B4-BE49-F238E27FC236}">
                  <a16:creationId xmlns:a16="http://schemas.microsoft.com/office/drawing/2014/main" id="{93A900BD-53E5-F3AD-7BE4-6886552CEA2D}"/>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105" name="Group 33">
            <a:extLst>
              <a:ext uri="{FF2B5EF4-FFF2-40B4-BE49-F238E27FC236}">
                <a16:creationId xmlns:a16="http://schemas.microsoft.com/office/drawing/2014/main" id="{8E4F4E2C-C2CD-CB9B-EA41-04EFE0303866}"/>
              </a:ext>
            </a:extLst>
          </p:cNvPr>
          <p:cNvGrpSpPr/>
          <p:nvPr/>
        </p:nvGrpSpPr>
        <p:grpSpPr>
          <a:xfrm>
            <a:off x="10526420" y="5550287"/>
            <a:ext cx="1912142" cy="1296034"/>
            <a:chOff x="0" y="0"/>
            <a:chExt cx="1174449" cy="451556"/>
          </a:xfrm>
        </p:grpSpPr>
        <p:sp>
          <p:nvSpPr>
            <p:cNvPr id="106" name="Freeform 34">
              <a:extLst>
                <a:ext uri="{FF2B5EF4-FFF2-40B4-BE49-F238E27FC236}">
                  <a16:creationId xmlns:a16="http://schemas.microsoft.com/office/drawing/2014/main" id="{906A74C5-AEEF-672E-A61A-4227B00BEFB4}"/>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07" name="TextBox 35">
              <a:extLst>
                <a:ext uri="{FF2B5EF4-FFF2-40B4-BE49-F238E27FC236}">
                  <a16:creationId xmlns:a16="http://schemas.microsoft.com/office/drawing/2014/main" id="{598FF20A-D16A-23D7-01C8-9E35D6D9B91B}"/>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sp>
        <p:nvSpPr>
          <p:cNvPr id="108" name="Freeform 47">
            <a:extLst>
              <a:ext uri="{FF2B5EF4-FFF2-40B4-BE49-F238E27FC236}">
                <a16:creationId xmlns:a16="http://schemas.microsoft.com/office/drawing/2014/main" id="{B1D19B68-5105-B98A-B9D7-EC78158CC4CC}"/>
              </a:ext>
            </a:extLst>
          </p:cNvPr>
          <p:cNvSpPr/>
          <p:nvPr/>
        </p:nvSpPr>
        <p:spPr>
          <a:xfrm>
            <a:off x="10523275" y="8614061"/>
            <a:ext cx="1917277" cy="668512"/>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109" name="Group 51">
            <a:extLst>
              <a:ext uri="{FF2B5EF4-FFF2-40B4-BE49-F238E27FC236}">
                <a16:creationId xmlns:a16="http://schemas.microsoft.com/office/drawing/2014/main" id="{26DB7F14-56E9-B6EB-0682-984266FB61ED}"/>
              </a:ext>
            </a:extLst>
          </p:cNvPr>
          <p:cNvGrpSpPr/>
          <p:nvPr/>
        </p:nvGrpSpPr>
        <p:grpSpPr>
          <a:xfrm>
            <a:off x="10526420" y="7767973"/>
            <a:ext cx="1909575" cy="1296034"/>
            <a:chOff x="0" y="0"/>
            <a:chExt cx="1174449" cy="451556"/>
          </a:xfrm>
        </p:grpSpPr>
        <p:sp>
          <p:nvSpPr>
            <p:cNvPr id="110" name="Freeform 52">
              <a:extLst>
                <a:ext uri="{FF2B5EF4-FFF2-40B4-BE49-F238E27FC236}">
                  <a16:creationId xmlns:a16="http://schemas.microsoft.com/office/drawing/2014/main" id="{80B2D731-7696-A5FE-52FC-E0FD6490C945}"/>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11" name="TextBox 53">
              <a:extLst>
                <a:ext uri="{FF2B5EF4-FFF2-40B4-BE49-F238E27FC236}">
                  <a16:creationId xmlns:a16="http://schemas.microsoft.com/office/drawing/2014/main" id="{9835B9F9-35F1-7CCB-AA95-8B556672B13A}"/>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124" name="Group 85">
            <a:extLst>
              <a:ext uri="{FF2B5EF4-FFF2-40B4-BE49-F238E27FC236}">
                <a16:creationId xmlns:a16="http://schemas.microsoft.com/office/drawing/2014/main" id="{1E57DFE4-882D-FD58-29E1-9475B9F2C843}"/>
              </a:ext>
            </a:extLst>
          </p:cNvPr>
          <p:cNvGrpSpPr/>
          <p:nvPr/>
        </p:nvGrpSpPr>
        <p:grpSpPr>
          <a:xfrm>
            <a:off x="10296701" y="3051592"/>
            <a:ext cx="294875" cy="1973034"/>
            <a:chOff x="0" y="0"/>
            <a:chExt cx="95104" cy="687431"/>
          </a:xfrm>
        </p:grpSpPr>
        <p:sp>
          <p:nvSpPr>
            <p:cNvPr id="125" name="Freeform 86">
              <a:extLst>
                <a:ext uri="{FF2B5EF4-FFF2-40B4-BE49-F238E27FC236}">
                  <a16:creationId xmlns:a16="http://schemas.microsoft.com/office/drawing/2014/main" id="{1CBEED6E-860C-6233-2C0A-500467B5B039}"/>
                </a:ext>
              </a:extLst>
            </p:cNvPr>
            <p:cNvSpPr/>
            <p:nvPr/>
          </p:nvSpPr>
          <p:spPr>
            <a:xfrm>
              <a:off x="0" y="0"/>
              <a:ext cx="95104" cy="687431"/>
            </a:xfrm>
            <a:custGeom>
              <a:avLst/>
              <a:gdLst/>
              <a:ahLst/>
              <a:cxnLst/>
              <a:rect l="l" t="t" r="r" b="b"/>
              <a:pathLst>
                <a:path w="95104" h="687431">
                  <a:moveTo>
                    <a:pt x="47552" y="0"/>
                  </a:moveTo>
                  <a:lnTo>
                    <a:pt x="47552" y="0"/>
                  </a:lnTo>
                  <a:cubicBezTo>
                    <a:pt x="73814" y="0"/>
                    <a:pt x="95104" y="21290"/>
                    <a:pt x="95104" y="47552"/>
                  </a:cubicBezTo>
                  <a:lnTo>
                    <a:pt x="95104" y="639879"/>
                  </a:lnTo>
                  <a:cubicBezTo>
                    <a:pt x="95104" y="666142"/>
                    <a:pt x="73814" y="687431"/>
                    <a:pt x="47552" y="687431"/>
                  </a:cubicBezTo>
                  <a:lnTo>
                    <a:pt x="47552" y="687431"/>
                  </a:lnTo>
                  <a:cubicBezTo>
                    <a:pt x="21290" y="687431"/>
                    <a:pt x="0" y="666142"/>
                    <a:pt x="0" y="639879"/>
                  </a:cubicBezTo>
                  <a:lnTo>
                    <a:pt x="0" y="47552"/>
                  </a:lnTo>
                  <a:cubicBezTo>
                    <a:pt x="0" y="21290"/>
                    <a:pt x="21290" y="0"/>
                    <a:pt x="47552" y="0"/>
                  </a:cubicBezTo>
                  <a:close/>
                </a:path>
              </a:pathLst>
            </a:custGeom>
            <a:solidFill>
              <a:srgbClr val="F68D54"/>
            </a:solidFill>
          </p:spPr>
          <p:txBody>
            <a:bodyPr/>
            <a:lstStyle/>
            <a:p>
              <a:endParaRPr lang="en-GB"/>
            </a:p>
          </p:txBody>
        </p:sp>
        <p:sp>
          <p:nvSpPr>
            <p:cNvPr id="126" name="TextBox 87">
              <a:extLst>
                <a:ext uri="{FF2B5EF4-FFF2-40B4-BE49-F238E27FC236}">
                  <a16:creationId xmlns:a16="http://schemas.microsoft.com/office/drawing/2014/main" id="{3E7F1743-800B-D684-77F7-201FC4A9DBD9}"/>
                </a:ext>
              </a:extLst>
            </p:cNvPr>
            <p:cNvSpPr txBox="1"/>
            <p:nvPr/>
          </p:nvSpPr>
          <p:spPr>
            <a:xfrm>
              <a:off x="0" y="-38100"/>
              <a:ext cx="95104" cy="72553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27" name="Group 91">
            <a:extLst>
              <a:ext uri="{FF2B5EF4-FFF2-40B4-BE49-F238E27FC236}">
                <a16:creationId xmlns:a16="http://schemas.microsoft.com/office/drawing/2014/main" id="{5EBA7721-69EE-B6BE-E0A1-AC1FF9B4EF97}"/>
              </a:ext>
            </a:extLst>
          </p:cNvPr>
          <p:cNvGrpSpPr/>
          <p:nvPr/>
        </p:nvGrpSpPr>
        <p:grpSpPr>
          <a:xfrm>
            <a:off x="10296701" y="5335761"/>
            <a:ext cx="294875" cy="1891557"/>
            <a:chOff x="0" y="0"/>
            <a:chExt cx="95104" cy="659044"/>
          </a:xfrm>
        </p:grpSpPr>
        <p:sp>
          <p:nvSpPr>
            <p:cNvPr id="128" name="Freeform 92">
              <a:extLst>
                <a:ext uri="{FF2B5EF4-FFF2-40B4-BE49-F238E27FC236}">
                  <a16:creationId xmlns:a16="http://schemas.microsoft.com/office/drawing/2014/main" id="{3303E067-F0F2-D52D-3A4C-527810F407F7}"/>
                </a:ext>
              </a:extLst>
            </p:cNvPr>
            <p:cNvSpPr/>
            <p:nvPr/>
          </p:nvSpPr>
          <p:spPr>
            <a:xfrm>
              <a:off x="0" y="0"/>
              <a:ext cx="95104" cy="659044"/>
            </a:xfrm>
            <a:custGeom>
              <a:avLst/>
              <a:gdLst/>
              <a:ahLst/>
              <a:cxnLst/>
              <a:rect l="l" t="t" r="r" b="b"/>
              <a:pathLst>
                <a:path w="95104" h="659044">
                  <a:moveTo>
                    <a:pt x="47552" y="0"/>
                  </a:moveTo>
                  <a:lnTo>
                    <a:pt x="47552" y="0"/>
                  </a:lnTo>
                  <a:cubicBezTo>
                    <a:pt x="73814" y="0"/>
                    <a:pt x="95104" y="21290"/>
                    <a:pt x="95104" y="47552"/>
                  </a:cubicBezTo>
                  <a:lnTo>
                    <a:pt x="95104" y="611492"/>
                  </a:lnTo>
                  <a:cubicBezTo>
                    <a:pt x="95104" y="637754"/>
                    <a:pt x="73814" y="659044"/>
                    <a:pt x="47552" y="659044"/>
                  </a:cubicBezTo>
                  <a:lnTo>
                    <a:pt x="47552" y="659044"/>
                  </a:lnTo>
                  <a:cubicBezTo>
                    <a:pt x="21290" y="659044"/>
                    <a:pt x="0" y="637754"/>
                    <a:pt x="0" y="611492"/>
                  </a:cubicBezTo>
                  <a:lnTo>
                    <a:pt x="0" y="47552"/>
                  </a:lnTo>
                  <a:cubicBezTo>
                    <a:pt x="0" y="21290"/>
                    <a:pt x="21290" y="0"/>
                    <a:pt x="47552" y="0"/>
                  </a:cubicBezTo>
                  <a:close/>
                </a:path>
              </a:pathLst>
            </a:custGeom>
            <a:solidFill>
              <a:srgbClr val="E7DED6"/>
            </a:solidFill>
          </p:spPr>
          <p:txBody>
            <a:bodyPr/>
            <a:lstStyle/>
            <a:p>
              <a:endParaRPr lang="en-GB"/>
            </a:p>
          </p:txBody>
        </p:sp>
        <p:sp>
          <p:nvSpPr>
            <p:cNvPr id="129" name="TextBox 93">
              <a:extLst>
                <a:ext uri="{FF2B5EF4-FFF2-40B4-BE49-F238E27FC236}">
                  <a16:creationId xmlns:a16="http://schemas.microsoft.com/office/drawing/2014/main" id="{3AAB1FE7-6AE1-EACD-BEC6-245CEC7821A0}"/>
                </a:ext>
              </a:extLst>
            </p:cNvPr>
            <p:cNvSpPr txBox="1"/>
            <p:nvPr/>
          </p:nvSpPr>
          <p:spPr>
            <a:xfrm>
              <a:off x="0" y="-38100"/>
              <a:ext cx="95104" cy="697144"/>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30" name="Group 97">
            <a:extLst>
              <a:ext uri="{FF2B5EF4-FFF2-40B4-BE49-F238E27FC236}">
                <a16:creationId xmlns:a16="http://schemas.microsoft.com/office/drawing/2014/main" id="{48C40247-C80E-DFCA-96B0-7522FE319712}"/>
              </a:ext>
            </a:extLst>
          </p:cNvPr>
          <p:cNvGrpSpPr/>
          <p:nvPr/>
        </p:nvGrpSpPr>
        <p:grpSpPr>
          <a:xfrm>
            <a:off x="10296701" y="7599360"/>
            <a:ext cx="294875" cy="1624432"/>
            <a:chOff x="0" y="0"/>
            <a:chExt cx="95104" cy="565974"/>
          </a:xfrm>
        </p:grpSpPr>
        <p:sp>
          <p:nvSpPr>
            <p:cNvPr id="131" name="Freeform 98">
              <a:extLst>
                <a:ext uri="{FF2B5EF4-FFF2-40B4-BE49-F238E27FC236}">
                  <a16:creationId xmlns:a16="http://schemas.microsoft.com/office/drawing/2014/main" id="{AFE7E2B5-8087-A082-D707-1930F64FDBC4}"/>
                </a:ext>
              </a:extLst>
            </p:cNvPr>
            <p:cNvSpPr/>
            <p:nvPr/>
          </p:nvSpPr>
          <p:spPr>
            <a:xfrm>
              <a:off x="0" y="0"/>
              <a:ext cx="95104" cy="565974"/>
            </a:xfrm>
            <a:custGeom>
              <a:avLst/>
              <a:gdLst/>
              <a:ahLst/>
              <a:cxnLst/>
              <a:rect l="l" t="t" r="r" b="b"/>
              <a:pathLst>
                <a:path w="95104" h="565974">
                  <a:moveTo>
                    <a:pt x="47552" y="0"/>
                  </a:moveTo>
                  <a:lnTo>
                    <a:pt x="47552" y="0"/>
                  </a:lnTo>
                  <a:cubicBezTo>
                    <a:pt x="73814" y="0"/>
                    <a:pt x="95104" y="21290"/>
                    <a:pt x="95104" y="47552"/>
                  </a:cubicBezTo>
                  <a:lnTo>
                    <a:pt x="95104" y="518422"/>
                  </a:lnTo>
                  <a:cubicBezTo>
                    <a:pt x="95104" y="544684"/>
                    <a:pt x="73814" y="565974"/>
                    <a:pt x="47552" y="565974"/>
                  </a:cubicBezTo>
                  <a:lnTo>
                    <a:pt x="47552" y="565974"/>
                  </a:lnTo>
                  <a:cubicBezTo>
                    <a:pt x="21290" y="565974"/>
                    <a:pt x="0" y="544684"/>
                    <a:pt x="0" y="518422"/>
                  </a:cubicBezTo>
                  <a:lnTo>
                    <a:pt x="0" y="47552"/>
                  </a:lnTo>
                  <a:cubicBezTo>
                    <a:pt x="0" y="21290"/>
                    <a:pt x="21290" y="0"/>
                    <a:pt x="47552" y="0"/>
                  </a:cubicBezTo>
                  <a:close/>
                </a:path>
              </a:pathLst>
            </a:custGeom>
            <a:solidFill>
              <a:srgbClr val="FBF6EF"/>
            </a:solidFill>
          </p:spPr>
          <p:txBody>
            <a:bodyPr/>
            <a:lstStyle/>
            <a:p>
              <a:endParaRPr lang="en-GB"/>
            </a:p>
          </p:txBody>
        </p:sp>
        <p:sp>
          <p:nvSpPr>
            <p:cNvPr id="132" name="TextBox 99">
              <a:extLst>
                <a:ext uri="{FF2B5EF4-FFF2-40B4-BE49-F238E27FC236}">
                  <a16:creationId xmlns:a16="http://schemas.microsoft.com/office/drawing/2014/main" id="{16CE1998-1B3D-E61C-3C85-38484E6906A7}"/>
                </a:ext>
              </a:extLst>
            </p:cNvPr>
            <p:cNvSpPr txBox="1"/>
            <p:nvPr/>
          </p:nvSpPr>
          <p:spPr>
            <a:xfrm>
              <a:off x="0" y="-38100"/>
              <a:ext cx="95104" cy="604074"/>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34" name="TextBox 43">
            <a:extLst>
              <a:ext uri="{FF2B5EF4-FFF2-40B4-BE49-F238E27FC236}">
                <a16:creationId xmlns:a16="http://schemas.microsoft.com/office/drawing/2014/main" id="{E05E7DD8-C2FB-D285-9436-6E83490AE340}"/>
              </a:ext>
            </a:extLst>
          </p:cNvPr>
          <p:cNvSpPr txBox="1"/>
          <p:nvPr/>
        </p:nvSpPr>
        <p:spPr>
          <a:xfrm>
            <a:off x="10736494" y="5829300"/>
            <a:ext cx="1607906" cy="630237"/>
          </a:xfrm>
          <a:prstGeom prst="rect">
            <a:avLst/>
          </a:prstGeom>
        </p:spPr>
        <p:txBody>
          <a:bodyPr wrap="square" lIns="0" tIns="0" rIns="0" bIns="0" rtlCol="0" anchor="t">
            <a:spAutoFit/>
          </a:bodyPr>
          <a:lstStyle/>
          <a:p>
            <a:pPr algn="just">
              <a:lnSpc>
                <a:spcPts val="2519"/>
              </a:lnSpc>
              <a:spcBef>
                <a:spcPct val="0"/>
              </a:spcBef>
            </a:pPr>
            <a:r>
              <a:rPr lang="en-US" sz="1799" b="1" dirty="0">
                <a:solidFill>
                  <a:srgbClr val="000000"/>
                </a:solidFill>
                <a:latin typeface="TT Fors Bold"/>
                <a:sym typeface="TT Fors Bold"/>
              </a:rPr>
              <a:t>Job category by earning</a:t>
            </a:r>
          </a:p>
        </p:txBody>
      </p:sp>
      <p:sp>
        <p:nvSpPr>
          <p:cNvPr id="135" name="TextBox 43">
            <a:extLst>
              <a:ext uri="{FF2B5EF4-FFF2-40B4-BE49-F238E27FC236}">
                <a16:creationId xmlns:a16="http://schemas.microsoft.com/office/drawing/2014/main" id="{4630F34B-A789-A414-2872-598322428437}"/>
              </a:ext>
            </a:extLst>
          </p:cNvPr>
          <p:cNvSpPr txBox="1"/>
          <p:nvPr/>
        </p:nvSpPr>
        <p:spPr>
          <a:xfrm>
            <a:off x="10688151" y="7910173"/>
            <a:ext cx="1512434" cy="950838"/>
          </a:xfrm>
          <a:prstGeom prst="rect">
            <a:avLst/>
          </a:prstGeom>
        </p:spPr>
        <p:txBody>
          <a:bodyPr wrap="square" lIns="0" tIns="0" rIns="0" bIns="0" rtlCol="0" anchor="t">
            <a:spAutoFit/>
          </a:bodyPr>
          <a:lstStyle/>
          <a:p>
            <a:pPr algn="just">
              <a:lnSpc>
                <a:spcPts val="2519"/>
              </a:lnSpc>
              <a:spcBef>
                <a:spcPct val="0"/>
              </a:spcBef>
            </a:pPr>
            <a:r>
              <a:rPr lang="en-GB" sz="1799" b="1" dirty="0">
                <a:solidFill>
                  <a:srgbClr val="000000"/>
                </a:solidFill>
                <a:latin typeface="TT Fors Bold"/>
              </a:rPr>
              <a:t>Job success rate </a:t>
            </a:r>
          </a:p>
          <a:p>
            <a:pPr algn="just">
              <a:lnSpc>
                <a:spcPts val="2519"/>
              </a:lnSpc>
              <a:spcBef>
                <a:spcPct val="0"/>
              </a:spcBef>
            </a:pPr>
            <a:r>
              <a:rPr lang="en-GB" sz="1799" b="1" dirty="0">
                <a:solidFill>
                  <a:srgbClr val="000000"/>
                </a:solidFill>
                <a:latin typeface="TT Fors Bold"/>
              </a:rPr>
              <a:t>by platform</a:t>
            </a:r>
            <a:endParaRPr lang="en-US" sz="1799" b="1" dirty="0">
              <a:solidFill>
                <a:srgbClr val="000000"/>
              </a:solidFill>
              <a:latin typeface="TT Fors Bold"/>
              <a:sym typeface="TT Fors Bold"/>
            </a:endParaRPr>
          </a:p>
        </p:txBody>
      </p:sp>
      <p:grpSp>
        <p:nvGrpSpPr>
          <p:cNvPr id="136" name="Group 5">
            <a:extLst>
              <a:ext uri="{FF2B5EF4-FFF2-40B4-BE49-F238E27FC236}">
                <a16:creationId xmlns:a16="http://schemas.microsoft.com/office/drawing/2014/main" id="{D8C51140-6FC1-5DE5-EDFA-5E9BDF126A63}"/>
              </a:ext>
            </a:extLst>
          </p:cNvPr>
          <p:cNvGrpSpPr/>
          <p:nvPr/>
        </p:nvGrpSpPr>
        <p:grpSpPr>
          <a:xfrm>
            <a:off x="9283219" y="3505788"/>
            <a:ext cx="897860" cy="893794"/>
            <a:chOff x="0" y="0"/>
            <a:chExt cx="812800" cy="812800"/>
          </a:xfrm>
        </p:grpSpPr>
        <p:sp>
          <p:nvSpPr>
            <p:cNvPr id="137" name="Freeform 6">
              <a:extLst>
                <a:ext uri="{FF2B5EF4-FFF2-40B4-BE49-F238E27FC236}">
                  <a16:creationId xmlns:a16="http://schemas.microsoft.com/office/drawing/2014/main" id="{2AB9D3F1-842D-3F1A-4201-A5398243E87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8D54"/>
            </a:solidFill>
          </p:spPr>
          <p:txBody>
            <a:bodyPr/>
            <a:lstStyle/>
            <a:p>
              <a:endParaRPr lang="en-GB"/>
            </a:p>
          </p:txBody>
        </p:sp>
        <p:sp>
          <p:nvSpPr>
            <p:cNvPr id="138" name="TextBox 7">
              <a:extLst>
                <a:ext uri="{FF2B5EF4-FFF2-40B4-BE49-F238E27FC236}">
                  <a16:creationId xmlns:a16="http://schemas.microsoft.com/office/drawing/2014/main" id="{00F421BF-A45C-6BC5-3921-B0DBC21D06E7}"/>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u="none" strike="noStrike" dirty="0">
                  <a:solidFill>
                    <a:srgbClr val="122359"/>
                  </a:solidFill>
                  <a:latin typeface="TT Fors Bold"/>
                  <a:ea typeface="TT Fors Bold"/>
                  <a:cs typeface="TT Fors Bold"/>
                  <a:sym typeface="TT Fors Bold"/>
                </a:rPr>
                <a:t>07</a:t>
              </a:r>
            </a:p>
          </p:txBody>
        </p:sp>
      </p:grpSp>
      <p:grpSp>
        <p:nvGrpSpPr>
          <p:cNvPr id="139" name="Group 11">
            <a:extLst>
              <a:ext uri="{FF2B5EF4-FFF2-40B4-BE49-F238E27FC236}">
                <a16:creationId xmlns:a16="http://schemas.microsoft.com/office/drawing/2014/main" id="{11E9480F-61EF-72DE-F077-F7CAFCEF29FE}"/>
              </a:ext>
            </a:extLst>
          </p:cNvPr>
          <p:cNvGrpSpPr/>
          <p:nvPr/>
        </p:nvGrpSpPr>
        <p:grpSpPr>
          <a:xfrm>
            <a:off x="9283219" y="5718450"/>
            <a:ext cx="897860" cy="893794"/>
            <a:chOff x="0" y="0"/>
            <a:chExt cx="812800" cy="812800"/>
          </a:xfrm>
        </p:grpSpPr>
        <p:sp>
          <p:nvSpPr>
            <p:cNvPr id="140" name="Freeform 12">
              <a:extLst>
                <a:ext uri="{FF2B5EF4-FFF2-40B4-BE49-F238E27FC236}">
                  <a16:creationId xmlns:a16="http://schemas.microsoft.com/office/drawing/2014/main" id="{2190C660-A89A-5B89-62DB-1F4B435047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7DED6"/>
            </a:solidFill>
          </p:spPr>
          <p:txBody>
            <a:bodyPr/>
            <a:lstStyle/>
            <a:p>
              <a:endParaRPr lang="en-GB"/>
            </a:p>
          </p:txBody>
        </p:sp>
        <p:sp>
          <p:nvSpPr>
            <p:cNvPr id="141" name="TextBox 13">
              <a:extLst>
                <a:ext uri="{FF2B5EF4-FFF2-40B4-BE49-F238E27FC236}">
                  <a16:creationId xmlns:a16="http://schemas.microsoft.com/office/drawing/2014/main" id="{52EAD5D6-D5BD-3D16-2A5E-0BF7BAB8828D}"/>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u="none" strike="noStrike" dirty="0">
                  <a:solidFill>
                    <a:srgbClr val="122359"/>
                  </a:solidFill>
                  <a:latin typeface="TT Fors Bold"/>
                  <a:ea typeface="TT Fors Bold"/>
                  <a:cs typeface="TT Fors Bold"/>
                  <a:sym typeface="TT Fors Bold"/>
                </a:rPr>
                <a:t>08</a:t>
              </a:r>
            </a:p>
          </p:txBody>
        </p:sp>
      </p:grpSp>
      <p:grpSp>
        <p:nvGrpSpPr>
          <p:cNvPr id="142" name="Group 17">
            <a:extLst>
              <a:ext uri="{FF2B5EF4-FFF2-40B4-BE49-F238E27FC236}">
                <a16:creationId xmlns:a16="http://schemas.microsoft.com/office/drawing/2014/main" id="{82726BA1-BD02-F5CE-339E-1966BA6C4CD4}"/>
              </a:ext>
            </a:extLst>
          </p:cNvPr>
          <p:cNvGrpSpPr/>
          <p:nvPr/>
        </p:nvGrpSpPr>
        <p:grpSpPr>
          <a:xfrm>
            <a:off x="9299808" y="7936136"/>
            <a:ext cx="897860" cy="893794"/>
            <a:chOff x="0" y="0"/>
            <a:chExt cx="812800" cy="812800"/>
          </a:xfrm>
        </p:grpSpPr>
        <p:sp>
          <p:nvSpPr>
            <p:cNvPr id="143" name="Freeform 18">
              <a:extLst>
                <a:ext uri="{FF2B5EF4-FFF2-40B4-BE49-F238E27FC236}">
                  <a16:creationId xmlns:a16="http://schemas.microsoft.com/office/drawing/2014/main" id="{82AD0888-6540-D175-AFB3-C6A7156BD4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BF6EF"/>
            </a:solidFill>
          </p:spPr>
          <p:txBody>
            <a:bodyPr/>
            <a:lstStyle/>
            <a:p>
              <a:endParaRPr lang="en-GB"/>
            </a:p>
          </p:txBody>
        </p:sp>
        <p:sp>
          <p:nvSpPr>
            <p:cNvPr id="144" name="TextBox 19">
              <a:extLst>
                <a:ext uri="{FF2B5EF4-FFF2-40B4-BE49-F238E27FC236}">
                  <a16:creationId xmlns:a16="http://schemas.microsoft.com/office/drawing/2014/main" id="{1C5C3E77-9575-2D51-C85C-11C849B63D7C}"/>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u="none" strike="noStrike" dirty="0">
                  <a:solidFill>
                    <a:srgbClr val="122359"/>
                  </a:solidFill>
                  <a:latin typeface="TT Fors Bold"/>
                  <a:ea typeface="TT Fors Bold"/>
                  <a:cs typeface="TT Fors Bold"/>
                  <a:sym typeface="TT Fors Bold"/>
                </a:rPr>
                <a:t>09</a:t>
              </a:r>
            </a:p>
          </p:txBody>
        </p:sp>
      </p:grpSp>
      <p:sp>
        <p:nvSpPr>
          <p:cNvPr id="145" name="Freeform 21">
            <a:extLst>
              <a:ext uri="{FF2B5EF4-FFF2-40B4-BE49-F238E27FC236}">
                <a16:creationId xmlns:a16="http://schemas.microsoft.com/office/drawing/2014/main" id="{789F2AA1-A874-6A78-7A5C-0C46770AA336}"/>
              </a:ext>
            </a:extLst>
          </p:cNvPr>
          <p:cNvSpPr/>
          <p:nvPr/>
        </p:nvSpPr>
        <p:spPr>
          <a:xfrm>
            <a:off x="13941456" y="4189459"/>
            <a:ext cx="1914710" cy="668512"/>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146" name="Freeform 23">
            <a:extLst>
              <a:ext uri="{FF2B5EF4-FFF2-40B4-BE49-F238E27FC236}">
                <a16:creationId xmlns:a16="http://schemas.microsoft.com/office/drawing/2014/main" id="{D69E64AC-5FB4-7324-6724-89E5D7F17B30}"/>
              </a:ext>
            </a:extLst>
          </p:cNvPr>
          <p:cNvSpPr/>
          <p:nvPr/>
        </p:nvSpPr>
        <p:spPr>
          <a:xfrm>
            <a:off x="13941456" y="6407145"/>
            <a:ext cx="1912142" cy="668512"/>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147" name="Group 27">
            <a:extLst>
              <a:ext uri="{FF2B5EF4-FFF2-40B4-BE49-F238E27FC236}">
                <a16:creationId xmlns:a16="http://schemas.microsoft.com/office/drawing/2014/main" id="{E42CE653-E9D4-2FD7-B3F9-736006006822}"/>
              </a:ext>
            </a:extLst>
          </p:cNvPr>
          <p:cNvGrpSpPr/>
          <p:nvPr/>
        </p:nvGrpSpPr>
        <p:grpSpPr>
          <a:xfrm>
            <a:off x="13944600" y="3343371"/>
            <a:ext cx="1914709" cy="1296034"/>
            <a:chOff x="0" y="0"/>
            <a:chExt cx="1174449" cy="451556"/>
          </a:xfrm>
        </p:grpSpPr>
        <p:sp>
          <p:nvSpPr>
            <p:cNvPr id="148" name="Freeform 28">
              <a:extLst>
                <a:ext uri="{FF2B5EF4-FFF2-40B4-BE49-F238E27FC236}">
                  <a16:creationId xmlns:a16="http://schemas.microsoft.com/office/drawing/2014/main" id="{5AD84F24-3B2D-E591-4348-85CD12902C87}"/>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49" name="TextBox 29">
              <a:extLst>
                <a:ext uri="{FF2B5EF4-FFF2-40B4-BE49-F238E27FC236}">
                  <a16:creationId xmlns:a16="http://schemas.microsoft.com/office/drawing/2014/main" id="{8BEC527E-5892-DCE4-D2E7-9385D0E75629}"/>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grpSp>
        <p:nvGrpSpPr>
          <p:cNvPr id="150" name="Group 33">
            <a:extLst>
              <a:ext uri="{FF2B5EF4-FFF2-40B4-BE49-F238E27FC236}">
                <a16:creationId xmlns:a16="http://schemas.microsoft.com/office/drawing/2014/main" id="{BAAD50EC-B54F-B04C-5703-F34E45827521}"/>
              </a:ext>
            </a:extLst>
          </p:cNvPr>
          <p:cNvGrpSpPr/>
          <p:nvPr/>
        </p:nvGrpSpPr>
        <p:grpSpPr>
          <a:xfrm>
            <a:off x="13944601" y="5561057"/>
            <a:ext cx="1912142" cy="1296034"/>
            <a:chOff x="0" y="0"/>
            <a:chExt cx="1174449" cy="451556"/>
          </a:xfrm>
        </p:grpSpPr>
        <p:sp>
          <p:nvSpPr>
            <p:cNvPr id="151" name="Freeform 34">
              <a:extLst>
                <a:ext uri="{FF2B5EF4-FFF2-40B4-BE49-F238E27FC236}">
                  <a16:creationId xmlns:a16="http://schemas.microsoft.com/office/drawing/2014/main" id="{56C27C2F-7FEA-3DC7-0D47-A4A1C173D7BD}"/>
                </a:ext>
              </a:extLst>
            </p:cNvPr>
            <p:cNvSpPr/>
            <p:nvPr/>
          </p:nvSpPr>
          <p:spPr>
            <a:xfrm>
              <a:off x="0" y="0"/>
              <a:ext cx="1174449" cy="451556"/>
            </a:xfrm>
            <a:custGeom>
              <a:avLst/>
              <a:gdLst/>
              <a:ahLst/>
              <a:cxnLst/>
              <a:rect l="l" t="t" r="r" b="b"/>
              <a:pathLst>
                <a:path w="1174449" h="451556">
                  <a:moveTo>
                    <a:pt x="34723" y="0"/>
                  </a:moveTo>
                  <a:lnTo>
                    <a:pt x="1139726" y="0"/>
                  </a:lnTo>
                  <a:cubicBezTo>
                    <a:pt x="1158903" y="0"/>
                    <a:pt x="1174449" y="15546"/>
                    <a:pt x="1174449" y="34723"/>
                  </a:cubicBezTo>
                  <a:lnTo>
                    <a:pt x="1174449" y="416833"/>
                  </a:lnTo>
                  <a:cubicBezTo>
                    <a:pt x="1174449" y="426042"/>
                    <a:pt x="1170791" y="434874"/>
                    <a:pt x="1164279" y="441385"/>
                  </a:cubicBezTo>
                  <a:cubicBezTo>
                    <a:pt x="1157767" y="447897"/>
                    <a:pt x="1148935" y="451556"/>
                    <a:pt x="1139726" y="451556"/>
                  </a:cubicBezTo>
                  <a:lnTo>
                    <a:pt x="34723" y="451556"/>
                  </a:lnTo>
                  <a:cubicBezTo>
                    <a:pt x="25514" y="451556"/>
                    <a:pt x="16682" y="447897"/>
                    <a:pt x="10170" y="441385"/>
                  </a:cubicBezTo>
                  <a:cubicBezTo>
                    <a:pt x="3658" y="434874"/>
                    <a:pt x="0" y="426042"/>
                    <a:pt x="0" y="416833"/>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52" name="TextBox 35">
              <a:extLst>
                <a:ext uri="{FF2B5EF4-FFF2-40B4-BE49-F238E27FC236}">
                  <a16:creationId xmlns:a16="http://schemas.microsoft.com/office/drawing/2014/main" id="{8A8D3AF3-B26F-BE60-177B-909E30370EFC}"/>
                </a:ext>
              </a:extLst>
            </p:cNvPr>
            <p:cNvSpPr txBox="1"/>
            <p:nvPr/>
          </p:nvSpPr>
          <p:spPr>
            <a:xfrm>
              <a:off x="0" y="-38100"/>
              <a:ext cx="1174449" cy="489656"/>
            </a:xfrm>
            <a:prstGeom prst="rect">
              <a:avLst/>
            </a:prstGeom>
          </p:spPr>
          <p:txBody>
            <a:bodyPr lIns="50800" tIns="50800" rIns="50800" bIns="50800" rtlCol="0" anchor="ctr"/>
            <a:lstStyle/>
            <a:p>
              <a:pPr algn="ctr">
                <a:lnSpc>
                  <a:spcPts val="2520"/>
                </a:lnSpc>
              </a:pPr>
              <a:endParaRPr/>
            </a:p>
          </p:txBody>
        </p:sp>
      </p:grpSp>
      <p:sp>
        <p:nvSpPr>
          <p:cNvPr id="176" name="TextBox 175">
            <a:extLst>
              <a:ext uri="{FF2B5EF4-FFF2-40B4-BE49-F238E27FC236}">
                <a16:creationId xmlns:a16="http://schemas.microsoft.com/office/drawing/2014/main" id="{72EB8351-04C8-449B-0E95-72BBDA321385}"/>
              </a:ext>
            </a:extLst>
          </p:cNvPr>
          <p:cNvSpPr txBox="1"/>
          <p:nvPr/>
        </p:nvSpPr>
        <p:spPr>
          <a:xfrm>
            <a:off x="10690609" y="3314700"/>
            <a:ext cx="1607906" cy="1676741"/>
          </a:xfrm>
          <a:prstGeom prst="rect">
            <a:avLst/>
          </a:prstGeom>
          <a:noFill/>
        </p:spPr>
        <p:txBody>
          <a:bodyPr wrap="square">
            <a:spAutoFit/>
          </a:bodyPr>
          <a:lstStyle/>
          <a:p>
            <a:pPr>
              <a:lnSpc>
                <a:spcPts val="2519"/>
              </a:lnSpc>
              <a:spcBef>
                <a:spcPct val="0"/>
              </a:spcBef>
            </a:pPr>
            <a:r>
              <a:rPr lang="en-GB" sz="1600" b="1" dirty="0">
                <a:solidFill>
                  <a:srgbClr val="000000"/>
                </a:solidFill>
                <a:latin typeface="TT Fors Bold"/>
              </a:rPr>
              <a:t>Marketing Spend and Earnings by Job Category</a:t>
            </a:r>
            <a:endParaRPr lang="en-US" sz="1600" b="1" dirty="0">
              <a:solidFill>
                <a:srgbClr val="000000"/>
              </a:solidFill>
              <a:latin typeface="TT Fors Bold"/>
              <a:sym typeface="TT Fors Bold"/>
            </a:endParaRPr>
          </a:p>
          <a:p>
            <a:pPr>
              <a:lnSpc>
                <a:spcPts val="2519"/>
              </a:lnSpc>
              <a:spcBef>
                <a:spcPct val="0"/>
              </a:spcBef>
            </a:pPr>
            <a:endParaRPr lang="en-GB" sz="1600" b="1" dirty="0">
              <a:solidFill>
                <a:srgbClr val="000000"/>
              </a:solidFill>
              <a:latin typeface="TT Fors Bold"/>
            </a:endParaRPr>
          </a:p>
        </p:txBody>
      </p:sp>
      <p:sp>
        <p:nvSpPr>
          <p:cNvPr id="178" name="TextBox 177">
            <a:extLst>
              <a:ext uri="{FF2B5EF4-FFF2-40B4-BE49-F238E27FC236}">
                <a16:creationId xmlns:a16="http://schemas.microsoft.com/office/drawing/2014/main" id="{9BBABF9A-7074-1057-B6DE-6EB2286320C2}"/>
              </a:ext>
            </a:extLst>
          </p:cNvPr>
          <p:cNvSpPr txBox="1"/>
          <p:nvPr/>
        </p:nvSpPr>
        <p:spPr>
          <a:xfrm>
            <a:off x="14093574" y="3328458"/>
            <a:ext cx="1607906" cy="1323439"/>
          </a:xfrm>
          <a:prstGeom prst="rect">
            <a:avLst/>
          </a:prstGeom>
          <a:noFill/>
        </p:spPr>
        <p:txBody>
          <a:bodyPr wrap="square">
            <a:spAutoFit/>
          </a:bodyPr>
          <a:lstStyle/>
          <a:p>
            <a:r>
              <a:rPr lang="en-GB" sz="1600" b="1" dirty="0">
                <a:solidFill>
                  <a:srgbClr val="000000"/>
                </a:solidFill>
                <a:latin typeface="TT Fors Bold"/>
              </a:rPr>
              <a:t>Average hourly rate by experience level</a:t>
            </a:r>
          </a:p>
        </p:txBody>
      </p:sp>
      <p:sp>
        <p:nvSpPr>
          <p:cNvPr id="180" name="TextBox 179">
            <a:extLst>
              <a:ext uri="{FF2B5EF4-FFF2-40B4-BE49-F238E27FC236}">
                <a16:creationId xmlns:a16="http://schemas.microsoft.com/office/drawing/2014/main" id="{7EB87F4E-EAA6-7AF5-D3C0-9B10EC315DA3}"/>
              </a:ext>
            </a:extLst>
          </p:cNvPr>
          <p:cNvSpPr txBox="1"/>
          <p:nvPr/>
        </p:nvSpPr>
        <p:spPr>
          <a:xfrm>
            <a:off x="13966037" y="5868769"/>
            <a:ext cx="1316397" cy="646331"/>
          </a:xfrm>
          <a:prstGeom prst="rect">
            <a:avLst/>
          </a:prstGeom>
          <a:noFill/>
        </p:spPr>
        <p:txBody>
          <a:bodyPr wrap="square">
            <a:spAutoFit/>
          </a:bodyPr>
          <a:lstStyle/>
          <a:p>
            <a:r>
              <a:rPr lang="en-GB" sz="1799" b="1" dirty="0">
                <a:solidFill>
                  <a:srgbClr val="000000"/>
                </a:solidFill>
                <a:latin typeface="TT Fors Bold"/>
              </a:rPr>
              <a:t>Earnings by region</a:t>
            </a:r>
          </a:p>
        </p:txBody>
      </p:sp>
      <p:grpSp>
        <p:nvGrpSpPr>
          <p:cNvPr id="181" name="Group 2">
            <a:extLst>
              <a:ext uri="{FF2B5EF4-FFF2-40B4-BE49-F238E27FC236}">
                <a16:creationId xmlns:a16="http://schemas.microsoft.com/office/drawing/2014/main" id="{726EBA3E-19EB-F7A3-FB9F-8EECEA03CD9C}"/>
              </a:ext>
            </a:extLst>
          </p:cNvPr>
          <p:cNvGrpSpPr/>
          <p:nvPr/>
        </p:nvGrpSpPr>
        <p:grpSpPr>
          <a:xfrm>
            <a:off x="12649200" y="3612624"/>
            <a:ext cx="875980" cy="857959"/>
            <a:chOff x="0" y="0"/>
            <a:chExt cx="812800" cy="812800"/>
          </a:xfrm>
        </p:grpSpPr>
        <p:sp>
          <p:nvSpPr>
            <p:cNvPr id="182" name="Freeform 3">
              <a:extLst>
                <a:ext uri="{FF2B5EF4-FFF2-40B4-BE49-F238E27FC236}">
                  <a16:creationId xmlns:a16="http://schemas.microsoft.com/office/drawing/2014/main" id="{5126A3DE-A1E5-5364-A560-F2955E46704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2359"/>
            </a:solidFill>
          </p:spPr>
          <p:txBody>
            <a:bodyPr/>
            <a:lstStyle/>
            <a:p>
              <a:endParaRPr lang="en-GB"/>
            </a:p>
          </p:txBody>
        </p:sp>
        <p:sp>
          <p:nvSpPr>
            <p:cNvPr id="183" name="TextBox 4">
              <a:extLst>
                <a:ext uri="{FF2B5EF4-FFF2-40B4-BE49-F238E27FC236}">
                  <a16:creationId xmlns:a16="http://schemas.microsoft.com/office/drawing/2014/main" id="{563F8F24-882B-8ED3-0B62-E981DDCA59C5}"/>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dirty="0">
                  <a:solidFill>
                    <a:srgbClr val="FFFFFF"/>
                  </a:solidFill>
                  <a:latin typeface="TT Fors Bold"/>
                  <a:ea typeface="TT Fors Bold"/>
                  <a:cs typeface="TT Fors Bold"/>
                  <a:sym typeface="TT Fors Bold"/>
                </a:rPr>
                <a:t>10</a:t>
              </a:r>
            </a:p>
          </p:txBody>
        </p:sp>
      </p:grpSp>
      <p:grpSp>
        <p:nvGrpSpPr>
          <p:cNvPr id="184" name="Group 8">
            <a:extLst>
              <a:ext uri="{FF2B5EF4-FFF2-40B4-BE49-F238E27FC236}">
                <a16:creationId xmlns:a16="http://schemas.microsoft.com/office/drawing/2014/main" id="{F6B1CC31-696E-5D0C-E959-4A9B8FBA508D}"/>
              </a:ext>
            </a:extLst>
          </p:cNvPr>
          <p:cNvGrpSpPr/>
          <p:nvPr/>
        </p:nvGrpSpPr>
        <p:grpSpPr>
          <a:xfrm>
            <a:off x="12649200" y="5697285"/>
            <a:ext cx="888813" cy="860369"/>
            <a:chOff x="0" y="0"/>
            <a:chExt cx="812800" cy="812800"/>
          </a:xfrm>
        </p:grpSpPr>
        <p:sp>
          <p:nvSpPr>
            <p:cNvPr id="185" name="Freeform 9">
              <a:extLst>
                <a:ext uri="{FF2B5EF4-FFF2-40B4-BE49-F238E27FC236}">
                  <a16:creationId xmlns:a16="http://schemas.microsoft.com/office/drawing/2014/main" id="{06D8AB42-A0BF-E6A5-04DA-9C5E280A0EB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6198"/>
            </a:solidFill>
          </p:spPr>
          <p:txBody>
            <a:bodyPr/>
            <a:lstStyle/>
            <a:p>
              <a:endParaRPr lang="en-GB"/>
            </a:p>
          </p:txBody>
        </p:sp>
        <p:sp>
          <p:nvSpPr>
            <p:cNvPr id="186" name="TextBox 10">
              <a:extLst>
                <a:ext uri="{FF2B5EF4-FFF2-40B4-BE49-F238E27FC236}">
                  <a16:creationId xmlns:a16="http://schemas.microsoft.com/office/drawing/2014/main" id="{865D1F9C-2E2D-E527-416F-FD89FC67FBDC}"/>
                </a:ext>
              </a:extLst>
            </p:cNvPr>
            <p:cNvSpPr txBox="1"/>
            <p:nvPr/>
          </p:nvSpPr>
          <p:spPr>
            <a:xfrm>
              <a:off x="76200" y="28575"/>
              <a:ext cx="660400" cy="708025"/>
            </a:xfrm>
            <a:prstGeom prst="rect">
              <a:avLst/>
            </a:prstGeom>
          </p:spPr>
          <p:txBody>
            <a:bodyPr lIns="50800" tIns="50800" rIns="50800" bIns="50800" rtlCol="0" anchor="ctr"/>
            <a:lstStyle/>
            <a:p>
              <a:pPr marL="0" lvl="0" indent="0" algn="ctr">
                <a:lnSpc>
                  <a:spcPts val="3779"/>
                </a:lnSpc>
                <a:spcBef>
                  <a:spcPct val="0"/>
                </a:spcBef>
              </a:pPr>
              <a:r>
                <a:rPr lang="en-US" sz="2700" b="1" dirty="0">
                  <a:solidFill>
                    <a:srgbClr val="FFFFFF"/>
                  </a:solidFill>
                  <a:latin typeface="TT Fors Bold"/>
                  <a:ea typeface="TT Fors Bold"/>
                  <a:cs typeface="TT Fors Bold"/>
                  <a:sym typeface="TT Fors Bold"/>
                </a:rPr>
                <a:t>11</a:t>
              </a:r>
            </a:p>
          </p:txBody>
        </p:sp>
      </p:grpSp>
      <p:grpSp>
        <p:nvGrpSpPr>
          <p:cNvPr id="187" name="Group 82">
            <a:extLst>
              <a:ext uri="{FF2B5EF4-FFF2-40B4-BE49-F238E27FC236}">
                <a16:creationId xmlns:a16="http://schemas.microsoft.com/office/drawing/2014/main" id="{70CC003E-B682-D7ED-2688-E5BDA3D37AF7}"/>
              </a:ext>
            </a:extLst>
          </p:cNvPr>
          <p:cNvGrpSpPr/>
          <p:nvPr/>
        </p:nvGrpSpPr>
        <p:grpSpPr>
          <a:xfrm>
            <a:off x="13659748" y="3054145"/>
            <a:ext cx="282979" cy="1831115"/>
            <a:chOff x="0" y="0"/>
            <a:chExt cx="95104" cy="687431"/>
          </a:xfrm>
        </p:grpSpPr>
        <p:sp>
          <p:nvSpPr>
            <p:cNvPr id="188" name="Freeform 83">
              <a:extLst>
                <a:ext uri="{FF2B5EF4-FFF2-40B4-BE49-F238E27FC236}">
                  <a16:creationId xmlns:a16="http://schemas.microsoft.com/office/drawing/2014/main" id="{3CEAD35D-3509-551D-4A12-7E38123F4EF3}"/>
                </a:ext>
              </a:extLst>
            </p:cNvPr>
            <p:cNvSpPr/>
            <p:nvPr/>
          </p:nvSpPr>
          <p:spPr>
            <a:xfrm>
              <a:off x="0" y="0"/>
              <a:ext cx="95104" cy="687431"/>
            </a:xfrm>
            <a:custGeom>
              <a:avLst/>
              <a:gdLst/>
              <a:ahLst/>
              <a:cxnLst/>
              <a:rect l="l" t="t" r="r" b="b"/>
              <a:pathLst>
                <a:path w="95104" h="687431">
                  <a:moveTo>
                    <a:pt x="47552" y="0"/>
                  </a:moveTo>
                  <a:lnTo>
                    <a:pt x="47552" y="0"/>
                  </a:lnTo>
                  <a:cubicBezTo>
                    <a:pt x="73814" y="0"/>
                    <a:pt x="95104" y="21290"/>
                    <a:pt x="95104" y="47552"/>
                  </a:cubicBezTo>
                  <a:lnTo>
                    <a:pt x="95104" y="639879"/>
                  </a:lnTo>
                  <a:cubicBezTo>
                    <a:pt x="95104" y="666142"/>
                    <a:pt x="73814" y="687431"/>
                    <a:pt x="47552" y="687431"/>
                  </a:cubicBezTo>
                  <a:lnTo>
                    <a:pt x="47552" y="687431"/>
                  </a:lnTo>
                  <a:cubicBezTo>
                    <a:pt x="21290" y="687431"/>
                    <a:pt x="0" y="666142"/>
                    <a:pt x="0" y="639879"/>
                  </a:cubicBezTo>
                  <a:lnTo>
                    <a:pt x="0" y="47552"/>
                  </a:lnTo>
                  <a:cubicBezTo>
                    <a:pt x="0" y="21290"/>
                    <a:pt x="21290" y="0"/>
                    <a:pt x="47552" y="0"/>
                  </a:cubicBezTo>
                  <a:close/>
                </a:path>
              </a:pathLst>
            </a:custGeom>
            <a:solidFill>
              <a:srgbClr val="122359"/>
            </a:solidFill>
          </p:spPr>
          <p:txBody>
            <a:bodyPr/>
            <a:lstStyle/>
            <a:p>
              <a:endParaRPr lang="en-GB"/>
            </a:p>
          </p:txBody>
        </p:sp>
        <p:sp>
          <p:nvSpPr>
            <p:cNvPr id="189" name="TextBox 84">
              <a:extLst>
                <a:ext uri="{FF2B5EF4-FFF2-40B4-BE49-F238E27FC236}">
                  <a16:creationId xmlns:a16="http://schemas.microsoft.com/office/drawing/2014/main" id="{D0E5183B-A48F-128D-A234-FCC44D4C6771}"/>
                </a:ext>
              </a:extLst>
            </p:cNvPr>
            <p:cNvSpPr txBox="1"/>
            <p:nvPr/>
          </p:nvSpPr>
          <p:spPr>
            <a:xfrm>
              <a:off x="0" y="-38100"/>
              <a:ext cx="95104" cy="725531"/>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90" name="Group 88">
            <a:extLst>
              <a:ext uri="{FF2B5EF4-FFF2-40B4-BE49-F238E27FC236}">
                <a16:creationId xmlns:a16="http://schemas.microsoft.com/office/drawing/2014/main" id="{8E9EA6CF-5906-2B83-2249-318DF0A70CE2}"/>
              </a:ext>
            </a:extLst>
          </p:cNvPr>
          <p:cNvGrpSpPr/>
          <p:nvPr/>
        </p:nvGrpSpPr>
        <p:grpSpPr>
          <a:xfrm>
            <a:off x="13659748" y="5338594"/>
            <a:ext cx="282979" cy="1755498"/>
            <a:chOff x="0" y="0"/>
            <a:chExt cx="95104" cy="659044"/>
          </a:xfrm>
        </p:grpSpPr>
        <p:sp>
          <p:nvSpPr>
            <p:cNvPr id="191" name="Freeform 89">
              <a:extLst>
                <a:ext uri="{FF2B5EF4-FFF2-40B4-BE49-F238E27FC236}">
                  <a16:creationId xmlns:a16="http://schemas.microsoft.com/office/drawing/2014/main" id="{53C3AA58-8DC8-1007-8630-2979A10E90D8}"/>
                </a:ext>
              </a:extLst>
            </p:cNvPr>
            <p:cNvSpPr/>
            <p:nvPr/>
          </p:nvSpPr>
          <p:spPr>
            <a:xfrm>
              <a:off x="0" y="0"/>
              <a:ext cx="95104" cy="659044"/>
            </a:xfrm>
            <a:custGeom>
              <a:avLst/>
              <a:gdLst/>
              <a:ahLst/>
              <a:cxnLst/>
              <a:rect l="l" t="t" r="r" b="b"/>
              <a:pathLst>
                <a:path w="95104" h="659044">
                  <a:moveTo>
                    <a:pt x="47552" y="0"/>
                  </a:moveTo>
                  <a:lnTo>
                    <a:pt x="47552" y="0"/>
                  </a:lnTo>
                  <a:cubicBezTo>
                    <a:pt x="73814" y="0"/>
                    <a:pt x="95104" y="21290"/>
                    <a:pt x="95104" y="47552"/>
                  </a:cubicBezTo>
                  <a:lnTo>
                    <a:pt x="95104" y="611492"/>
                  </a:lnTo>
                  <a:cubicBezTo>
                    <a:pt x="95104" y="637754"/>
                    <a:pt x="73814" y="659044"/>
                    <a:pt x="47552" y="659044"/>
                  </a:cubicBezTo>
                  <a:lnTo>
                    <a:pt x="47552" y="659044"/>
                  </a:lnTo>
                  <a:cubicBezTo>
                    <a:pt x="21290" y="659044"/>
                    <a:pt x="0" y="637754"/>
                    <a:pt x="0" y="611492"/>
                  </a:cubicBezTo>
                  <a:lnTo>
                    <a:pt x="0" y="47552"/>
                  </a:lnTo>
                  <a:cubicBezTo>
                    <a:pt x="0" y="21290"/>
                    <a:pt x="21290" y="0"/>
                    <a:pt x="47552" y="0"/>
                  </a:cubicBezTo>
                  <a:close/>
                </a:path>
              </a:pathLst>
            </a:custGeom>
            <a:solidFill>
              <a:srgbClr val="3C6198"/>
            </a:solidFill>
          </p:spPr>
          <p:txBody>
            <a:bodyPr/>
            <a:lstStyle/>
            <a:p>
              <a:endParaRPr lang="en-GB"/>
            </a:p>
          </p:txBody>
        </p:sp>
        <p:sp>
          <p:nvSpPr>
            <p:cNvPr id="192" name="TextBox 90">
              <a:extLst>
                <a:ext uri="{FF2B5EF4-FFF2-40B4-BE49-F238E27FC236}">
                  <a16:creationId xmlns:a16="http://schemas.microsoft.com/office/drawing/2014/main" id="{413F2704-4598-9586-326E-2C1B30368BF0}"/>
                </a:ext>
              </a:extLst>
            </p:cNvPr>
            <p:cNvSpPr txBox="1"/>
            <p:nvPr/>
          </p:nvSpPr>
          <p:spPr>
            <a:xfrm>
              <a:off x="0" y="-38100"/>
              <a:ext cx="95104" cy="697144"/>
            </a:xfrm>
            <a:prstGeom prst="rect">
              <a:avLst/>
            </a:prstGeom>
          </p:spPr>
          <p:txBody>
            <a:bodyPr lIns="50800" tIns="50800" rIns="50800" bIns="50800" rtlCol="0" anchor="ctr"/>
            <a:lstStyle/>
            <a:p>
              <a:pPr marL="0" lvl="0" indent="0" algn="ctr">
                <a:lnSpc>
                  <a:spcPts val="2520"/>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Freeform 2"/>
          <p:cNvSpPr/>
          <p:nvPr/>
        </p:nvSpPr>
        <p:spPr>
          <a:xfrm>
            <a:off x="5457968" y="3987945"/>
            <a:ext cx="7181564" cy="8838848"/>
          </a:xfrm>
          <a:custGeom>
            <a:avLst/>
            <a:gdLst/>
            <a:ahLst/>
            <a:cxnLst/>
            <a:rect l="l" t="t" r="r" b="b"/>
            <a:pathLst>
              <a:path w="7181564" h="8838848">
                <a:moveTo>
                  <a:pt x="0" y="0"/>
                </a:moveTo>
                <a:lnTo>
                  <a:pt x="7181564" y="0"/>
                </a:lnTo>
                <a:lnTo>
                  <a:pt x="7181564" y="8838848"/>
                </a:lnTo>
                <a:lnTo>
                  <a:pt x="0" y="88388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dirty="0"/>
          </a:p>
        </p:txBody>
      </p:sp>
      <p:grpSp>
        <p:nvGrpSpPr>
          <p:cNvPr id="3" name="Group 3"/>
          <p:cNvGrpSpPr/>
          <p:nvPr/>
        </p:nvGrpSpPr>
        <p:grpSpPr>
          <a:xfrm>
            <a:off x="5822871" y="3733187"/>
            <a:ext cx="782594" cy="332282"/>
            <a:chOff x="0" y="0"/>
            <a:chExt cx="1914314" cy="812800"/>
          </a:xfrm>
        </p:grpSpPr>
        <p:sp>
          <p:nvSpPr>
            <p:cNvPr id="4" name="Freeform 4"/>
            <p:cNvSpPr/>
            <p:nvPr/>
          </p:nvSpPr>
          <p:spPr>
            <a:xfrm>
              <a:off x="0" y="0"/>
              <a:ext cx="1914315" cy="812800"/>
            </a:xfrm>
            <a:custGeom>
              <a:avLst/>
              <a:gdLst/>
              <a:ahLst/>
              <a:cxnLst/>
              <a:rect l="l" t="t" r="r" b="b"/>
              <a:pathLst>
                <a:path w="1914315" h="812800">
                  <a:moveTo>
                    <a:pt x="957157" y="0"/>
                  </a:moveTo>
                  <a:cubicBezTo>
                    <a:pt x="428534" y="0"/>
                    <a:pt x="0" y="181951"/>
                    <a:pt x="0" y="406400"/>
                  </a:cubicBezTo>
                  <a:cubicBezTo>
                    <a:pt x="0" y="630849"/>
                    <a:pt x="428534" y="812800"/>
                    <a:pt x="957157" y="812800"/>
                  </a:cubicBezTo>
                  <a:cubicBezTo>
                    <a:pt x="1485781" y="812800"/>
                    <a:pt x="1914315" y="630849"/>
                    <a:pt x="1914315" y="406400"/>
                  </a:cubicBezTo>
                  <a:cubicBezTo>
                    <a:pt x="1914315" y="181951"/>
                    <a:pt x="1485781" y="0"/>
                    <a:pt x="957157" y="0"/>
                  </a:cubicBezTo>
                  <a:lnTo>
                    <a:pt x="957157" y="0"/>
                  </a:lnTo>
                  <a:close/>
                </a:path>
              </a:pathLst>
            </a:custGeom>
            <a:solidFill>
              <a:srgbClr val="3D6298">
                <a:alpha val="26667"/>
              </a:srgbClr>
            </a:solidFill>
            <a:ln cap="rnd">
              <a:noFill/>
              <a:prstDash val="solid"/>
              <a:round/>
            </a:ln>
          </p:spPr>
          <p:txBody>
            <a:bodyPr/>
            <a:lstStyle/>
            <a:p>
              <a:endParaRPr lang="en-GB"/>
            </a:p>
          </p:txBody>
        </p:sp>
        <p:sp>
          <p:nvSpPr>
            <p:cNvPr id="5" name="TextBox 5"/>
            <p:cNvSpPr txBox="1"/>
            <p:nvPr/>
          </p:nvSpPr>
          <p:spPr>
            <a:xfrm>
              <a:off x="179467" y="38100"/>
              <a:ext cx="1555380" cy="698500"/>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6" name="Group 6"/>
          <p:cNvGrpSpPr/>
          <p:nvPr/>
        </p:nvGrpSpPr>
        <p:grpSpPr>
          <a:xfrm>
            <a:off x="12205631" y="3733187"/>
            <a:ext cx="782594" cy="332282"/>
            <a:chOff x="0" y="0"/>
            <a:chExt cx="1914314" cy="812800"/>
          </a:xfrm>
        </p:grpSpPr>
        <p:sp>
          <p:nvSpPr>
            <p:cNvPr id="7" name="Freeform 7"/>
            <p:cNvSpPr/>
            <p:nvPr/>
          </p:nvSpPr>
          <p:spPr>
            <a:xfrm>
              <a:off x="0" y="0"/>
              <a:ext cx="1914315" cy="812800"/>
            </a:xfrm>
            <a:custGeom>
              <a:avLst/>
              <a:gdLst/>
              <a:ahLst/>
              <a:cxnLst/>
              <a:rect l="l" t="t" r="r" b="b"/>
              <a:pathLst>
                <a:path w="1914315" h="812800">
                  <a:moveTo>
                    <a:pt x="957157" y="0"/>
                  </a:moveTo>
                  <a:cubicBezTo>
                    <a:pt x="428534" y="0"/>
                    <a:pt x="0" y="181951"/>
                    <a:pt x="0" y="406400"/>
                  </a:cubicBezTo>
                  <a:cubicBezTo>
                    <a:pt x="0" y="630849"/>
                    <a:pt x="428534" y="812800"/>
                    <a:pt x="957157" y="812800"/>
                  </a:cubicBezTo>
                  <a:cubicBezTo>
                    <a:pt x="1485781" y="812800"/>
                    <a:pt x="1914315" y="630849"/>
                    <a:pt x="1914315" y="406400"/>
                  </a:cubicBezTo>
                  <a:cubicBezTo>
                    <a:pt x="1914315" y="181951"/>
                    <a:pt x="1485781" y="0"/>
                    <a:pt x="957157" y="0"/>
                  </a:cubicBezTo>
                  <a:lnTo>
                    <a:pt x="957157" y="0"/>
                  </a:lnTo>
                  <a:close/>
                </a:path>
              </a:pathLst>
            </a:custGeom>
            <a:solidFill>
              <a:srgbClr val="BEC8DA">
                <a:alpha val="26667"/>
              </a:srgbClr>
            </a:solidFill>
            <a:ln cap="rnd">
              <a:noFill/>
              <a:prstDash val="solid"/>
              <a:round/>
            </a:ln>
          </p:spPr>
          <p:txBody>
            <a:bodyPr/>
            <a:lstStyle/>
            <a:p>
              <a:endParaRPr lang="en-GB"/>
            </a:p>
          </p:txBody>
        </p:sp>
        <p:sp>
          <p:nvSpPr>
            <p:cNvPr id="8" name="TextBox 8"/>
            <p:cNvSpPr txBox="1"/>
            <p:nvPr/>
          </p:nvSpPr>
          <p:spPr>
            <a:xfrm>
              <a:off x="179467" y="38100"/>
              <a:ext cx="1555380" cy="698500"/>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9" name="Group 9"/>
          <p:cNvGrpSpPr/>
          <p:nvPr/>
        </p:nvGrpSpPr>
        <p:grpSpPr>
          <a:xfrm>
            <a:off x="4082506" y="1858327"/>
            <a:ext cx="4263325" cy="1714832"/>
            <a:chOff x="0" y="0"/>
            <a:chExt cx="1122851" cy="451643"/>
          </a:xfrm>
        </p:grpSpPr>
        <p:sp>
          <p:nvSpPr>
            <p:cNvPr id="10" name="Freeform 10"/>
            <p:cNvSpPr/>
            <p:nvPr/>
          </p:nvSpPr>
          <p:spPr>
            <a:xfrm>
              <a:off x="0" y="0"/>
              <a:ext cx="1122851" cy="451643"/>
            </a:xfrm>
            <a:custGeom>
              <a:avLst/>
              <a:gdLst/>
              <a:ahLst/>
              <a:cxnLst/>
              <a:rect l="l" t="t" r="r" b="b"/>
              <a:pathLst>
                <a:path w="1122851" h="451643">
                  <a:moveTo>
                    <a:pt x="43582" y="0"/>
                  </a:moveTo>
                  <a:lnTo>
                    <a:pt x="1079269" y="0"/>
                  </a:lnTo>
                  <a:cubicBezTo>
                    <a:pt x="1090828" y="0"/>
                    <a:pt x="1101913" y="4592"/>
                    <a:pt x="1110086" y="12765"/>
                  </a:cubicBezTo>
                  <a:cubicBezTo>
                    <a:pt x="1118259" y="20938"/>
                    <a:pt x="1122851" y="32024"/>
                    <a:pt x="1122851" y="43582"/>
                  </a:cubicBezTo>
                  <a:lnTo>
                    <a:pt x="1122851" y="408061"/>
                  </a:lnTo>
                  <a:cubicBezTo>
                    <a:pt x="1122851" y="419619"/>
                    <a:pt x="1118259" y="430705"/>
                    <a:pt x="1110086" y="438878"/>
                  </a:cubicBezTo>
                  <a:cubicBezTo>
                    <a:pt x="1101913" y="447051"/>
                    <a:pt x="1090828" y="451643"/>
                    <a:pt x="1079269" y="451643"/>
                  </a:cubicBezTo>
                  <a:lnTo>
                    <a:pt x="43582" y="451643"/>
                  </a:lnTo>
                  <a:cubicBezTo>
                    <a:pt x="32024" y="451643"/>
                    <a:pt x="20938" y="447051"/>
                    <a:pt x="12765" y="438878"/>
                  </a:cubicBezTo>
                  <a:cubicBezTo>
                    <a:pt x="4592" y="430705"/>
                    <a:pt x="0" y="419619"/>
                    <a:pt x="0" y="408061"/>
                  </a:cubicBezTo>
                  <a:lnTo>
                    <a:pt x="0" y="43582"/>
                  </a:lnTo>
                  <a:cubicBezTo>
                    <a:pt x="0" y="32024"/>
                    <a:pt x="4592" y="20938"/>
                    <a:pt x="12765" y="12765"/>
                  </a:cubicBezTo>
                  <a:cubicBezTo>
                    <a:pt x="20938" y="4592"/>
                    <a:pt x="32024" y="0"/>
                    <a:pt x="43582" y="0"/>
                  </a:cubicBezTo>
                  <a:close/>
                </a:path>
              </a:pathLst>
            </a:custGeom>
            <a:solidFill>
              <a:srgbClr val="3D6298"/>
            </a:solidFill>
          </p:spPr>
          <p:txBody>
            <a:bodyPr/>
            <a:lstStyle/>
            <a:p>
              <a:endParaRPr lang="en-GB"/>
            </a:p>
          </p:txBody>
        </p:sp>
        <p:sp>
          <p:nvSpPr>
            <p:cNvPr id="11" name="TextBox 11"/>
            <p:cNvSpPr txBox="1"/>
            <p:nvPr/>
          </p:nvSpPr>
          <p:spPr>
            <a:xfrm>
              <a:off x="0" y="-38100"/>
              <a:ext cx="1122851" cy="489743"/>
            </a:xfrm>
            <a:prstGeom prst="rect">
              <a:avLst/>
            </a:prstGeom>
          </p:spPr>
          <p:txBody>
            <a:bodyPr lIns="50800" tIns="50800" rIns="50800" bIns="50800" rtlCol="0" anchor="ctr"/>
            <a:lstStyle/>
            <a:p>
              <a:pPr algn="ctr">
                <a:lnSpc>
                  <a:spcPts val="2520"/>
                </a:lnSpc>
              </a:pPr>
              <a:endParaRPr/>
            </a:p>
          </p:txBody>
        </p:sp>
      </p:grpSp>
      <p:grpSp>
        <p:nvGrpSpPr>
          <p:cNvPr id="12" name="Group 12"/>
          <p:cNvGrpSpPr/>
          <p:nvPr/>
        </p:nvGrpSpPr>
        <p:grpSpPr>
          <a:xfrm>
            <a:off x="10465265" y="1858327"/>
            <a:ext cx="4263325" cy="1714832"/>
            <a:chOff x="0" y="0"/>
            <a:chExt cx="1122851" cy="451643"/>
          </a:xfrm>
        </p:grpSpPr>
        <p:sp>
          <p:nvSpPr>
            <p:cNvPr id="13" name="Freeform 13"/>
            <p:cNvSpPr/>
            <p:nvPr/>
          </p:nvSpPr>
          <p:spPr>
            <a:xfrm>
              <a:off x="0" y="0"/>
              <a:ext cx="1122851" cy="451643"/>
            </a:xfrm>
            <a:custGeom>
              <a:avLst/>
              <a:gdLst/>
              <a:ahLst/>
              <a:cxnLst/>
              <a:rect l="l" t="t" r="r" b="b"/>
              <a:pathLst>
                <a:path w="1122851" h="451643">
                  <a:moveTo>
                    <a:pt x="43582" y="0"/>
                  </a:moveTo>
                  <a:lnTo>
                    <a:pt x="1079269" y="0"/>
                  </a:lnTo>
                  <a:cubicBezTo>
                    <a:pt x="1090828" y="0"/>
                    <a:pt x="1101913" y="4592"/>
                    <a:pt x="1110086" y="12765"/>
                  </a:cubicBezTo>
                  <a:cubicBezTo>
                    <a:pt x="1118259" y="20938"/>
                    <a:pt x="1122851" y="32024"/>
                    <a:pt x="1122851" y="43582"/>
                  </a:cubicBezTo>
                  <a:lnTo>
                    <a:pt x="1122851" y="408061"/>
                  </a:lnTo>
                  <a:cubicBezTo>
                    <a:pt x="1122851" y="419619"/>
                    <a:pt x="1118259" y="430705"/>
                    <a:pt x="1110086" y="438878"/>
                  </a:cubicBezTo>
                  <a:cubicBezTo>
                    <a:pt x="1101913" y="447051"/>
                    <a:pt x="1090828" y="451643"/>
                    <a:pt x="1079269" y="451643"/>
                  </a:cubicBezTo>
                  <a:lnTo>
                    <a:pt x="43582" y="451643"/>
                  </a:lnTo>
                  <a:cubicBezTo>
                    <a:pt x="32024" y="451643"/>
                    <a:pt x="20938" y="447051"/>
                    <a:pt x="12765" y="438878"/>
                  </a:cubicBezTo>
                  <a:cubicBezTo>
                    <a:pt x="4592" y="430705"/>
                    <a:pt x="0" y="419619"/>
                    <a:pt x="0" y="408061"/>
                  </a:cubicBezTo>
                  <a:lnTo>
                    <a:pt x="0" y="43582"/>
                  </a:lnTo>
                  <a:cubicBezTo>
                    <a:pt x="0" y="32024"/>
                    <a:pt x="4592" y="20938"/>
                    <a:pt x="12765" y="12765"/>
                  </a:cubicBezTo>
                  <a:cubicBezTo>
                    <a:pt x="20938" y="4592"/>
                    <a:pt x="32024" y="0"/>
                    <a:pt x="43582" y="0"/>
                  </a:cubicBezTo>
                  <a:close/>
                </a:path>
              </a:pathLst>
            </a:custGeom>
            <a:solidFill>
              <a:srgbClr val="BEC8DA"/>
            </a:solidFill>
          </p:spPr>
          <p:txBody>
            <a:bodyPr/>
            <a:lstStyle/>
            <a:p>
              <a:endParaRPr lang="en-GB"/>
            </a:p>
          </p:txBody>
        </p:sp>
        <p:sp>
          <p:nvSpPr>
            <p:cNvPr id="14" name="TextBox 14"/>
            <p:cNvSpPr txBox="1"/>
            <p:nvPr/>
          </p:nvSpPr>
          <p:spPr>
            <a:xfrm>
              <a:off x="0" y="-38100"/>
              <a:ext cx="1122851" cy="489743"/>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5" name="Freeform 15"/>
          <p:cNvSpPr/>
          <p:nvPr/>
        </p:nvSpPr>
        <p:spPr>
          <a:xfrm>
            <a:off x="4272353" y="2715743"/>
            <a:ext cx="3883630" cy="769665"/>
          </a:xfrm>
          <a:custGeom>
            <a:avLst/>
            <a:gdLst/>
            <a:ahLst/>
            <a:cxnLst/>
            <a:rect l="l" t="t" r="r" b="b"/>
            <a:pathLst>
              <a:path w="3883630" h="769665">
                <a:moveTo>
                  <a:pt x="0" y="0"/>
                </a:moveTo>
                <a:lnTo>
                  <a:pt x="3883630" y="0"/>
                </a:lnTo>
                <a:lnTo>
                  <a:pt x="3883630" y="769664"/>
                </a:lnTo>
                <a:lnTo>
                  <a:pt x="0" y="769664"/>
                </a:lnTo>
                <a:lnTo>
                  <a:pt x="0" y="0"/>
                </a:lnTo>
                <a:close/>
              </a:path>
            </a:pathLst>
          </a:custGeom>
          <a:blipFill>
            <a:blip r:embed="rId4"/>
            <a:stretch>
              <a:fillRect/>
            </a:stretch>
          </a:blipFill>
        </p:spPr>
        <p:txBody>
          <a:bodyPr/>
          <a:lstStyle/>
          <a:p>
            <a:endParaRPr lang="en-GB"/>
          </a:p>
        </p:txBody>
      </p:sp>
      <p:sp>
        <p:nvSpPr>
          <p:cNvPr id="16" name="Freeform 16"/>
          <p:cNvSpPr/>
          <p:nvPr/>
        </p:nvSpPr>
        <p:spPr>
          <a:xfrm>
            <a:off x="10655113" y="2715743"/>
            <a:ext cx="3883630" cy="769665"/>
          </a:xfrm>
          <a:custGeom>
            <a:avLst/>
            <a:gdLst/>
            <a:ahLst/>
            <a:cxnLst/>
            <a:rect l="l" t="t" r="r" b="b"/>
            <a:pathLst>
              <a:path w="3883630" h="769665">
                <a:moveTo>
                  <a:pt x="0" y="0"/>
                </a:moveTo>
                <a:lnTo>
                  <a:pt x="3883629" y="0"/>
                </a:lnTo>
                <a:lnTo>
                  <a:pt x="3883629" y="769664"/>
                </a:lnTo>
                <a:lnTo>
                  <a:pt x="0" y="769664"/>
                </a:lnTo>
                <a:lnTo>
                  <a:pt x="0" y="0"/>
                </a:lnTo>
                <a:close/>
              </a:path>
            </a:pathLst>
          </a:custGeom>
          <a:blipFill>
            <a:blip r:embed="rId4"/>
            <a:stretch>
              <a:fillRect/>
            </a:stretch>
          </a:blipFill>
        </p:spPr>
        <p:txBody>
          <a:bodyPr/>
          <a:lstStyle/>
          <a:p>
            <a:endParaRPr lang="en-GB"/>
          </a:p>
        </p:txBody>
      </p:sp>
      <p:grpSp>
        <p:nvGrpSpPr>
          <p:cNvPr id="17" name="Group 17"/>
          <p:cNvGrpSpPr/>
          <p:nvPr/>
        </p:nvGrpSpPr>
        <p:grpSpPr>
          <a:xfrm>
            <a:off x="4272353" y="1077567"/>
            <a:ext cx="3883630" cy="2216573"/>
            <a:chOff x="0" y="0"/>
            <a:chExt cx="1022849" cy="583789"/>
          </a:xfrm>
        </p:grpSpPr>
        <p:sp>
          <p:nvSpPr>
            <p:cNvPr id="18" name="Freeform 18"/>
            <p:cNvSpPr/>
            <p:nvPr/>
          </p:nvSpPr>
          <p:spPr>
            <a:xfrm>
              <a:off x="0" y="0"/>
              <a:ext cx="1022849" cy="583789"/>
            </a:xfrm>
            <a:custGeom>
              <a:avLst/>
              <a:gdLst/>
              <a:ahLst/>
              <a:cxnLst/>
              <a:rect l="l" t="t" r="r" b="b"/>
              <a:pathLst>
                <a:path w="1022849" h="583789">
                  <a:moveTo>
                    <a:pt x="47843" y="0"/>
                  </a:moveTo>
                  <a:lnTo>
                    <a:pt x="975006" y="0"/>
                  </a:lnTo>
                  <a:cubicBezTo>
                    <a:pt x="987694" y="0"/>
                    <a:pt x="999864" y="5041"/>
                    <a:pt x="1008836" y="14013"/>
                  </a:cubicBezTo>
                  <a:cubicBezTo>
                    <a:pt x="1017808" y="22985"/>
                    <a:pt x="1022849" y="35155"/>
                    <a:pt x="1022849" y="47843"/>
                  </a:cubicBezTo>
                  <a:lnTo>
                    <a:pt x="1022849" y="535945"/>
                  </a:lnTo>
                  <a:cubicBezTo>
                    <a:pt x="1022849" y="548634"/>
                    <a:pt x="1017808" y="560803"/>
                    <a:pt x="1008836" y="569776"/>
                  </a:cubicBezTo>
                  <a:cubicBezTo>
                    <a:pt x="999864" y="578748"/>
                    <a:pt x="987694" y="583789"/>
                    <a:pt x="975006" y="583789"/>
                  </a:cubicBezTo>
                  <a:lnTo>
                    <a:pt x="47843" y="583789"/>
                  </a:lnTo>
                  <a:cubicBezTo>
                    <a:pt x="35155" y="583789"/>
                    <a:pt x="22985" y="578748"/>
                    <a:pt x="14013" y="569776"/>
                  </a:cubicBezTo>
                  <a:cubicBezTo>
                    <a:pt x="5041" y="560803"/>
                    <a:pt x="0" y="548634"/>
                    <a:pt x="0" y="535945"/>
                  </a:cubicBezTo>
                  <a:lnTo>
                    <a:pt x="0" y="47843"/>
                  </a:lnTo>
                  <a:cubicBezTo>
                    <a:pt x="0" y="35155"/>
                    <a:pt x="5041" y="22985"/>
                    <a:pt x="14013" y="14013"/>
                  </a:cubicBezTo>
                  <a:cubicBezTo>
                    <a:pt x="22985" y="5041"/>
                    <a:pt x="35155" y="0"/>
                    <a:pt x="47843" y="0"/>
                  </a:cubicBezTo>
                  <a:close/>
                </a:path>
              </a:pathLst>
            </a:custGeom>
            <a:solidFill>
              <a:srgbClr val="FFFFFF"/>
            </a:solidFill>
          </p:spPr>
          <p:txBody>
            <a:bodyPr/>
            <a:lstStyle/>
            <a:p>
              <a:endParaRPr lang="en-GB"/>
            </a:p>
          </p:txBody>
        </p:sp>
        <p:sp>
          <p:nvSpPr>
            <p:cNvPr id="19" name="TextBox 19"/>
            <p:cNvSpPr txBox="1"/>
            <p:nvPr/>
          </p:nvSpPr>
          <p:spPr>
            <a:xfrm>
              <a:off x="0" y="-38100"/>
              <a:ext cx="1022849" cy="621889"/>
            </a:xfrm>
            <a:prstGeom prst="rect">
              <a:avLst/>
            </a:prstGeom>
          </p:spPr>
          <p:txBody>
            <a:bodyPr lIns="50800" tIns="50800" rIns="50800" bIns="50800" rtlCol="0" anchor="ctr"/>
            <a:lstStyle/>
            <a:p>
              <a:pPr algn="ctr">
                <a:lnSpc>
                  <a:spcPts val="2520"/>
                </a:lnSpc>
              </a:pPr>
              <a:endParaRPr/>
            </a:p>
          </p:txBody>
        </p:sp>
      </p:grpSp>
      <p:grpSp>
        <p:nvGrpSpPr>
          <p:cNvPr id="20" name="Group 20"/>
          <p:cNvGrpSpPr/>
          <p:nvPr/>
        </p:nvGrpSpPr>
        <p:grpSpPr>
          <a:xfrm>
            <a:off x="10655113" y="1077567"/>
            <a:ext cx="3883630" cy="2216573"/>
            <a:chOff x="0" y="0"/>
            <a:chExt cx="1022849" cy="583789"/>
          </a:xfrm>
        </p:grpSpPr>
        <p:sp>
          <p:nvSpPr>
            <p:cNvPr id="21" name="Freeform 21"/>
            <p:cNvSpPr/>
            <p:nvPr/>
          </p:nvSpPr>
          <p:spPr>
            <a:xfrm>
              <a:off x="0" y="0"/>
              <a:ext cx="1022849" cy="583789"/>
            </a:xfrm>
            <a:custGeom>
              <a:avLst/>
              <a:gdLst/>
              <a:ahLst/>
              <a:cxnLst/>
              <a:rect l="l" t="t" r="r" b="b"/>
              <a:pathLst>
                <a:path w="1022849" h="583789">
                  <a:moveTo>
                    <a:pt x="47843" y="0"/>
                  </a:moveTo>
                  <a:lnTo>
                    <a:pt x="975006" y="0"/>
                  </a:lnTo>
                  <a:cubicBezTo>
                    <a:pt x="987694" y="0"/>
                    <a:pt x="999864" y="5041"/>
                    <a:pt x="1008836" y="14013"/>
                  </a:cubicBezTo>
                  <a:cubicBezTo>
                    <a:pt x="1017808" y="22985"/>
                    <a:pt x="1022849" y="35155"/>
                    <a:pt x="1022849" y="47843"/>
                  </a:cubicBezTo>
                  <a:lnTo>
                    <a:pt x="1022849" y="535945"/>
                  </a:lnTo>
                  <a:cubicBezTo>
                    <a:pt x="1022849" y="548634"/>
                    <a:pt x="1017808" y="560803"/>
                    <a:pt x="1008836" y="569776"/>
                  </a:cubicBezTo>
                  <a:cubicBezTo>
                    <a:pt x="999864" y="578748"/>
                    <a:pt x="987694" y="583789"/>
                    <a:pt x="975006" y="583789"/>
                  </a:cubicBezTo>
                  <a:lnTo>
                    <a:pt x="47843" y="583789"/>
                  </a:lnTo>
                  <a:cubicBezTo>
                    <a:pt x="35155" y="583789"/>
                    <a:pt x="22985" y="578748"/>
                    <a:pt x="14013" y="569776"/>
                  </a:cubicBezTo>
                  <a:cubicBezTo>
                    <a:pt x="5041" y="560803"/>
                    <a:pt x="0" y="548634"/>
                    <a:pt x="0" y="535945"/>
                  </a:cubicBezTo>
                  <a:lnTo>
                    <a:pt x="0" y="47843"/>
                  </a:lnTo>
                  <a:cubicBezTo>
                    <a:pt x="0" y="35155"/>
                    <a:pt x="5041" y="22985"/>
                    <a:pt x="14013" y="14013"/>
                  </a:cubicBezTo>
                  <a:cubicBezTo>
                    <a:pt x="22985" y="5041"/>
                    <a:pt x="35155" y="0"/>
                    <a:pt x="47843" y="0"/>
                  </a:cubicBezTo>
                  <a:close/>
                </a:path>
              </a:pathLst>
            </a:custGeom>
            <a:solidFill>
              <a:srgbClr val="FFFFFF"/>
            </a:solidFill>
          </p:spPr>
          <p:txBody>
            <a:bodyPr/>
            <a:lstStyle/>
            <a:p>
              <a:endParaRPr lang="en-GB"/>
            </a:p>
          </p:txBody>
        </p:sp>
        <p:sp>
          <p:nvSpPr>
            <p:cNvPr id="22" name="TextBox 22"/>
            <p:cNvSpPr txBox="1"/>
            <p:nvPr/>
          </p:nvSpPr>
          <p:spPr>
            <a:xfrm>
              <a:off x="0" y="-38100"/>
              <a:ext cx="1022849" cy="621889"/>
            </a:xfrm>
            <a:prstGeom prst="rect">
              <a:avLst/>
            </a:prstGeom>
          </p:spPr>
          <p:txBody>
            <a:bodyPr lIns="50800" tIns="50800" rIns="50800" bIns="50800" rtlCol="0" anchor="ctr"/>
            <a:lstStyle/>
            <a:p>
              <a:pPr algn="ctr">
                <a:lnSpc>
                  <a:spcPts val="2520"/>
                </a:lnSpc>
              </a:pPr>
              <a:endParaRPr/>
            </a:p>
          </p:txBody>
        </p:sp>
      </p:grpSp>
      <p:grpSp>
        <p:nvGrpSpPr>
          <p:cNvPr id="23" name="Group 23"/>
          <p:cNvGrpSpPr/>
          <p:nvPr/>
        </p:nvGrpSpPr>
        <p:grpSpPr>
          <a:xfrm>
            <a:off x="5963331" y="3436469"/>
            <a:ext cx="501674" cy="438965"/>
            <a:chOff x="0" y="0"/>
            <a:chExt cx="812800" cy="711200"/>
          </a:xfrm>
        </p:grpSpPr>
        <p:sp>
          <p:nvSpPr>
            <p:cNvPr id="24" name="Freeform 2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3C6198"/>
            </a:solidFill>
          </p:spPr>
          <p:txBody>
            <a:bodyPr/>
            <a:lstStyle/>
            <a:p>
              <a:endParaRPr lang="en-GB"/>
            </a:p>
          </p:txBody>
        </p:sp>
        <p:sp>
          <p:nvSpPr>
            <p:cNvPr id="25" name="TextBox 25"/>
            <p:cNvSpPr txBox="1"/>
            <p:nvPr/>
          </p:nvSpPr>
          <p:spPr>
            <a:xfrm>
              <a:off x="127000" y="12700"/>
              <a:ext cx="558800" cy="368300"/>
            </a:xfrm>
            <a:prstGeom prst="rect">
              <a:avLst/>
            </a:prstGeom>
          </p:spPr>
          <p:txBody>
            <a:bodyPr lIns="50800" tIns="50800" rIns="50800" bIns="50800" rtlCol="0" anchor="ctr"/>
            <a:lstStyle/>
            <a:p>
              <a:pPr algn="ctr">
                <a:lnSpc>
                  <a:spcPts val="2520"/>
                </a:lnSpc>
              </a:pPr>
              <a:endParaRPr/>
            </a:p>
          </p:txBody>
        </p:sp>
      </p:grpSp>
      <p:grpSp>
        <p:nvGrpSpPr>
          <p:cNvPr id="26" name="Group 26"/>
          <p:cNvGrpSpPr/>
          <p:nvPr/>
        </p:nvGrpSpPr>
        <p:grpSpPr>
          <a:xfrm>
            <a:off x="12346091" y="3436469"/>
            <a:ext cx="501674" cy="438965"/>
            <a:chOff x="0" y="0"/>
            <a:chExt cx="812800" cy="711200"/>
          </a:xfrm>
        </p:grpSpPr>
        <p:sp>
          <p:nvSpPr>
            <p:cNvPr id="27" name="Freeform 27"/>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BEC8DA"/>
            </a:solidFill>
          </p:spPr>
          <p:txBody>
            <a:bodyPr/>
            <a:lstStyle/>
            <a:p>
              <a:endParaRPr lang="en-GB"/>
            </a:p>
          </p:txBody>
        </p:sp>
        <p:sp>
          <p:nvSpPr>
            <p:cNvPr id="28" name="TextBox 28"/>
            <p:cNvSpPr txBox="1"/>
            <p:nvPr/>
          </p:nvSpPr>
          <p:spPr>
            <a:xfrm>
              <a:off x="127000" y="12700"/>
              <a:ext cx="558800" cy="368300"/>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29" name="Group 29"/>
          <p:cNvGrpSpPr/>
          <p:nvPr/>
        </p:nvGrpSpPr>
        <p:grpSpPr>
          <a:xfrm>
            <a:off x="13072175" y="5452751"/>
            <a:ext cx="4263325" cy="1714832"/>
            <a:chOff x="0" y="0"/>
            <a:chExt cx="1122851" cy="451643"/>
          </a:xfrm>
        </p:grpSpPr>
        <p:sp>
          <p:nvSpPr>
            <p:cNvPr id="30" name="Freeform 30"/>
            <p:cNvSpPr/>
            <p:nvPr/>
          </p:nvSpPr>
          <p:spPr>
            <a:xfrm>
              <a:off x="0" y="0"/>
              <a:ext cx="1122851" cy="451643"/>
            </a:xfrm>
            <a:custGeom>
              <a:avLst/>
              <a:gdLst/>
              <a:ahLst/>
              <a:cxnLst/>
              <a:rect l="l" t="t" r="r" b="b"/>
              <a:pathLst>
                <a:path w="1122851" h="451643">
                  <a:moveTo>
                    <a:pt x="43582" y="0"/>
                  </a:moveTo>
                  <a:lnTo>
                    <a:pt x="1079269" y="0"/>
                  </a:lnTo>
                  <a:cubicBezTo>
                    <a:pt x="1090828" y="0"/>
                    <a:pt x="1101913" y="4592"/>
                    <a:pt x="1110086" y="12765"/>
                  </a:cubicBezTo>
                  <a:cubicBezTo>
                    <a:pt x="1118259" y="20938"/>
                    <a:pt x="1122851" y="32024"/>
                    <a:pt x="1122851" y="43582"/>
                  </a:cubicBezTo>
                  <a:lnTo>
                    <a:pt x="1122851" y="408061"/>
                  </a:lnTo>
                  <a:cubicBezTo>
                    <a:pt x="1122851" y="419619"/>
                    <a:pt x="1118259" y="430705"/>
                    <a:pt x="1110086" y="438878"/>
                  </a:cubicBezTo>
                  <a:cubicBezTo>
                    <a:pt x="1101913" y="447051"/>
                    <a:pt x="1090828" y="451643"/>
                    <a:pt x="1079269" y="451643"/>
                  </a:cubicBezTo>
                  <a:lnTo>
                    <a:pt x="43582" y="451643"/>
                  </a:lnTo>
                  <a:cubicBezTo>
                    <a:pt x="32024" y="451643"/>
                    <a:pt x="20938" y="447051"/>
                    <a:pt x="12765" y="438878"/>
                  </a:cubicBezTo>
                  <a:cubicBezTo>
                    <a:pt x="4592" y="430705"/>
                    <a:pt x="0" y="419619"/>
                    <a:pt x="0" y="408061"/>
                  </a:cubicBezTo>
                  <a:lnTo>
                    <a:pt x="0" y="43582"/>
                  </a:lnTo>
                  <a:cubicBezTo>
                    <a:pt x="0" y="32024"/>
                    <a:pt x="4592" y="20938"/>
                    <a:pt x="12765" y="12765"/>
                  </a:cubicBezTo>
                  <a:cubicBezTo>
                    <a:pt x="20938" y="4592"/>
                    <a:pt x="32024" y="0"/>
                    <a:pt x="43582" y="0"/>
                  </a:cubicBezTo>
                  <a:close/>
                </a:path>
              </a:pathLst>
            </a:custGeom>
            <a:solidFill>
              <a:srgbClr val="F68D55"/>
            </a:solidFill>
          </p:spPr>
          <p:txBody>
            <a:bodyPr/>
            <a:lstStyle/>
            <a:p>
              <a:endParaRPr lang="en-GB"/>
            </a:p>
          </p:txBody>
        </p:sp>
        <p:sp>
          <p:nvSpPr>
            <p:cNvPr id="31" name="TextBox 31"/>
            <p:cNvSpPr txBox="1"/>
            <p:nvPr/>
          </p:nvSpPr>
          <p:spPr>
            <a:xfrm>
              <a:off x="0" y="-38100"/>
              <a:ext cx="1122851" cy="48974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32" name="Group 32"/>
          <p:cNvGrpSpPr/>
          <p:nvPr/>
        </p:nvGrpSpPr>
        <p:grpSpPr>
          <a:xfrm>
            <a:off x="1194643" y="5452751"/>
            <a:ext cx="4263325" cy="1714832"/>
            <a:chOff x="0" y="0"/>
            <a:chExt cx="1122851" cy="451643"/>
          </a:xfrm>
        </p:grpSpPr>
        <p:sp>
          <p:nvSpPr>
            <p:cNvPr id="33" name="Freeform 33"/>
            <p:cNvSpPr/>
            <p:nvPr/>
          </p:nvSpPr>
          <p:spPr>
            <a:xfrm>
              <a:off x="0" y="0"/>
              <a:ext cx="1122851" cy="451643"/>
            </a:xfrm>
            <a:custGeom>
              <a:avLst/>
              <a:gdLst/>
              <a:ahLst/>
              <a:cxnLst/>
              <a:rect l="l" t="t" r="r" b="b"/>
              <a:pathLst>
                <a:path w="1122851" h="451643">
                  <a:moveTo>
                    <a:pt x="43582" y="0"/>
                  </a:moveTo>
                  <a:lnTo>
                    <a:pt x="1079269" y="0"/>
                  </a:lnTo>
                  <a:cubicBezTo>
                    <a:pt x="1090828" y="0"/>
                    <a:pt x="1101913" y="4592"/>
                    <a:pt x="1110086" y="12765"/>
                  </a:cubicBezTo>
                  <a:cubicBezTo>
                    <a:pt x="1118259" y="20938"/>
                    <a:pt x="1122851" y="32024"/>
                    <a:pt x="1122851" y="43582"/>
                  </a:cubicBezTo>
                  <a:lnTo>
                    <a:pt x="1122851" y="408061"/>
                  </a:lnTo>
                  <a:cubicBezTo>
                    <a:pt x="1122851" y="419619"/>
                    <a:pt x="1118259" y="430705"/>
                    <a:pt x="1110086" y="438878"/>
                  </a:cubicBezTo>
                  <a:cubicBezTo>
                    <a:pt x="1101913" y="447051"/>
                    <a:pt x="1090828" y="451643"/>
                    <a:pt x="1079269" y="451643"/>
                  </a:cubicBezTo>
                  <a:lnTo>
                    <a:pt x="43582" y="451643"/>
                  </a:lnTo>
                  <a:cubicBezTo>
                    <a:pt x="32024" y="451643"/>
                    <a:pt x="20938" y="447051"/>
                    <a:pt x="12765" y="438878"/>
                  </a:cubicBezTo>
                  <a:cubicBezTo>
                    <a:pt x="4592" y="430705"/>
                    <a:pt x="0" y="419619"/>
                    <a:pt x="0" y="408061"/>
                  </a:cubicBezTo>
                  <a:lnTo>
                    <a:pt x="0" y="43582"/>
                  </a:lnTo>
                  <a:cubicBezTo>
                    <a:pt x="0" y="32024"/>
                    <a:pt x="4592" y="20938"/>
                    <a:pt x="12765" y="12765"/>
                  </a:cubicBezTo>
                  <a:cubicBezTo>
                    <a:pt x="20938" y="4592"/>
                    <a:pt x="32024" y="0"/>
                    <a:pt x="43582" y="0"/>
                  </a:cubicBezTo>
                  <a:close/>
                </a:path>
              </a:pathLst>
            </a:custGeom>
            <a:solidFill>
              <a:srgbClr val="122359"/>
            </a:solidFill>
          </p:spPr>
          <p:txBody>
            <a:bodyPr/>
            <a:lstStyle/>
            <a:p>
              <a:endParaRPr lang="en-GB"/>
            </a:p>
          </p:txBody>
        </p:sp>
        <p:sp>
          <p:nvSpPr>
            <p:cNvPr id="34" name="TextBox 34"/>
            <p:cNvSpPr txBox="1"/>
            <p:nvPr/>
          </p:nvSpPr>
          <p:spPr>
            <a:xfrm>
              <a:off x="0" y="-38100"/>
              <a:ext cx="1122851" cy="489743"/>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35" name="Freeform 35"/>
          <p:cNvSpPr/>
          <p:nvPr/>
        </p:nvSpPr>
        <p:spPr>
          <a:xfrm>
            <a:off x="13262023" y="6310167"/>
            <a:ext cx="3883630" cy="769665"/>
          </a:xfrm>
          <a:custGeom>
            <a:avLst/>
            <a:gdLst/>
            <a:ahLst/>
            <a:cxnLst/>
            <a:rect l="l" t="t" r="r" b="b"/>
            <a:pathLst>
              <a:path w="3883630" h="769665">
                <a:moveTo>
                  <a:pt x="0" y="0"/>
                </a:moveTo>
                <a:lnTo>
                  <a:pt x="3883629" y="0"/>
                </a:lnTo>
                <a:lnTo>
                  <a:pt x="3883629" y="769665"/>
                </a:lnTo>
                <a:lnTo>
                  <a:pt x="0" y="769665"/>
                </a:lnTo>
                <a:lnTo>
                  <a:pt x="0" y="0"/>
                </a:lnTo>
                <a:close/>
              </a:path>
            </a:pathLst>
          </a:custGeom>
          <a:blipFill>
            <a:blip r:embed="rId4"/>
            <a:stretch>
              <a:fillRect/>
            </a:stretch>
          </a:blipFill>
        </p:spPr>
        <p:txBody>
          <a:bodyPr/>
          <a:lstStyle/>
          <a:p>
            <a:endParaRPr lang="en-GB"/>
          </a:p>
        </p:txBody>
      </p:sp>
      <p:sp>
        <p:nvSpPr>
          <p:cNvPr id="36" name="Freeform 36"/>
          <p:cNvSpPr/>
          <p:nvPr/>
        </p:nvSpPr>
        <p:spPr>
          <a:xfrm>
            <a:off x="1384490" y="6310167"/>
            <a:ext cx="3883630" cy="769665"/>
          </a:xfrm>
          <a:custGeom>
            <a:avLst/>
            <a:gdLst/>
            <a:ahLst/>
            <a:cxnLst/>
            <a:rect l="l" t="t" r="r" b="b"/>
            <a:pathLst>
              <a:path w="3883630" h="769665">
                <a:moveTo>
                  <a:pt x="0" y="0"/>
                </a:moveTo>
                <a:lnTo>
                  <a:pt x="3883630" y="0"/>
                </a:lnTo>
                <a:lnTo>
                  <a:pt x="3883630" y="769665"/>
                </a:lnTo>
                <a:lnTo>
                  <a:pt x="0" y="769665"/>
                </a:lnTo>
                <a:lnTo>
                  <a:pt x="0" y="0"/>
                </a:lnTo>
                <a:close/>
              </a:path>
            </a:pathLst>
          </a:custGeom>
          <a:blipFill>
            <a:blip r:embed="rId4"/>
            <a:stretch>
              <a:fillRect/>
            </a:stretch>
          </a:blipFill>
        </p:spPr>
        <p:txBody>
          <a:bodyPr/>
          <a:lstStyle/>
          <a:p>
            <a:endParaRPr lang="en-GB"/>
          </a:p>
        </p:txBody>
      </p:sp>
      <p:grpSp>
        <p:nvGrpSpPr>
          <p:cNvPr id="37" name="Group 37"/>
          <p:cNvGrpSpPr/>
          <p:nvPr/>
        </p:nvGrpSpPr>
        <p:grpSpPr>
          <a:xfrm>
            <a:off x="13262023" y="4671991"/>
            <a:ext cx="3883630" cy="2216573"/>
            <a:chOff x="0" y="0"/>
            <a:chExt cx="1022849" cy="583789"/>
          </a:xfrm>
        </p:grpSpPr>
        <p:sp>
          <p:nvSpPr>
            <p:cNvPr id="38" name="Freeform 38"/>
            <p:cNvSpPr/>
            <p:nvPr/>
          </p:nvSpPr>
          <p:spPr>
            <a:xfrm>
              <a:off x="0" y="0"/>
              <a:ext cx="1022849" cy="583789"/>
            </a:xfrm>
            <a:custGeom>
              <a:avLst/>
              <a:gdLst/>
              <a:ahLst/>
              <a:cxnLst/>
              <a:rect l="l" t="t" r="r" b="b"/>
              <a:pathLst>
                <a:path w="1022849" h="583789">
                  <a:moveTo>
                    <a:pt x="47843" y="0"/>
                  </a:moveTo>
                  <a:lnTo>
                    <a:pt x="975006" y="0"/>
                  </a:lnTo>
                  <a:cubicBezTo>
                    <a:pt x="987694" y="0"/>
                    <a:pt x="999864" y="5041"/>
                    <a:pt x="1008836" y="14013"/>
                  </a:cubicBezTo>
                  <a:cubicBezTo>
                    <a:pt x="1017808" y="22985"/>
                    <a:pt x="1022849" y="35155"/>
                    <a:pt x="1022849" y="47843"/>
                  </a:cubicBezTo>
                  <a:lnTo>
                    <a:pt x="1022849" y="535945"/>
                  </a:lnTo>
                  <a:cubicBezTo>
                    <a:pt x="1022849" y="548634"/>
                    <a:pt x="1017808" y="560803"/>
                    <a:pt x="1008836" y="569776"/>
                  </a:cubicBezTo>
                  <a:cubicBezTo>
                    <a:pt x="999864" y="578748"/>
                    <a:pt x="987694" y="583789"/>
                    <a:pt x="975006" y="583789"/>
                  </a:cubicBezTo>
                  <a:lnTo>
                    <a:pt x="47843" y="583789"/>
                  </a:lnTo>
                  <a:cubicBezTo>
                    <a:pt x="35155" y="583789"/>
                    <a:pt x="22985" y="578748"/>
                    <a:pt x="14013" y="569776"/>
                  </a:cubicBezTo>
                  <a:cubicBezTo>
                    <a:pt x="5041" y="560803"/>
                    <a:pt x="0" y="548634"/>
                    <a:pt x="0" y="535945"/>
                  </a:cubicBezTo>
                  <a:lnTo>
                    <a:pt x="0" y="47843"/>
                  </a:lnTo>
                  <a:cubicBezTo>
                    <a:pt x="0" y="35155"/>
                    <a:pt x="5041" y="22985"/>
                    <a:pt x="14013" y="14013"/>
                  </a:cubicBezTo>
                  <a:cubicBezTo>
                    <a:pt x="22985" y="5041"/>
                    <a:pt x="35155" y="0"/>
                    <a:pt x="47843" y="0"/>
                  </a:cubicBezTo>
                  <a:close/>
                </a:path>
              </a:pathLst>
            </a:custGeom>
            <a:solidFill>
              <a:srgbClr val="FFFFFF"/>
            </a:solidFill>
          </p:spPr>
          <p:txBody>
            <a:bodyPr/>
            <a:lstStyle/>
            <a:p>
              <a:endParaRPr lang="en-GB"/>
            </a:p>
          </p:txBody>
        </p:sp>
        <p:sp>
          <p:nvSpPr>
            <p:cNvPr id="39" name="TextBox 39"/>
            <p:cNvSpPr txBox="1"/>
            <p:nvPr/>
          </p:nvSpPr>
          <p:spPr>
            <a:xfrm>
              <a:off x="0" y="-38100"/>
              <a:ext cx="1022849" cy="621889"/>
            </a:xfrm>
            <a:prstGeom prst="rect">
              <a:avLst/>
            </a:prstGeom>
          </p:spPr>
          <p:txBody>
            <a:bodyPr lIns="50800" tIns="50800" rIns="50800" bIns="50800" rtlCol="0" anchor="ctr"/>
            <a:lstStyle/>
            <a:p>
              <a:pPr algn="ctr">
                <a:lnSpc>
                  <a:spcPts val="2520"/>
                </a:lnSpc>
              </a:pPr>
              <a:endParaRPr/>
            </a:p>
          </p:txBody>
        </p:sp>
      </p:grpSp>
      <p:grpSp>
        <p:nvGrpSpPr>
          <p:cNvPr id="40" name="Group 40"/>
          <p:cNvGrpSpPr/>
          <p:nvPr/>
        </p:nvGrpSpPr>
        <p:grpSpPr>
          <a:xfrm>
            <a:off x="1384490" y="4671991"/>
            <a:ext cx="3883630" cy="2216573"/>
            <a:chOff x="0" y="0"/>
            <a:chExt cx="1022849" cy="583789"/>
          </a:xfrm>
        </p:grpSpPr>
        <p:sp>
          <p:nvSpPr>
            <p:cNvPr id="41" name="Freeform 41"/>
            <p:cNvSpPr/>
            <p:nvPr/>
          </p:nvSpPr>
          <p:spPr>
            <a:xfrm>
              <a:off x="0" y="0"/>
              <a:ext cx="1022849" cy="583789"/>
            </a:xfrm>
            <a:custGeom>
              <a:avLst/>
              <a:gdLst/>
              <a:ahLst/>
              <a:cxnLst/>
              <a:rect l="l" t="t" r="r" b="b"/>
              <a:pathLst>
                <a:path w="1022849" h="583789">
                  <a:moveTo>
                    <a:pt x="47843" y="0"/>
                  </a:moveTo>
                  <a:lnTo>
                    <a:pt x="975006" y="0"/>
                  </a:lnTo>
                  <a:cubicBezTo>
                    <a:pt x="987694" y="0"/>
                    <a:pt x="999864" y="5041"/>
                    <a:pt x="1008836" y="14013"/>
                  </a:cubicBezTo>
                  <a:cubicBezTo>
                    <a:pt x="1017808" y="22985"/>
                    <a:pt x="1022849" y="35155"/>
                    <a:pt x="1022849" y="47843"/>
                  </a:cubicBezTo>
                  <a:lnTo>
                    <a:pt x="1022849" y="535945"/>
                  </a:lnTo>
                  <a:cubicBezTo>
                    <a:pt x="1022849" y="548634"/>
                    <a:pt x="1017808" y="560803"/>
                    <a:pt x="1008836" y="569776"/>
                  </a:cubicBezTo>
                  <a:cubicBezTo>
                    <a:pt x="999864" y="578748"/>
                    <a:pt x="987694" y="583789"/>
                    <a:pt x="975006" y="583789"/>
                  </a:cubicBezTo>
                  <a:lnTo>
                    <a:pt x="47843" y="583789"/>
                  </a:lnTo>
                  <a:cubicBezTo>
                    <a:pt x="35155" y="583789"/>
                    <a:pt x="22985" y="578748"/>
                    <a:pt x="14013" y="569776"/>
                  </a:cubicBezTo>
                  <a:cubicBezTo>
                    <a:pt x="5041" y="560803"/>
                    <a:pt x="0" y="548634"/>
                    <a:pt x="0" y="535945"/>
                  </a:cubicBezTo>
                  <a:lnTo>
                    <a:pt x="0" y="47843"/>
                  </a:lnTo>
                  <a:cubicBezTo>
                    <a:pt x="0" y="35155"/>
                    <a:pt x="5041" y="22985"/>
                    <a:pt x="14013" y="14013"/>
                  </a:cubicBezTo>
                  <a:cubicBezTo>
                    <a:pt x="22985" y="5041"/>
                    <a:pt x="35155" y="0"/>
                    <a:pt x="47843" y="0"/>
                  </a:cubicBezTo>
                  <a:close/>
                </a:path>
              </a:pathLst>
            </a:custGeom>
            <a:solidFill>
              <a:srgbClr val="FFFFFF"/>
            </a:solidFill>
          </p:spPr>
          <p:txBody>
            <a:bodyPr/>
            <a:lstStyle/>
            <a:p>
              <a:endParaRPr lang="en-GB"/>
            </a:p>
          </p:txBody>
        </p:sp>
        <p:sp>
          <p:nvSpPr>
            <p:cNvPr id="42" name="TextBox 42"/>
            <p:cNvSpPr txBox="1"/>
            <p:nvPr/>
          </p:nvSpPr>
          <p:spPr>
            <a:xfrm>
              <a:off x="0" y="-38100"/>
              <a:ext cx="1022849" cy="621889"/>
            </a:xfrm>
            <a:prstGeom prst="rect">
              <a:avLst/>
            </a:prstGeom>
          </p:spPr>
          <p:txBody>
            <a:bodyPr lIns="50800" tIns="50800" rIns="50800" bIns="50800" rtlCol="0" anchor="ctr"/>
            <a:lstStyle/>
            <a:p>
              <a:pPr algn="ctr">
                <a:lnSpc>
                  <a:spcPts val="2520"/>
                </a:lnSpc>
              </a:pPr>
              <a:endParaRPr/>
            </a:p>
          </p:txBody>
        </p:sp>
      </p:grpSp>
      <p:grpSp>
        <p:nvGrpSpPr>
          <p:cNvPr id="43" name="Group 43"/>
          <p:cNvGrpSpPr/>
          <p:nvPr/>
        </p:nvGrpSpPr>
        <p:grpSpPr>
          <a:xfrm>
            <a:off x="14953000" y="7030893"/>
            <a:ext cx="501674" cy="438965"/>
            <a:chOff x="0" y="0"/>
            <a:chExt cx="812800" cy="711200"/>
          </a:xfrm>
        </p:grpSpPr>
        <p:sp>
          <p:nvSpPr>
            <p:cNvPr id="44" name="Freeform 44"/>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F68D55"/>
            </a:solidFill>
          </p:spPr>
          <p:txBody>
            <a:bodyPr/>
            <a:lstStyle/>
            <a:p>
              <a:endParaRPr lang="en-GB"/>
            </a:p>
          </p:txBody>
        </p:sp>
        <p:sp>
          <p:nvSpPr>
            <p:cNvPr id="45" name="TextBox 45"/>
            <p:cNvSpPr txBox="1"/>
            <p:nvPr/>
          </p:nvSpPr>
          <p:spPr>
            <a:xfrm>
              <a:off x="127000" y="12700"/>
              <a:ext cx="558800" cy="368300"/>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46" name="Group 46"/>
          <p:cNvGrpSpPr/>
          <p:nvPr/>
        </p:nvGrpSpPr>
        <p:grpSpPr>
          <a:xfrm>
            <a:off x="3075468" y="7030893"/>
            <a:ext cx="501674" cy="438965"/>
            <a:chOff x="0" y="0"/>
            <a:chExt cx="812800" cy="711200"/>
          </a:xfrm>
        </p:grpSpPr>
        <p:sp>
          <p:nvSpPr>
            <p:cNvPr id="47" name="Freeform 47"/>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122359"/>
            </a:solidFill>
          </p:spPr>
          <p:txBody>
            <a:bodyPr/>
            <a:lstStyle/>
            <a:p>
              <a:endParaRPr lang="en-GB"/>
            </a:p>
          </p:txBody>
        </p:sp>
        <p:sp>
          <p:nvSpPr>
            <p:cNvPr id="48" name="TextBox 48"/>
            <p:cNvSpPr txBox="1"/>
            <p:nvPr/>
          </p:nvSpPr>
          <p:spPr>
            <a:xfrm>
              <a:off x="127000" y="12700"/>
              <a:ext cx="558800" cy="368300"/>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49" name="Group 49"/>
          <p:cNvGrpSpPr/>
          <p:nvPr/>
        </p:nvGrpSpPr>
        <p:grpSpPr>
          <a:xfrm>
            <a:off x="14812540" y="7303716"/>
            <a:ext cx="782594" cy="332282"/>
            <a:chOff x="0" y="0"/>
            <a:chExt cx="1914314" cy="812800"/>
          </a:xfrm>
        </p:grpSpPr>
        <p:sp>
          <p:nvSpPr>
            <p:cNvPr id="50" name="Freeform 50"/>
            <p:cNvSpPr/>
            <p:nvPr/>
          </p:nvSpPr>
          <p:spPr>
            <a:xfrm>
              <a:off x="0" y="0"/>
              <a:ext cx="1914315" cy="812800"/>
            </a:xfrm>
            <a:custGeom>
              <a:avLst/>
              <a:gdLst/>
              <a:ahLst/>
              <a:cxnLst/>
              <a:rect l="l" t="t" r="r" b="b"/>
              <a:pathLst>
                <a:path w="1914315" h="812800">
                  <a:moveTo>
                    <a:pt x="957157" y="0"/>
                  </a:moveTo>
                  <a:cubicBezTo>
                    <a:pt x="428534" y="0"/>
                    <a:pt x="0" y="181951"/>
                    <a:pt x="0" y="406400"/>
                  </a:cubicBezTo>
                  <a:cubicBezTo>
                    <a:pt x="0" y="630849"/>
                    <a:pt x="428534" y="812800"/>
                    <a:pt x="957157" y="812800"/>
                  </a:cubicBezTo>
                  <a:cubicBezTo>
                    <a:pt x="1485781" y="812800"/>
                    <a:pt x="1914315" y="630849"/>
                    <a:pt x="1914315" y="406400"/>
                  </a:cubicBezTo>
                  <a:cubicBezTo>
                    <a:pt x="1914315" y="181951"/>
                    <a:pt x="1485781" y="0"/>
                    <a:pt x="957157" y="0"/>
                  </a:cubicBezTo>
                  <a:lnTo>
                    <a:pt x="957157" y="0"/>
                  </a:lnTo>
                  <a:close/>
                </a:path>
              </a:pathLst>
            </a:custGeom>
            <a:solidFill>
              <a:srgbClr val="F68D55">
                <a:alpha val="26667"/>
              </a:srgbClr>
            </a:solidFill>
            <a:ln cap="rnd">
              <a:noFill/>
              <a:prstDash val="solid"/>
              <a:round/>
            </a:ln>
          </p:spPr>
          <p:txBody>
            <a:bodyPr/>
            <a:lstStyle/>
            <a:p>
              <a:endParaRPr lang="en-GB"/>
            </a:p>
          </p:txBody>
        </p:sp>
        <p:sp>
          <p:nvSpPr>
            <p:cNvPr id="51" name="TextBox 51"/>
            <p:cNvSpPr txBox="1"/>
            <p:nvPr/>
          </p:nvSpPr>
          <p:spPr>
            <a:xfrm>
              <a:off x="179467" y="38100"/>
              <a:ext cx="1555380" cy="698500"/>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52" name="Group 52"/>
          <p:cNvGrpSpPr/>
          <p:nvPr/>
        </p:nvGrpSpPr>
        <p:grpSpPr>
          <a:xfrm>
            <a:off x="2935008" y="7303716"/>
            <a:ext cx="782594" cy="332282"/>
            <a:chOff x="0" y="0"/>
            <a:chExt cx="1914314" cy="812800"/>
          </a:xfrm>
        </p:grpSpPr>
        <p:sp>
          <p:nvSpPr>
            <p:cNvPr id="53" name="Freeform 53"/>
            <p:cNvSpPr/>
            <p:nvPr/>
          </p:nvSpPr>
          <p:spPr>
            <a:xfrm>
              <a:off x="0" y="0"/>
              <a:ext cx="1914315" cy="812800"/>
            </a:xfrm>
            <a:custGeom>
              <a:avLst/>
              <a:gdLst/>
              <a:ahLst/>
              <a:cxnLst/>
              <a:rect l="l" t="t" r="r" b="b"/>
              <a:pathLst>
                <a:path w="1914315" h="812800">
                  <a:moveTo>
                    <a:pt x="957157" y="0"/>
                  </a:moveTo>
                  <a:cubicBezTo>
                    <a:pt x="428534" y="0"/>
                    <a:pt x="0" y="181951"/>
                    <a:pt x="0" y="406400"/>
                  </a:cubicBezTo>
                  <a:cubicBezTo>
                    <a:pt x="0" y="630849"/>
                    <a:pt x="428534" y="812800"/>
                    <a:pt x="957157" y="812800"/>
                  </a:cubicBezTo>
                  <a:cubicBezTo>
                    <a:pt x="1485781" y="812800"/>
                    <a:pt x="1914315" y="630849"/>
                    <a:pt x="1914315" y="406400"/>
                  </a:cubicBezTo>
                  <a:cubicBezTo>
                    <a:pt x="1914315" y="181951"/>
                    <a:pt x="1485781" y="0"/>
                    <a:pt x="957157" y="0"/>
                  </a:cubicBezTo>
                  <a:lnTo>
                    <a:pt x="957157" y="0"/>
                  </a:lnTo>
                  <a:close/>
                </a:path>
              </a:pathLst>
            </a:custGeom>
            <a:solidFill>
              <a:srgbClr val="122359">
                <a:alpha val="26667"/>
              </a:srgbClr>
            </a:solidFill>
            <a:ln cap="rnd">
              <a:noFill/>
              <a:prstDash val="solid"/>
              <a:round/>
            </a:ln>
          </p:spPr>
          <p:txBody>
            <a:bodyPr/>
            <a:lstStyle/>
            <a:p>
              <a:endParaRPr lang="en-GB"/>
            </a:p>
          </p:txBody>
        </p:sp>
        <p:sp>
          <p:nvSpPr>
            <p:cNvPr id="54" name="TextBox 54"/>
            <p:cNvSpPr txBox="1"/>
            <p:nvPr/>
          </p:nvSpPr>
          <p:spPr>
            <a:xfrm>
              <a:off x="179467" y="38100"/>
              <a:ext cx="1555380" cy="698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55" name="Freeform 55"/>
          <p:cNvSpPr/>
          <p:nvPr/>
        </p:nvSpPr>
        <p:spPr>
          <a:xfrm>
            <a:off x="8130045" y="4521682"/>
            <a:ext cx="675360" cy="675360"/>
          </a:xfrm>
          <a:custGeom>
            <a:avLst/>
            <a:gdLst/>
            <a:ahLst/>
            <a:cxnLst/>
            <a:rect l="l" t="t" r="r" b="b"/>
            <a:pathLst>
              <a:path w="675360" h="675360">
                <a:moveTo>
                  <a:pt x="0" y="0"/>
                </a:moveTo>
                <a:lnTo>
                  <a:pt x="675360" y="0"/>
                </a:lnTo>
                <a:lnTo>
                  <a:pt x="675360" y="675361"/>
                </a:lnTo>
                <a:lnTo>
                  <a:pt x="0" y="67536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6" name="Freeform 56"/>
          <p:cNvSpPr/>
          <p:nvPr/>
        </p:nvSpPr>
        <p:spPr>
          <a:xfrm>
            <a:off x="11179779" y="5786909"/>
            <a:ext cx="758532" cy="758532"/>
          </a:xfrm>
          <a:custGeom>
            <a:avLst/>
            <a:gdLst/>
            <a:ahLst/>
            <a:cxnLst/>
            <a:rect l="l" t="t" r="r" b="b"/>
            <a:pathLst>
              <a:path w="758532" h="758532">
                <a:moveTo>
                  <a:pt x="0" y="0"/>
                </a:moveTo>
                <a:lnTo>
                  <a:pt x="758532" y="0"/>
                </a:lnTo>
                <a:lnTo>
                  <a:pt x="758532" y="758531"/>
                </a:lnTo>
                <a:lnTo>
                  <a:pt x="0" y="7585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57" name="Freeform 57"/>
          <p:cNvSpPr/>
          <p:nvPr/>
        </p:nvSpPr>
        <p:spPr>
          <a:xfrm>
            <a:off x="9853135" y="4634370"/>
            <a:ext cx="675360" cy="675360"/>
          </a:xfrm>
          <a:custGeom>
            <a:avLst/>
            <a:gdLst/>
            <a:ahLst/>
            <a:cxnLst/>
            <a:rect l="l" t="t" r="r" b="b"/>
            <a:pathLst>
              <a:path w="675360" h="675360">
                <a:moveTo>
                  <a:pt x="0" y="0"/>
                </a:moveTo>
                <a:lnTo>
                  <a:pt x="675360" y="0"/>
                </a:lnTo>
                <a:lnTo>
                  <a:pt x="675360" y="675360"/>
                </a:lnTo>
                <a:lnTo>
                  <a:pt x="0" y="67536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58" name="Freeform 58"/>
          <p:cNvSpPr/>
          <p:nvPr/>
        </p:nvSpPr>
        <p:spPr>
          <a:xfrm>
            <a:off x="6748706" y="5828494"/>
            <a:ext cx="675360" cy="675360"/>
          </a:xfrm>
          <a:custGeom>
            <a:avLst/>
            <a:gdLst/>
            <a:ahLst/>
            <a:cxnLst/>
            <a:rect l="l" t="t" r="r" b="b"/>
            <a:pathLst>
              <a:path w="675360" h="675360">
                <a:moveTo>
                  <a:pt x="0" y="0"/>
                </a:moveTo>
                <a:lnTo>
                  <a:pt x="675361" y="0"/>
                </a:lnTo>
                <a:lnTo>
                  <a:pt x="675361" y="675361"/>
                </a:lnTo>
                <a:lnTo>
                  <a:pt x="0" y="67536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59" name="TextBox 59"/>
          <p:cNvSpPr txBox="1"/>
          <p:nvPr/>
        </p:nvSpPr>
        <p:spPr>
          <a:xfrm>
            <a:off x="5941909" y="7736065"/>
            <a:ext cx="6404181" cy="1013739"/>
          </a:xfrm>
          <a:prstGeom prst="rect">
            <a:avLst/>
          </a:prstGeom>
        </p:spPr>
        <p:txBody>
          <a:bodyPr lIns="0" tIns="0" rIns="0" bIns="0" rtlCol="0" anchor="t">
            <a:spAutoFit/>
          </a:bodyPr>
          <a:lstStyle/>
          <a:p>
            <a:pPr algn="ctr">
              <a:lnSpc>
                <a:spcPts val="3852"/>
              </a:lnSpc>
            </a:pPr>
            <a:r>
              <a:rPr lang="en-GB" sz="3600" b="1" dirty="0">
                <a:solidFill>
                  <a:srgbClr val="112F8D"/>
                </a:solidFill>
                <a:latin typeface="TT Fors Bold"/>
              </a:rPr>
              <a:t>Dashboard Analysis</a:t>
            </a:r>
            <a:endParaRPr lang="en-US" sz="3600" b="1" dirty="0">
              <a:solidFill>
                <a:srgbClr val="112F8D"/>
              </a:solidFill>
              <a:latin typeface="TT Fors Bold"/>
              <a:sym typeface="TT Fors Bold"/>
            </a:endParaRPr>
          </a:p>
          <a:p>
            <a:pPr algn="ctr">
              <a:lnSpc>
                <a:spcPts val="3852"/>
              </a:lnSpc>
            </a:pPr>
            <a:endParaRPr lang="en-US" sz="3600" b="1" dirty="0">
              <a:solidFill>
                <a:srgbClr val="112F8D"/>
              </a:solidFill>
              <a:latin typeface="TT Fors Bold"/>
              <a:ea typeface="TT Fors Bold"/>
              <a:cs typeface="TT Fors Bold"/>
              <a:sym typeface="TT Fors Bold"/>
            </a:endParaRPr>
          </a:p>
        </p:txBody>
      </p:sp>
      <p:sp>
        <p:nvSpPr>
          <p:cNvPr id="60" name="TextBox 60"/>
          <p:cNvSpPr txBox="1"/>
          <p:nvPr/>
        </p:nvSpPr>
        <p:spPr>
          <a:xfrm>
            <a:off x="5879637" y="8338258"/>
            <a:ext cx="6404181" cy="359714"/>
          </a:xfrm>
          <a:prstGeom prst="rect">
            <a:avLst/>
          </a:prstGeom>
        </p:spPr>
        <p:txBody>
          <a:bodyPr lIns="0" tIns="0" rIns="0" bIns="0" rtlCol="0" anchor="t">
            <a:spAutoFit/>
          </a:bodyPr>
          <a:lstStyle/>
          <a:p>
            <a:pPr algn="ctr">
              <a:lnSpc>
                <a:spcPts val="2940"/>
              </a:lnSpc>
              <a:spcBef>
                <a:spcPct val="0"/>
              </a:spcBef>
            </a:pPr>
            <a:r>
              <a:rPr lang="en-GB" sz="2100" dirty="0">
                <a:solidFill>
                  <a:srgbClr val="000000"/>
                </a:solidFill>
                <a:latin typeface="TT Fors"/>
              </a:rPr>
              <a:t>The dashboard provides the following insights</a:t>
            </a:r>
            <a:endParaRPr lang="en-US" sz="2100" dirty="0">
              <a:solidFill>
                <a:srgbClr val="000000"/>
              </a:solidFill>
              <a:latin typeface="TT Fors"/>
              <a:sym typeface="TT Fors"/>
            </a:endParaRPr>
          </a:p>
        </p:txBody>
      </p:sp>
      <p:sp>
        <p:nvSpPr>
          <p:cNvPr id="63" name="TextBox 63"/>
          <p:cNvSpPr txBox="1"/>
          <p:nvPr/>
        </p:nvSpPr>
        <p:spPr>
          <a:xfrm>
            <a:off x="1647273" y="5500295"/>
            <a:ext cx="3227349" cy="653384"/>
          </a:xfrm>
          <a:prstGeom prst="rect">
            <a:avLst/>
          </a:prstGeom>
        </p:spPr>
        <p:txBody>
          <a:bodyPr lIns="0" tIns="0" rIns="0" bIns="0" rtlCol="0" anchor="t">
            <a:spAutoFit/>
          </a:bodyPr>
          <a:lstStyle/>
          <a:p>
            <a:pPr algn="ctr">
              <a:lnSpc>
                <a:spcPts val="2519"/>
              </a:lnSpc>
              <a:spcBef>
                <a:spcPct val="0"/>
              </a:spcBef>
            </a:pPr>
            <a:r>
              <a:rPr lang="en-GB" sz="2400" b="1" dirty="0">
                <a:solidFill>
                  <a:srgbClr val="000000"/>
                </a:solidFill>
                <a:latin typeface="TT Fors Bold"/>
              </a:rPr>
              <a:t>Hourly Rate by Experience Level</a:t>
            </a:r>
            <a:endParaRPr lang="en-US" sz="2400" b="1" dirty="0">
              <a:solidFill>
                <a:srgbClr val="000000"/>
              </a:solidFill>
              <a:latin typeface="TT Fors Bold"/>
              <a:sym typeface="TT Fors Bold"/>
            </a:endParaRPr>
          </a:p>
        </p:txBody>
      </p:sp>
      <p:sp>
        <p:nvSpPr>
          <p:cNvPr id="67" name="TextBox 67"/>
          <p:cNvSpPr txBox="1"/>
          <p:nvPr/>
        </p:nvSpPr>
        <p:spPr>
          <a:xfrm>
            <a:off x="13590163" y="5024640"/>
            <a:ext cx="3227349" cy="1615186"/>
          </a:xfrm>
          <a:prstGeom prst="rect">
            <a:avLst/>
          </a:prstGeom>
        </p:spPr>
        <p:txBody>
          <a:bodyPr lIns="0" tIns="0" rIns="0" bIns="0" rtlCol="0" anchor="t">
            <a:spAutoFit/>
          </a:bodyPr>
          <a:lstStyle/>
          <a:p>
            <a:pPr algn="ctr">
              <a:lnSpc>
                <a:spcPts val="2519"/>
              </a:lnSpc>
              <a:spcBef>
                <a:spcPct val="0"/>
              </a:spcBef>
            </a:pPr>
            <a:r>
              <a:rPr lang="en-GB" sz="2400" b="1" dirty="0">
                <a:solidFill>
                  <a:srgbClr val="000000"/>
                </a:solidFill>
                <a:latin typeface="TT Fors Bold"/>
              </a:rPr>
              <a:t>Earnings by Client Region &amp;</a:t>
            </a:r>
          </a:p>
          <a:p>
            <a:pPr algn="ctr">
              <a:lnSpc>
                <a:spcPts val="2519"/>
              </a:lnSpc>
              <a:spcBef>
                <a:spcPct val="0"/>
              </a:spcBef>
            </a:pPr>
            <a:r>
              <a:rPr lang="en-GB" sz="2400" b="1" dirty="0">
                <a:solidFill>
                  <a:srgbClr val="000000"/>
                </a:solidFill>
                <a:latin typeface="TT Fors Bold"/>
              </a:rPr>
              <a:t>Marketing Spend vs Earnings</a:t>
            </a:r>
          </a:p>
          <a:p>
            <a:pPr algn="ctr">
              <a:lnSpc>
                <a:spcPts val="2519"/>
              </a:lnSpc>
              <a:spcBef>
                <a:spcPct val="0"/>
              </a:spcBef>
            </a:pPr>
            <a:endParaRPr lang="en-US" sz="2400" b="1" dirty="0">
              <a:solidFill>
                <a:srgbClr val="000000"/>
              </a:solidFill>
              <a:latin typeface="TT Fors Bold"/>
              <a:ea typeface="TT Fors Bold"/>
              <a:cs typeface="TT Fors Bold"/>
              <a:sym typeface="TT Fors Bold"/>
            </a:endParaRPr>
          </a:p>
        </p:txBody>
      </p:sp>
      <p:sp>
        <p:nvSpPr>
          <p:cNvPr id="68" name="TextBox 68"/>
          <p:cNvSpPr txBox="1"/>
          <p:nvPr/>
        </p:nvSpPr>
        <p:spPr>
          <a:xfrm>
            <a:off x="4564525" y="1999220"/>
            <a:ext cx="3227349" cy="653384"/>
          </a:xfrm>
          <a:prstGeom prst="rect">
            <a:avLst/>
          </a:prstGeom>
        </p:spPr>
        <p:txBody>
          <a:bodyPr lIns="0" tIns="0" rIns="0" bIns="0" rtlCol="0" anchor="t">
            <a:spAutoFit/>
          </a:bodyPr>
          <a:lstStyle/>
          <a:p>
            <a:pPr algn="ctr">
              <a:lnSpc>
                <a:spcPts val="2519"/>
              </a:lnSpc>
              <a:spcBef>
                <a:spcPct val="0"/>
              </a:spcBef>
            </a:pPr>
            <a:r>
              <a:rPr lang="en-GB" sz="2400" b="1" dirty="0">
                <a:solidFill>
                  <a:srgbClr val="000000"/>
                </a:solidFill>
                <a:latin typeface="TT Fors Bold"/>
              </a:rPr>
              <a:t>Earnings by Job Category</a:t>
            </a:r>
            <a:endParaRPr lang="en-US" sz="2400" b="1" dirty="0">
              <a:solidFill>
                <a:srgbClr val="000000"/>
              </a:solidFill>
              <a:latin typeface="TT Fors Bold"/>
              <a:sym typeface="TT Fors Bold"/>
            </a:endParaRPr>
          </a:p>
        </p:txBody>
      </p:sp>
      <p:sp>
        <p:nvSpPr>
          <p:cNvPr id="69" name="TextBox 64">
            <a:extLst>
              <a:ext uri="{FF2B5EF4-FFF2-40B4-BE49-F238E27FC236}">
                <a16:creationId xmlns:a16="http://schemas.microsoft.com/office/drawing/2014/main" id="{EB5CBD88-4828-989C-264D-EA96BFCF13B5}"/>
              </a:ext>
            </a:extLst>
          </p:cNvPr>
          <p:cNvSpPr txBox="1"/>
          <p:nvPr/>
        </p:nvSpPr>
        <p:spPr>
          <a:xfrm>
            <a:off x="10978145" y="1968041"/>
            <a:ext cx="3227349" cy="653384"/>
          </a:xfrm>
          <a:prstGeom prst="rect">
            <a:avLst/>
          </a:prstGeom>
        </p:spPr>
        <p:txBody>
          <a:bodyPr lIns="0" tIns="0" rIns="0" bIns="0" rtlCol="0" anchor="t">
            <a:spAutoFit/>
          </a:bodyPr>
          <a:lstStyle/>
          <a:p>
            <a:pPr algn="ctr">
              <a:lnSpc>
                <a:spcPts val="2519"/>
              </a:lnSpc>
              <a:spcBef>
                <a:spcPct val="0"/>
              </a:spcBef>
            </a:pPr>
            <a:r>
              <a:rPr lang="en-GB" sz="2400" b="1" dirty="0">
                <a:solidFill>
                  <a:srgbClr val="000000"/>
                </a:solidFill>
                <a:latin typeface="TT Fors Bold"/>
              </a:rPr>
              <a:t>Job Success Rate by Platform</a:t>
            </a:r>
            <a:endParaRPr lang="en-US" sz="2400" b="1" dirty="0">
              <a:solidFill>
                <a:srgbClr val="000000"/>
              </a:solidFill>
              <a:latin typeface="TT Fors Bold"/>
              <a:sym typeface="TT Fors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3" name="Freeform 3"/>
          <p:cNvSpPr/>
          <p:nvPr/>
        </p:nvSpPr>
        <p:spPr>
          <a:xfrm>
            <a:off x="1219200" y="2095500"/>
            <a:ext cx="2960106" cy="450393"/>
          </a:xfrm>
          <a:custGeom>
            <a:avLst/>
            <a:gdLst/>
            <a:ahLst/>
            <a:cxnLst/>
            <a:rect l="l" t="t" r="r" b="b"/>
            <a:pathLst>
              <a:path w="3803924" h="753869">
                <a:moveTo>
                  <a:pt x="0" y="0"/>
                </a:moveTo>
                <a:lnTo>
                  <a:pt x="3803924" y="0"/>
                </a:lnTo>
                <a:lnTo>
                  <a:pt x="3803924" y="753868"/>
                </a:lnTo>
                <a:lnTo>
                  <a:pt x="0" y="753868"/>
                </a:lnTo>
                <a:lnTo>
                  <a:pt x="0" y="0"/>
                </a:lnTo>
                <a:close/>
              </a:path>
            </a:pathLst>
          </a:custGeom>
          <a:blipFill>
            <a:blip r:embed="rId2"/>
            <a:stretch>
              <a:fillRect/>
            </a:stretch>
          </a:blipFill>
        </p:spPr>
        <p:txBody>
          <a:bodyPr/>
          <a:lstStyle/>
          <a:p>
            <a:endParaRPr lang="en-GB"/>
          </a:p>
        </p:txBody>
      </p:sp>
      <p:grpSp>
        <p:nvGrpSpPr>
          <p:cNvPr id="4" name="Group 4"/>
          <p:cNvGrpSpPr/>
          <p:nvPr/>
        </p:nvGrpSpPr>
        <p:grpSpPr>
          <a:xfrm>
            <a:off x="1133111" y="1333499"/>
            <a:ext cx="3086100" cy="1416471"/>
            <a:chOff x="0" y="0"/>
            <a:chExt cx="1001857" cy="551807"/>
          </a:xfrm>
        </p:grpSpPr>
        <p:sp>
          <p:nvSpPr>
            <p:cNvPr id="5" name="Freeform 5"/>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a:srgbClr val="FFFFFF"/>
            </a:solidFill>
          </p:spPr>
          <p:txBody>
            <a:bodyPr/>
            <a:lstStyle/>
            <a:p>
              <a:endParaRPr lang="en-GB"/>
            </a:p>
          </p:txBody>
        </p:sp>
        <p:sp>
          <p:nvSpPr>
            <p:cNvPr id="6" name="TextBox 6"/>
            <p:cNvSpPr txBox="1"/>
            <p:nvPr/>
          </p:nvSpPr>
          <p:spPr>
            <a:xfrm>
              <a:off x="0" y="-38100"/>
              <a:ext cx="1001857" cy="589907"/>
            </a:xfrm>
            <a:prstGeom prst="rect">
              <a:avLst/>
            </a:prstGeom>
          </p:spPr>
          <p:txBody>
            <a:bodyPr lIns="50800" tIns="50800" rIns="50800" bIns="50800" rtlCol="0" anchor="ctr"/>
            <a:lstStyle/>
            <a:p>
              <a:pPr algn="ctr">
                <a:lnSpc>
                  <a:spcPts val="2520"/>
                </a:lnSpc>
              </a:pPr>
              <a:endParaRPr/>
            </a:p>
          </p:txBody>
        </p:sp>
      </p:grpSp>
      <p:sp>
        <p:nvSpPr>
          <p:cNvPr id="7" name="Freeform 7"/>
          <p:cNvSpPr/>
          <p:nvPr/>
        </p:nvSpPr>
        <p:spPr>
          <a:xfrm>
            <a:off x="4650513" y="2251207"/>
            <a:ext cx="3086100" cy="753869"/>
          </a:xfrm>
          <a:custGeom>
            <a:avLst/>
            <a:gdLst/>
            <a:ahLst/>
            <a:cxnLst/>
            <a:rect l="l" t="t" r="r" b="b"/>
            <a:pathLst>
              <a:path w="3803924" h="753869">
                <a:moveTo>
                  <a:pt x="0" y="0"/>
                </a:moveTo>
                <a:lnTo>
                  <a:pt x="3803924" y="0"/>
                </a:lnTo>
                <a:lnTo>
                  <a:pt x="3803924" y="753868"/>
                </a:lnTo>
                <a:lnTo>
                  <a:pt x="0" y="753868"/>
                </a:lnTo>
                <a:lnTo>
                  <a:pt x="0" y="0"/>
                </a:lnTo>
                <a:close/>
              </a:path>
            </a:pathLst>
          </a:custGeom>
          <a:blipFill>
            <a:blip r:embed="rId2"/>
            <a:stretch>
              <a:fillRect/>
            </a:stretch>
          </a:blipFill>
        </p:spPr>
        <p:txBody>
          <a:bodyPr/>
          <a:lstStyle/>
          <a:p>
            <a:endParaRPr lang="en-GB"/>
          </a:p>
        </p:txBody>
      </p:sp>
      <p:grpSp>
        <p:nvGrpSpPr>
          <p:cNvPr id="8" name="Group 8"/>
          <p:cNvGrpSpPr/>
          <p:nvPr/>
        </p:nvGrpSpPr>
        <p:grpSpPr>
          <a:xfrm>
            <a:off x="4582084" y="1323810"/>
            <a:ext cx="3125733" cy="1514272"/>
            <a:chOff x="0" y="0"/>
            <a:chExt cx="1001857" cy="551807"/>
          </a:xfrm>
        </p:grpSpPr>
        <p:sp>
          <p:nvSpPr>
            <p:cNvPr id="9" name="Freeform 9"/>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a:srgbClr val="FFFFFF"/>
            </a:solidFill>
          </p:spPr>
          <p:txBody>
            <a:bodyPr/>
            <a:lstStyle/>
            <a:p>
              <a:endParaRPr lang="en-GB" dirty="0"/>
            </a:p>
          </p:txBody>
        </p:sp>
        <p:sp>
          <p:nvSpPr>
            <p:cNvPr id="10" name="TextBox 10"/>
            <p:cNvSpPr txBox="1"/>
            <p:nvPr/>
          </p:nvSpPr>
          <p:spPr>
            <a:xfrm>
              <a:off x="0" y="-38100"/>
              <a:ext cx="1001857" cy="589907"/>
            </a:xfrm>
            <a:prstGeom prst="rect">
              <a:avLst/>
            </a:prstGeom>
          </p:spPr>
          <p:txBody>
            <a:bodyPr lIns="50800" tIns="50800" rIns="50800" bIns="50800" rtlCol="0" anchor="ctr"/>
            <a:lstStyle/>
            <a:p>
              <a:pPr algn="ctr">
                <a:lnSpc>
                  <a:spcPts val="2520"/>
                </a:lnSpc>
              </a:pPr>
              <a:endParaRPr/>
            </a:p>
          </p:txBody>
        </p:sp>
      </p:grpSp>
      <p:sp>
        <p:nvSpPr>
          <p:cNvPr id="11" name="Freeform 11"/>
          <p:cNvSpPr/>
          <p:nvPr/>
        </p:nvSpPr>
        <p:spPr>
          <a:xfrm>
            <a:off x="392482" y="5067300"/>
            <a:ext cx="3125734" cy="666970"/>
          </a:xfrm>
          <a:custGeom>
            <a:avLst/>
            <a:gdLst/>
            <a:ahLst/>
            <a:cxnLst/>
            <a:rect l="l" t="t" r="r" b="b"/>
            <a:pathLst>
              <a:path w="3803924" h="753869">
                <a:moveTo>
                  <a:pt x="0" y="0"/>
                </a:moveTo>
                <a:lnTo>
                  <a:pt x="3803924" y="0"/>
                </a:lnTo>
                <a:lnTo>
                  <a:pt x="3803924" y="753869"/>
                </a:lnTo>
                <a:lnTo>
                  <a:pt x="0" y="753869"/>
                </a:lnTo>
                <a:lnTo>
                  <a:pt x="0" y="0"/>
                </a:lnTo>
                <a:close/>
              </a:path>
            </a:pathLst>
          </a:custGeom>
          <a:blipFill>
            <a:blip r:embed="rId2"/>
            <a:stretch>
              <a:fillRect/>
            </a:stretch>
          </a:blipFill>
        </p:spPr>
        <p:txBody>
          <a:bodyPr/>
          <a:lstStyle/>
          <a:p>
            <a:endParaRPr lang="en-GB"/>
          </a:p>
        </p:txBody>
      </p:sp>
      <p:grpSp>
        <p:nvGrpSpPr>
          <p:cNvPr id="12" name="Group 12"/>
          <p:cNvGrpSpPr/>
          <p:nvPr/>
        </p:nvGrpSpPr>
        <p:grpSpPr>
          <a:xfrm>
            <a:off x="316327" y="4337919"/>
            <a:ext cx="3125733" cy="1386259"/>
            <a:chOff x="0" y="0"/>
            <a:chExt cx="1001857" cy="551807"/>
          </a:xfrm>
        </p:grpSpPr>
        <p:sp>
          <p:nvSpPr>
            <p:cNvPr id="13" name="Freeform 13"/>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a:srgbClr val="FFFFFF"/>
            </a:solidFill>
          </p:spPr>
          <p:txBody>
            <a:bodyPr/>
            <a:lstStyle/>
            <a:p>
              <a:endParaRPr lang="en-GB" dirty="0"/>
            </a:p>
          </p:txBody>
        </p:sp>
        <p:sp>
          <p:nvSpPr>
            <p:cNvPr id="14" name="TextBox 14"/>
            <p:cNvSpPr txBox="1"/>
            <p:nvPr/>
          </p:nvSpPr>
          <p:spPr>
            <a:xfrm>
              <a:off x="0" y="-38100"/>
              <a:ext cx="1001857" cy="589907"/>
            </a:xfrm>
            <a:prstGeom prst="rect">
              <a:avLst/>
            </a:prstGeom>
          </p:spPr>
          <p:txBody>
            <a:bodyPr lIns="50800" tIns="50800" rIns="50800" bIns="50800" rtlCol="0" anchor="ctr"/>
            <a:lstStyle/>
            <a:p>
              <a:pPr algn="ctr">
                <a:lnSpc>
                  <a:spcPts val="2520"/>
                </a:lnSpc>
              </a:pPr>
              <a:endParaRPr/>
            </a:p>
          </p:txBody>
        </p:sp>
      </p:grpSp>
      <p:sp>
        <p:nvSpPr>
          <p:cNvPr id="15" name="Freeform 15"/>
          <p:cNvSpPr/>
          <p:nvPr/>
        </p:nvSpPr>
        <p:spPr>
          <a:xfrm>
            <a:off x="8688091" y="5214459"/>
            <a:ext cx="3314495" cy="753869"/>
          </a:xfrm>
          <a:custGeom>
            <a:avLst/>
            <a:gdLst/>
            <a:ahLst/>
            <a:cxnLst/>
            <a:rect l="l" t="t" r="r" b="b"/>
            <a:pathLst>
              <a:path w="3803924" h="753869">
                <a:moveTo>
                  <a:pt x="0" y="0"/>
                </a:moveTo>
                <a:lnTo>
                  <a:pt x="3803924" y="0"/>
                </a:lnTo>
                <a:lnTo>
                  <a:pt x="3803924" y="753869"/>
                </a:lnTo>
                <a:lnTo>
                  <a:pt x="0" y="753869"/>
                </a:lnTo>
                <a:lnTo>
                  <a:pt x="0" y="0"/>
                </a:lnTo>
                <a:close/>
              </a:path>
            </a:pathLst>
          </a:custGeom>
          <a:blipFill>
            <a:blip r:embed="rId2"/>
            <a:stretch>
              <a:fillRect/>
            </a:stretch>
          </a:blipFill>
        </p:spPr>
        <p:txBody>
          <a:bodyPr/>
          <a:lstStyle/>
          <a:p>
            <a:endParaRPr lang="en-GB"/>
          </a:p>
        </p:txBody>
      </p:sp>
      <p:grpSp>
        <p:nvGrpSpPr>
          <p:cNvPr id="16" name="Group 16"/>
          <p:cNvGrpSpPr/>
          <p:nvPr/>
        </p:nvGrpSpPr>
        <p:grpSpPr>
          <a:xfrm>
            <a:off x="8802186" y="4362005"/>
            <a:ext cx="3142095" cy="1444775"/>
            <a:chOff x="0" y="0"/>
            <a:chExt cx="1001857" cy="551807"/>
          </a:xfrm>
        </p:grpSpPr>
        <p:sp>
          <p:nvSpPr>
            <p:cNvPr id="17" name="Freeform 17"/>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a:srgbClr val="FFFFFF"/>
            </a:solidFill>
          </p:spPr>
          <p:txBody>
            <a:bodyPr/>
            <a:lstStyle/>
            <a:p>
              <a:endParaRPr lang="en-GB"/>
            </a:p>
          </p:txBody>
        </p:sp>
        <p:sp>
          <p:nvSpPr>
            <p:cNvPr id="18" name="TextBox 18"/>
            <p:cNvSpPr txBox="1"/>
            <p:nvPr/>
          </p:nvSpPr>
          <p:spPr>
            <a:xfrm>
              <a:off x="0" y="-38100"/>
              <a:ext cx="1001857" cy="589907"/>
            </a:xfrm>
            <a:prstGeom prst="rect">
              <a:avLst/>
            </a:prstGeom>
          </p:spPr>
          <p:txBody>
            <a:bodyPr lIns="50800" tIns="50800" rIns="50800" bIns="50800" rtlCol="0" anchor="ctr"/>
            <a:lstStyle/>
            <a:p>
              <a:pPr algn="ctr">
                <a:lnSpc>
                  <a:spcPts val="2520"/>
                </a:lnSpc>
              </a:pPr>
              <a:endParaRPr/>
            </a:p>
          </p:txBody>
        </p:sp>
      </p:grpSp>
      <p:sp>
        <p:nvSpPr>
          <p:cNvPr id="19" name="Freeform 19"/>
          <p:cNvSpPr/>
          <p:nvPr/>
        </p:nvSpPr>
        <p:spPr>
          <a:xfrm>
            <a:off x="8332730" y="2320697"/>
            <a:ext cx="2764355" cy="753869"/>
          </a:xfrm>
          <a:custGeom>
            <a:avLst/>
            <a:gdLst/>
            <a:ahLst/>
            <a:cxnLst/>
            <a:rect l="l" t="t" r="r" b="b"/>
            <a:pathLst>
              <a:path w="3803924" h="753869">
                <a:moveTo>
                  <a:pt x="0" y="0"/>
                </a:moveTo>
                <a:lnTo>
                  <a:pt x="3803924" y="0"/>
                </a:lnTo>
                <a:lnTo>
                  <a:pt x="3803924" y="753868"/>
                </a:lnTo>
                <a:lnTo>
                  <a:pt x="0" y="753868"/>
                </a:lnTo>
                <a:lnTo>
                  <a:pt x="0" y="0"/>
                </a:lnTo>
                <a:close/>
              </a:path>
            </a:pathLst>
          </a:custGeom>
          <a:blipFill>
            <a:blip r:embed="rId2"/>
            <a:stretch>
              <a:fillRect/>
            </a:stretch>
          </a:blipFill>
        </p:spPr>
        <p:txBody>
          <a:bodyPr/>
          <a:lstStyle/>
          <a:p>
            <a:endParaRPr lang="en-GB"/>
          </a:p>
        </p:txBody>
      </p:sp>
      <p:grpSp>
        <p:nvGrpSpPr>
          <p:cNvPr id="20" name="Group 20"/>
          <p:cNvGrpSpPr/>
          <p:nvPr/>
        </p:nvGrpSpPr>
        <p:grpSpPr>
          <a:xfrm>
            <a:off x="8038652" y="1341834"/>
            <a:ext cx="3125734" cy="1524000"/>
            <a:chOff x="0" y="0"/>
            <a:chExt cx="1001857" cy="551807"/>
          </a:xfrm>
        </p:grpSpPr>
        <p:sp>
          <p:nvSpPr>
            <p:cNvPr id="21" name="Freeform 21"/>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a:srgbClr val="FFFFFF"/>
            </a:solidFill>
          </p:spPr>
          <p:txBody>
            <a:bodyPr/>
            <a:lstStyle/>
            <a:p>
              <a:endParaRPr lang="en-GB"/>
            </a:p>
          </p:txBody>
        </p:sp>
        <p:sp>
          <p:nvSpPr>
            <p:cNvPr id="22" name="TextBox 22"/>
            <p:cNvSpPr txBox="1"/>
            <p:nvPr/>
          </p:nvSpPr>
          <p:spPr>
            <a:xfrm>
              <a:off x="0" y="-38100"/>
              <a:ext cx="1001857" cy="589907"/>
            </a:xfrm>
            <a:prstGeom prst="rect">
              <a:avLst/>
            </a:prstGeom>
          </p:spPr>
          <p:txBody>
            <a:bodyPr lIns="50800" tIns="50800" rIns="50800" bIns="50800" rtlCol="0" anchor="ctr"/>
            <a:lstStyle/>
            <a:p>
              <a:pPr algn="ctr">
                <a:lnSpc>
                  <a:spcPts val="2520"/>
                </a:lnSpc>
              </a:pPr>
              <a:endParaRPr/>
            </a:p>
          </p:txBody>
        </p:sp>
      </p:grpSp>
      <p:grpSp>
        <p:nvGrpSpPr>
          <p:cNvPr id="23" name="Group 23"/>
          <p:cNvGrpSpPr/>
          <p:nvPr/>
        </p:nvGrpSpPr>
        <p:grpSpPr>
          <a:xfrm>
            <a:off x="336144" y="4279887"/>
            <a:ext cx="3086100" cy="195093"/>
            <a:chOff x="0" y="0"/>
            <a:chExt cx="812800" cy="51383"/>
          </a:xfrm>
        </p:grpSpPr>
        <p:sp>
          <p:nvSpPr>
            <p:cNvPr id="24" name="Freeform 24"/>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122359"/>
            </a:solidFill>
          </p:spPr>
          <p:txBody>
            <a:bodyPr/>
            <a:lstStyle/>
            <a:p>
              <a:endParaRPr lang="en-GB"/>
            </a:p>
          </p:txBody>
        </p:sp>
        <p:sp>
          <p:nvSpPr>
            <p:cNvPr id="25" name="TextBox 25"/>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6" name="TextBox 26"/>
          <p:cNvSpPr txBox="1"/>
          <p:nvPr/>
        </p:nvSpPr>
        <p:spPr>
          <a:xfrm>
            <a:off x="2418079" y="6244320"/>
            <a:ext cx="7509073" cy="619400"/>
          </a:xfrm>
          <a:prstGeom prst="rect">
            <a:avLst/>
          </a:prstGeom>
        </p:spPr>
        <p:txBody>
          <a:bodyPr wrap="square"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Summary of KPI’s</a:t>
            </a:r>
          </a:p>
        </p:txBody>
      </p:sp>
      <p:sp>
        <p:nvSpPr>
          <p:cNvPr id="28" name="TextBox 28"/>
          <p:cNvSpPr txBox="1"/>
          <p:nvPr/>
        </p:nvSpPr>
        <p:spPr>
          <a:xfrm>
            <a:off x="1198607" y="2160254"/>
            <a:ext cx="2960106" cy="350096"/>
          </a:xfrm>
          <a:prstGeom prst="rect">
            <a:avLst/>
          </a:prstGeom>
        </p:spPr>
        <p:txBody>
          <a:bodyPr lIns="0" tIns="0" rIns="0" bIns="0" rtlCol="0" anchor="t">
            <a:spAutoFit/>
          </a:bodyPr>
          <a:lstStyle/>
          <a:p>
            <a:pPr algn="ctr">
              <a:lnSpc>
                <a:spcPts val="2239"/>
              </a:lnSpc>
              <a:spcBef>
                <a:spcPct val="0"/>
              </a:spcBef>
            </a:pPr>
            <a:r>
              <a:rPr lang="en-GB" sz="3600" b="1" dirty="0">
                <a:solidFill>
                  <a:srgbClr val="000000"/>
                </a:solidFill>
                <a:latin typeface="TT Fors Bold"/>
              </a:rPr>
              <a:t>1950</a:t>
            </a:r>
            <a:endParaRPr lang="en-US" sz="3600" b="1" dirty="0">
              <a:solidFill>
                <a:srgbClr val="000000"/>
              </a:solidFill>
              <a:latin typeface="TT Fors Bold"/>
              <a:sym typeface="TT Fors"/>
            </a:endParaRPr>
          </a:p>
        </p:txBody>
      </p:sp>
      <p:sp>
        <p:nvSpPr>
          <p:cNvPr id="29" name="TextBox 29"/>
          <p:cNvSpPr txBox="1"/>
          <p:nvPr/>
        </p:nvSpPr>
        <p:spPr>
          <a:xfrm>
            <a:off x="1136386" y="1544883"/>
            <a:ext cx="3125733" cy="307648"/>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Total freelancers</a:t>
            </a:r>
            <a:endParaRPr lang="en-US" sz="1799" b="1" dirty="0">
              <a:solidFill>
                <a:srgbClr val="000000"/>
              </a:solidFill>
              <a:latin typeface="TT Fors Bold"/>
              <a:sym typeface="TT Fors Bold"/>
            </a:endParaRPr>
          </a:p>
        </p:txBody>
      </p:sp>
      <p:sp>
        <p:nvSpPr>
          <p:cNvPr id="30" name="TextBox 30"/>
          <p:cNvSpPr txBox="1"/>
          <p:nvPr/>
        </p:nvSpPr>
        <p:spPr>
          <a:xfrm>
            <a:off x="4681686" y="2094984"/>
            <a:ext cx="2960106" cy="553998"/>
          </a:xfrm>
          <a:prstGeom prst="rect">
            <a:avLst/>
          </a:prstGeom>
        </p:spPr>
        <p:txBody>
          <a:bodyPr lIns="0" tIns="0" rIns="0" bIns="0" rtlCol="0" anchor="t">
            <a:spAutoFit/>
          </a:bodyPr>
          <a:lstStyle/>
          <a:p>
            <a:pPr algn="ctr"/>
            <a:r>
              <a:rPr lang="en-GB" sz="3600" b="1" dirty="0">
                <a:solidFill>
                  <a:srgbClr val="000000"/>
                </a:solidFill>
                <a:latin typeface="TT Fors Bold"/>
              </a:rPr>
              <a:t>294,000</a:t>
            </a:r>
          </a:p>
        </p:txBody>
      </p:sp>
      <p:sp>
        <p:nvSpPr>
          <p:cNvPr id="31" name="TextBox 31"/>
          <p:cNvSpPr txBox="1"/>
          <p:nvPr/>
        </p:nvSpPr>
        <p:spPr>
          <a:xfrm>
            <a:off x="4598872" y="1724169"/>
            <a:ext cx="3125733" cy="306705"/>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Total jobs completed</a:t>
            </a:r>
            <a:endParaRPr lang="en-US" sz="1799" b="1" dirty="0">
              <a:solidFill>
                <a:srgbClr val="000000"/>
              </a:solidFill>
              <a:latin typeface="TT Fors Bold"/>
              <a:ea typeface="TT Fors Bold"/>
              <a:cs typeface="TT Fors Bold"/>
              <a:sym typeface="TT Fors Bold"/>
            </a:endParaRPr>
          </a:p>
        </p:txBody>
      </p:sp>
      <p:sp>
        <p:nvSpPr>
          <p:cNvPr id="32" name="TextBox 32"/>
          <p:cNvSpPr txBox="1"/>
          <p:nvPr/>
        </p:nvSpPr>
        <p:spPr>
          <a:xfrm>
            <a:off x="399140" y="4948536"/>
            <a:ext cx="2960106" cy="553998"/>
          </a:xfrm>
          <a:prstGeom prst="rect">
            <a:avLst/>
          </a:prstGeom>
        </p:spPr>
        <p:txBody>
          <a:bodyPr lIns="0" tIns="0" rIns="0" bIns="0" rtlCol="0" anchor="t">
            <a:spAutoFit/>
          </a:bodyPr>
          <a:lstStyle/>
          <a:p>
            <a:pPr algn="ctr"/>
            <a:r>
              <a:rPr lang="en-GB" sz="3600" b="1" dirty="0">
                <a:solidFill>
                  <a:srgbClr val="000000"/>
                </a:solidFill>
                <a:latin typeface="TT Fors Bold"/>
              </a:rPr>
              <a:t>$53</a:t>
            </a:r>
          </a:p>
        </p:txBody>
      </p:sp>
      <p:sp>
        <p:nvSpPr>
          <p:cNvPr id="33" name="TextBox 33"/>
          <p:cNvSpPr txBox="1"/>
          <p:nvPr/>
        </p:nvSpPr>
        <p:spPr>
          <a:xfrm>
            <a:off x="336144" y="4605580"/>
            <a:ext cx="3125733" cy="306705"/>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Average hourly rate</a:t>
            </a:r>
            <a:endParaRPr lang="en-US" sz="1799" b="1" dirty="0">
              <a:solidFill>
                <a:srgbClr val="000000"/>
              </a:solidFill>
              <a:latin typeface="TT Fors Bold"/>
              <a:ea typeface="TT Fors Bold"/>
              <a:cs typeface="TT Fors Bold"/>
              <a:sym typeface="TT Fors Bold"/>
            </a:endParaRPr>
          </a:p>
        </p:txBody>
      </p:sp>
      <p:sp>
        <p:nvSpPr>
          <p:cNvPr id="34" name="TextBox 34"/>
          <p:cNvSpPr txBox="1"/>
          <p:nvPr/>
        </p:nvSpPr>
        <p:spPr>
          <a:xfrm>
            <a:off x="8910897" y="4909659"/>
            <a:ext cx="2960106" cy="553998"/>
          </a:xfrm>
          <a:prstGeom prst="rect">
            <a:avLst/>
          </a:prstGeom>
        </p:spPr>
        <p:txBody>
          <a:bodyPr lIns="0" tIns="0" rIns="0" bIns="0" rtlCol="0" anchor="t">
            <a:spAutoFit/>
          </a:bodyPr>
          <a:lstStyle/>
          <a:p>
            <a:pPr algn="ctr"/>
            <a:r>
              <a:rPr lang="en-GB" sz="3600" b="1" dirty="0">
                <a:solidFill>
                  <a:srgbClr val="000000"/>
                </a:solidFill>
                <a:latin typeface="TT Fors Bold"/>
              </a:rPr>
              <a:t>4</a:t>
            </a:r>
          </a:p>
        </p:txBody>
      </p:sp>
      <p:sp>
        <p:nvSpPr>
          <p:cNvPr id="35" name="TextBox 35"/>
          <p:cNvSpPr txBox="1"/>
          <p:nvPr/>
        </p:nvSpPr>
        <p:spPr>
          <a:xfrm>
            <a:off x="8828084" y="4528659"/>
            <a:ext cx="3125733" cy="306705"/>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Average client rating</a:t>
            </a:r>
            <a:endParaRPr lang="en-US" sz="1799" b="1" dirty="0">
              <a:solidFill>
                <a:srgbClr val="000000"/>
              </a:solidFill>
              <a:latin typeface="TT Fors Bold"/>
              <a:ea typeface="TT Fors Bold"/>
              <a:cs typeface="TT Fors Bold"/>
              <a:sym typeface="TT Fors Bold"/>
            </a:endParaRPr>
          </a:p>
        </p:txBody>
      </p:sp>
      <p:sp>
        <p:nvSpPr>
          <p:cNvPr id="36" name="TextBox 36"/>
          <p:cNvSpPr txBox="1"/>
          <p:nvPr/>
        </p:nvSpPr>
        <p:spPr>
          <a:xfrm>
            <a:off x="8108326" y="2086436"/>
            <a:ext cx="2960106" cy="553998"/>
          </a:xfrm>
          <a:prstGeom prst="rect">
            <a:avLst/>
          </a:prstGeom>
        </p:spPr>
        <p:txBody>
          <a:bodyPr lIns="0" tIns="0" rIns="0" bIns="0" rtlCol="0" anchor="t">
            <a:spAutoFit/>
          </a:bodyPr>
          <a:lstStyle/>
          <a:p>
            <a:pPr algn="ctr"/>
            <a:r>
              <a:rPr lang="en-GB" sz="3600" b="1" dirty="0">
                <a:solidFill>
                  <a:srgbClr val="000000"/>
                </a:solidFill>
                <a:latin typeface="TT Fors Bold"/>
              </a:rPr>
              <a:t>$10M</a:t>
            </a:r>
          </a:p>
        </p:txBody>
      </p:sp>
      <p:sp>
        <p:nvSpPr>
          <p:cNvPr id="37" name="TextBox 37"/>
          <p:cNvSpPr txBox="1"/>
          <p:nvPr/>
        </p:nvSpPr>
        <p:spPr>
          <a:xfrm>
            <a:off x="8025512" y="1715621"/>
            <a:ext cx="3125733" cy="306705"/>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Total earning</a:t>
            </a:r>
            <a:endParaRPr lang="en-US" sz="1799" b="1" dirty="0">
              <a:solidFill>
                <a:srgbClr val="000000"/>
              </a:solidFill>
              <a:latin typeface="TT Fors Bold"/>
              <a:ea typeface="TT Fors Bold"/>
              <a:cs typeface="TT Fors Bold"/>
              <a:sym typeface="TT Fors Bold"/>
            </a:endParaRPr>
          </a:p>
        </p:txBody>
      </p:sp>
      <p:grpSp>
        <p:nvGrpSpPr>
          <p:cNvPr id="38" name="Group 38"/>
          <p:cNvGrpSpPr/>
          <p:nvPr/>
        </p:nvGrpSpPr>
        <p:grpSpPr>
          <a:xfrm>
            <a:off x="1138715" y="1235953"/>
            <a:ext cx="3086100" cy="195093"/>
            <a:chOff x="0" y="0"/>
            <a:chExt cx="812800" cy="51383"/>
          </a:xfrm>
        </p:grpSpPr>
        <p:sp>
          <p:nvSpPr>
            <p:cNvPr id="39" name="Freeform 39"/>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3D6298"/>
            </a:solidFill>
          </p:spPr>
          <p:txBody>
            <a:bodyPr/>
            <a:lstStyle/>
            <a:p>
              <a:endParaRPr lang="en-GB"/>
            </a:p>
          </p:txBody>
        </p:sp>
        <p:sp>
          <p:nvSpPr>
            <p:cNvPr id="40" name="TextBox 40"/>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41" name="Group 41"/>
          <p:cNvGrpSpPr/>
          <p:nvPr/>
        </p:nvGrpSpPr>
        <p:grpSpPr>
          <a:xfrm>
            <a:off x="4618689" y="1239260"/>
            <a:ext cx="3086100" cy="195093"/>
            <a:chOff x="0" y="0"/>
            <a:chExt cx="812800" cy="51383"/>
          </a:xfrm>
        </p:grpSpPr>
        <p:sp>
          <p:nvSpPr>
            <p:cNvPr id="42" name="Freeform 42"/>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BEC8DA"/>
            </a:solidFill>
          </p:spPr>
          <p:txBody>
            <a:bodyPr/>
            <a:lstStyle/>
            <a:p>
              <a:endParaRPr lang="en-GB"/>
            </a:p>
          </p:txBody>
        </p:sp>
        <p:sp>
          <p:nvSpPr>
            <p:cNvPr id="43" name="TextBox 43"/>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44" name="Group 44"/>
          <p:cNvGrpSpPr/>
          <p:nvPr/>
        </p:nvGrpSpPr>
        <p:grpSpPr>
          <a:xfrm>
            <a:off x="8045329" y="1230712"/>
            <a:ext cx="3086100" cy="195093"/>
            <a:chOff x="0" y="0"/>
            <a:chExt cx="812800" cy="51383"/>
          </a:xfrm>
        </p:grpSpPr>
        <p:sp>
          <p:nvSpPr>
            <p:cNvPr id="45" name="Freeform 45"/>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46" name="TextBox 46"/>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grpSp>
        <p:nvGrpSpPr>
          <p:cNvPr id="47" name="Group 47"/>
          <p:cNvGrpSpPr/>
          <p:nvPr/>
        </p:nvGrpSpPr>
        <p:grpSpPr>
          <a:xfrm>
            <a:off x="8847900" y="4274646"/>
            <a:ext cx="3086100" cy="195093"/>
            <a:chOff x="0" y="0"/>
            <a:chExt cx="812800" cy="51383"/>
          </a:xfrm>
        </p:grpSpPr>
        <p:sp>
          <p:nvSpPr>
            <p:cNvPr id="48" name="Freeform 48"/>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E8DED6"/>
            </a:solidFill>
          </p:spPr>
          <p:txBody>
            <a:bodyPr/>
            <a:lstStyle/>
            <a:p>
              <a:endParaRPr lang="en-GB"/>
            </a:p>
          </p:txBody>
        </p:sp>
        <p:sp>
          <p:nvSpPr>
            <p:cNvPr id="49" name="TextBox 49"/>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 name="Freeform 11">
            <a:extLst>
              <a:ext uri="{FF2B5EF4-FFF2-40B4-BE49-F238E27FC236}">
                <a16:creationId xmlns:a16="http://schemas.microsoft.com/office/drawing/2014/main" id="{63CF7631-CC41-164C-B2C5-118EE7738726}"/>
              </a:ext>
            </a:extLst>
          </p:cNvPr>
          <p:cNvSpPr/>
          <p:nvPr/>
        </p:nvSpPr>
        <p:spPr>
          <a:xfrm>
            <a:off x="4655060" y="5181178"/>
            <a:ext cx="2780312" cy="753869"/>
          </a:xfrm>
          <a:custGeom>
            <a:avLst/>
            <a:gdLst/>
            <a:ahLst/>
            <a:cxnLst/>
            <a:rect l="l" t="t" r="r" b="b"/>
            <a:pathLst>
              <a:path w="3803924" h="753869">
                <a:moveTo>
                  <a:pt x="0" y="0"/>
                </a:moveTo>
                <a:lnTo>
                  <a:pt x="3803924" y="0"/>
                </a:lnTo>
                <a:lnTo>
                  <a:pt x="3803924" y="753869"/>
                </a:lnTo>
                <a:lnTo>
                  <a:pt x="0" y="753869"/>
                </a:lnTo>
                <a:lnTo>
                  <a:pt x="0" y="0"/>
                </a:lnTo>
                <a:close/>
              </a:path>
            </a:pathLst>
          </a:custGeom>
          <a:blipFill>
            <a:blip r:embed="rId2"/>
            <a:stretch>
              <a:fillRect/>
            </a:stretch>
          </a:blipFill>
        </p:spPr>
        <p:txBody>
          <a:bodyPr/>
          <a:lstStyle/>
          <a:p>
            <a:endParaRPr lang="en-GB"/>
          </a:p>
        </p:txBody>
      </p:sp>
      <p:grpSp>
        <p:nvGrpSpPr>
          <p:cNvPr id="55" name="Group 12">
            <a:extLst>
              <a:ext uri="{FF2B5EF4-FFF2-40B4-BE49-F238E27FC236}">
                <a16:creationId xmlns:a16="http://schemas.microsoft.com/office/drawing/2014/main" id="{6752A8B8-A4A7-5715-2660-646AC8CB8F2C}"/>
              </a:ext>
            </a:extLst>
          </p:cNvPr>
          <p:cNvGrpSpPr/>
          <p:nvPr/>
        </p:nvGrpSpPr>
        <p:grpSpPr>
          <a:xfrm>
            <a:off x="4579056" y="4334018"/>
            <a:ext cx="3125733" cy="1435099"/>
            <a:chOff x="0" y="0"/>
            <a:chExt cx="1001857" cy="551807"/>
          </a:xfrm>
        </p:grpSpPr>
        <p:sp>
          <p:nvSpPr>
            <p:cNvPr id="56" name="Freeform 13">
              <a:extLst>
                <a:ext uri="{FF2B5EF4-FFF2-40B4-BE49-F238E27FC236}">
                  <a16:creationId xmlns:a16="http://schemas.microsoft.com/office/drawing/2014/main" id="{2F22186B-22A4-8464-5830-DACBC94B43C3}"/>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a:srgbClr val="FFFFFF"/>
            </a:solidFill>
          </p:spPr>
          <p:txBody>
            <a:bodyPr/>
            <a:lstStyle/>
            <a:p>
              <a:endParaRPr lang="en-GB" dirty="0"/>
            </a:p>
          </p:txBody>
        </p:sp>
        <p:sp>
          <p:nvSpPr>
            <p:cNvPr id="57" name="TextBox 14">
              <a:extLst>
                <a:ext uri="{FF2B5EF4-FFF2-40B4-BE49-F238E27FC236}">
                  <a16:creationId xmlns:a16="http://schemas.microsoft.com/office/drawing/2014/main" id="{0B093A9D-6657-2497-C414-28669938EE06}"/>
                </a:ext>
              </a:extLst>
            </p:cNvPr>
            <p:cNvSpPr txBox="1"/>
            <p:nvPr/>
          </p:nvSpPr>
          <p:spPr>
            <a:xfrm>
              <a:off x="0" y="-38100"/>
              <a:ext cx="1001857" cy="589907"/>
            </a:xfrm>
            <a:prstGeom prst="rect">
              <a:avLst/>
            </a:prstGeom>
          </p:spPr>
          <p:txBody>
            <a:bodyPr lIns="50800" tIns="50800" rIns="50800" bIns="50800" rtlCol="0" anchor="ctr"/>
            <a:lstStyle/>
            <a:p>
              <a:pPr algn="ctr">
                <a:lnSpc>
                  <a:spcPts val="2520"/>
                </a:lnSpc>
              </a:pPr>
              <a:endParaRPr/>
            </a:p>
          </p:txBody>
        </p:sp>
      </p:grpSp>
      <p:grpSp>
        <p:nvGrpSpPr>
          <p:cNvPr id="58" name="Group 23">
            <a:extLst>
              <a:ext uri="{FF2B5EF4-FFF2-40B4-BE49-F238E27FC236}">
                <a16:creationId xmlns:a16="http://schemas.microsoft.com/office/drawing/2014/main" id="{442D8E50-6EC8-5049-E0F5-4DAECFCCBA8B}"/>
              </a:ext>
            </a:extLst>
          </p:cNvPr>
          <p:cNvGrpSpPr/>
          <p:nvPr/>
        </p:nvGrpSpPr>
        <p:grpSpPr>
          <a:xfrm>
            <a:off x="4591313" y="4283194"/>
            <a:ext cx="3086100" cy="195093"/>
            <a:chOff x="0" y="0"/>
            <a:chExt cx="812800" cy="51383"/>
          </a:xfrm>
        </p:grpSpPr>
        <p:sp>
          <p:nvSpPr>
            <p:cNvPr id="59" name="Freeform 24">
              <a:extLst>
                <a:ext uri="{FF2B5EF4-FFF2-40B4-BE49-F238E27FC236}">
                  <a16:creationId xmlns:a16="http://schemas.microsoft.com/office/drawing/2014/main" id="{31602A5F-1775-7275-1F0D-ACFA6F46B7AD}"/>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122359"/>
            </a:solidFill>
          </p:spPr>
          <p:txBody>
            <a:bodyPr/>
            <a:lstStyle/>
            <a:p>
              <a:endParaRPr lang="en-GB"/>
            </a:p>
          </p:txBody>
        </p:sp>
        <p:sp>
          <p:nvSpPr>
            <p:cNvPr id="60" name="TextBox 25">
              <a:extLst>
                <a:ext uri="{FF2B5EF4-FFF2-40B4-BE49-F238E27FC236}">
                  <a16:creationId xmlns:a16="http://schemas.microsoft.com/office/drawing/2014/main" id="{07DD4D75-9D86-B11A-7AFE-84FD6522B985}"/>
                </a:ext>
              </a:extLst>
            </p:cNvPr>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61" name="TextBox 32">
            <a:extLst>
              <a:ext uri="{FF2B5EF4-FFF2-40B4-BE49-F238E27FC236}">
                <a16:creationId xmlns:a16="http://schemas.microsoft.com/office/drawing/2014/main" id="{1F7D3644-5FC5-1E2A-82C1-76B3CA15B66E}"/>
              </a:ext>
            </a:extLst>
          </p:cNvPr>
          <p:cNvSpPr txBox="1"/>
          <p:nvPr/>
        </p:nvSpPr>
        <p:spPr>
          <a:xfrm>
            <a:off x="4654310" y="4897609"/>
            <a:ext cx="2960106" cy="553998"/>
          </a:xfrm>
          <a:prstGeom prst="rect">
            <a:avLst/>
          </a:prstGeom>
        </p:spPr>
        <p:txBody>
          <a:bodyPr lIns="0" tIns="0" rIns="0" bIns="0" rtlCol="0" anchor="t">
            <a:spAutoFit/>
          </a:bodyPr>
          <a:lstStyle/>
          <a:p>
            <a:pPr algn="ctr"/>
            <a:r>
              <a:rPr lang="en-GB" sz="3600" b="1" dirty="0">
                <a:solidFill>
                  <a:srgbClr val="000000"/>
                </a:solidFill>
                <a:latin typeface="TT Fors Bold"/>
              </a:rPr>
              <a:t>74.95%</a:t>
            </a:r>
          </a:p>
        </p:txBody>
      </p:sp>
      <p:sp>
        <p:nvSpPr>
          <p:cNvPr id="62" name="TextBox 33">
            <a:extLst>
              <a:ext uri="{FF2B5EF4-FFF2-40B4-BE49-F238E27FC236}">
                <a16:creationId xmlns:a16="http://schemas.microsoft.com/office/drawing/2014/main" id="{C4488E11-3722-9D89-8F77-A307D5FDB0D8}"/>
              </a:ext>
            </a:extLst>
          </p:cNvPr>
          <p:cNvSpPr txBox="1"/>
          <p:nvPr/>
        </p:nvSpPr>
        <p:spPr>
          <a:xfrm>
            <a:off x="4609750" y="4532236"/>
            <a:ext cx="3125733" cy="306705"/>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Average job success rate</a:t>
            </a:r>
            <a:endParaRPr lang="en-US" sz="1799" b="1" dirty="0">
              <a:solidFill>
                <a:srgbClr val="000000"/>
              </a:solidFill>
              <a:latin typeface="TT Fors Bold"/>
              <a:ea typeface="TT Fors Bold"/>
              <a:cs typeface="TT Fors Bold"/>
              <a:sym typeface="TT Fors Bold"/>
            </a:endParaRPr>
          </a:p>
        </p:txBody>
      </p:sp>
      <p:sp>
        <p:nvSpPr>
          <p:cNvPr id="63" name="Freeform 11">
            <a:extLst>
              <a:ext uri="{FF2B5EF4-FFF2-40B4-BE49-F238E27FC236}">
                <a16:creationId xmlns:a16="http://schemas.microsoft.com/office/drawing/2014/main" id="{CC80C2E6-9460-C9B3-8047-D7C732BD69A2}"/>
              </a:ext>
            </a:extLst>
          </p:cNvPr>
          <p:cNvSpPr/>
          <p:nvPr/>
        </p:nvSpPr>
        <p:spPr>
          <a:xfrm>
            <a:off x="825632" y="7886700"/>
            <a:ext cx="2968983" cy="753869"/>
          </a:xfrm>
          <a:custGeom>
            <a:avLst/>
            <a:gdLst/>
            <a:ahLst/>
            <a:cxnLst/>
            <a:rect l="l" t="t" r="r" b="b"/>
            <a:pathLst>
              <a:path w="3803924" h="753869">
                <a:moveTo>
                  <a:pt x="0" y="0"/>
                </a:moveTo>
                <a:lnTo>
                  <a:pt x="3803924" y="0"/>
                </a:lnTo>
                <a:lnTo>
                  <a:pt x="3803924" y="753869"/>
                </a:lnTo>
                <a:lnTo>
                  <a:pt x="0" y="753869"/>
                </a:lnTo>
                <a:lnTo>
                  <a:pt x="0" y="0"/>
                </a:lnTo>
                <a:close/>
              </a:path>
            </a:pathLst>
          </a:custGeom>
          <a:blipFill>
            <a:blip r:embed="rId2"/>
            <a:stretch>
              <a:fillRect/>
            </a:stretch>
          </a:blipFill>
        </p:spPr>
        <p:txBody>
          <a:bodyPr/>
          <a:lstStyle/>
          <a:p>
            <a:endParaRPr lang="en-GB"/>
          </a:p>
        </p:txBody>
      </p:sp>
      <p:grpSp>
        <p:nvGrpSpPr>
          <p:cNvPr id="68" name="Group 12">
            <a:extLst>
              <a:ext uri="{FF2B5EF4-FFF2-40B4-BE49-F238E27FC236}">
                <a16:creationId xmlns:a16="http://schemas.microsoft.com/office/drawing/2014/main" id="{64B84451-8F0F-4264-46C0-03A57F17CFF6}"/>
              </a:ext>
            </a:extLst>
          </p:cNvPr>
          <p:cNvGrpSpPr/>
          <p:nvPr/>
        </p:nvGrpSpPr>
        <p:grpSpPr>
          <a:xfrm>
            <a:off x="669543" y="7226504"/>
            <a:ext cx="3164721" cy="1271120"/>
            <a:chOff x="0" y="0"/>
            <a:chExt cx="1001857" cy="551807"/>
          </a:xfrm>
        </p:grpSpPr>
        <p:sp>
          <p:nvSpPr>
            <p:cNvPr id="73" name="Freeform 13">
              <a:extLst>
                <a:ext uri="{FF2B5EF4-FFF2-40B4-BE49-F238E27FC236}">
                  <a16:creationId xmlns:a16="http://schemas.microsoft.com/office/drawing/2014/main" id="{7F82562A-8061-9A3F-6A57-AF24FC0185DD}"/>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a:srgbClr val="FFFFFF"/>
            </a:solidFill>
          </p:spPr>
          <p:txBody>
            <a:bodyPr/>
            <a:lstStyle/>
            <a:p>
              <a:endParaRPr lang="en-GB" dirty="0"/>
            </a:p>
          </p:txBody>
        </p:sp>
        <p:sp>
          <p:nvSpPr>
            <p:cNvPr id="74" name="TextBox 14">
              <a:extLst>
                <a:ext uri="{FF2B5EF4-FFF2-40B4-BE49-F238E27FC236}">
                  <a16:creationId xmlns:a16="http://schemas.microsoft.com/office/drawing/2014/main" id="{DE57C2A9-52A2-6C2A-57EB-C05FE4D623BE}"/>
                </a:ext>
              </a:extLst>
            </p:cNvPr>
            <p:cNvSpPr txBox="1"/>
            <p:nvPr/>
          </p:nvSpPr>
          <p:spPr>
            <a:xfrm>
              <a:off x="0" y="-38100"/>
              <a:ext cx="1001857" cy="589907"/>
            </a:xfrm>
            <a:prstGeom prst="rect">
              <a:avLst/>
            </a:prstGeom>
          </p:spPr>
          <p:txBody>
            <a:bodyPr lIns="50800" tIns="50800" rIns="50800" bIns="50800" rtlCol="0" anchor="ctr"/>
            <a:lstStyle/>
            <a:p>
              <a:pPr algn="ctr">
                <a:lnSpc>
                  <a:spcPts val="2520"/>
                </a:lnSpc>
              </a:pPr>
              <a:endParaRPr/>
            </a:p>
          </p:txBody>
        </p:sp>
      </p:grpSp>
      <p:grpSp>
        <p:nvGrpSpPr>
          <p:cNvPr id="75" name="Group 23">
            <a:extLst>
              <a:ext uri="{FF2B5EF4-FFF2-40B4-BE49-F238E27FC236}">
                <a16:creationId xmlns:a16="http://schemas.microsoft.com/office/drawing/2014/main" id="{949CEF61-E43C-F68D-F645-94FF3EDD2422}"/>
              </a:ext>
            </a:extLst>
          </p:cNvPr>
          <p:cNvGrpSpPr/>
          <p:nvPr/>
        </p:nvGrpSpPr>
        <p:grpSpPr>
          <a:xfrm>
            <a:off x="712206" y="7128956"/>
            <a:ext cx="3086100" cy="195093"/>
            <a:chOff x="0" y="0"/>
            <a:chExt cx="812800" cy="51383"/>
          </a:xfrm>
        </p:grpSpPr>
        <p:sp>
          <p:nvSpPr>
            <p:cNvPr id="76" name="Freeform 24">
              <a:extLst>
                <a:ext uri="{FF2B5EF4-FFF2-40B4-BE49-F238E27FC236}">
                  <a16:creationId xmlns:a16="http://schemas.microsoft.com/office/drawing/2014/main" id="{38085710-2CB9-753D-015E-22903BEB171B}"/>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122359"/>
            </a:solidFill>
          </p:spPr>
          <p:txBody>
            <a:bodyPr/>
            <a:lstStyle/>
            <a:p>
              <a:endParaRPr lang="en-GB"/>
            </a:p>
          </p:txBody>
        </p:sp>
        <p:sp>
          <p:nvSpPr>
            <p:cNvPr id="77" name="TextBox 25">
              <a:extLst>
                <a:ext uri="{FF2B5EF4-FFF2-40B4-BE49-F238E27FC236}">
                  <a16:creationId xmlns:a16="http://schemas.microsoft.com/office/drawing/2014/main" id="{9845067D-12D7-44D8-5B83-512CB6DBD759}"/>
                </a:ext>
              </a:extLst>
            </p:cNvPr>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78" name="TextBox 32">
            <a:extLst>
              <a:ext uri="{FF2B5EF4-FFF2-40B4-BE49-F238E27FC236}">
                <a16:creationId xmlns:a16="http://schemas.microsoft.com/office/drawing/2014/main" id="{FCCD5A8A-3287-EAC6-C0C1-D02370FBD7C8}"/>
              </a:ext>
            </a:extLst>
          </p:cNvPr>
          <p:cNvSpPr txBox="1"/>
          <p:nvPr/>
        </p:nvSpPr>
        <p:spPr>
          <a:xfrm>
            <a:off x="852488" y="7734300"/>
            <a:ext cx="2960106" cy="553998"/>
          </a:xfrm>
          <a:prstGeom prst="rect">
            <a:avLst/>
          </a:prstGeom>
        </p:spPr>
        <p:txBody>
          <a:bodyPr lIns="0" tIns="0" rIns="0" bIns="0" rtlCol="0" anchor="t">
            <a:spAutoFit/>
          </a:bodyPr>
          <a:lstStyle/>
          <a:p>
            <a:pPr algn="ctr"/>
            <a:r>
              <a:rPr lang="en-GB" sz="3600" b="1" dirty="0">
                <a:solidFill>
                  <a:srgbClr val="000000"/>
                </a:solidFill>
                <a:latin typeface="TT Fors Bold"/>
              </a:rPr>
              <a:t>45%</a:t>
            </a:r>
          </a:p>
        </p:txBody>
      </p:sp>
      <p:sp>
        <p:nvSpPr>
          <p:cNvPr id="79" name="TextBox 33">
            <a:extLst>
              <a:ext uri="{FF2B5EF4-FFF2-40B4-BE49-F238E27FC236}">
                <a16:creationId xmlns:a16="http://schemas.microsoft.com/office/drawing/2014/main" id="{00A2B1BF-D0A7-F21C-05B2-F49EAED9BBD3}"/>
              </a:ext>
            </a:extLst>
          </p:cNvPr>
          <p:cNvSpPr txBox="1"/>
          <p:nvPr/>
        </p:nvSpPr>
        <p:spPr>
          <a:xfrm>
            <a:off x="686861" y="7436300"/>
            <a:ext cx="3125733" cy="306705"/>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Average rehire rate</a:t>
            </a:r>
            <a:endParaRPr lang="en-US" sz="1799" b="1" dirty="0">
              <a:solidFill>
                <a:srgbClr val="000000"/>
              </a:solidFill>
              <a:latin typeface="TT Fors Bold"/>
              <a:ea typeface="TT Fors Bold"/>
              <a:cs typeface="TT Fors Bold"/>
              <a:sym typeface="TT Fors Bold"/>
            </a:endParaRPr>
          </a:p>
        </p:txBody>
      </p:sp>
      <p:sp>
        <p:nvSpPr>
          <p:cNvPr id="80" name="Freeform 11">
            <a:extLst>
              <a:ext uri="{FF2B5EF4-FFF2-40B4-BE49-F238E27FC236}">
                <a16:creationId xmlns:a16="http://schemas.microsoft.com/office/drawing/2014/main" id="{B7D890F8-9E62-59E1-FAC7-A849039B9C73}"/>
              </a:ext>
            </a:extLst>
          </p:cNvPr>
          <p:cNvSpPr/>
          <p:nvPr/>
        </p:nvSpPr>
        <p:spPr>
          <a:xfrm>
            <a:off x="8114853" y="8110059"/>
            <a:ext cx="3125733" cy="753869"/>
          </a:xfrm>
          <a:custGeom>
            <a:avLst/>
            <a:gdLst/>
            <a:ahLst/>
            <a:cxnLst/>
            <a:rect l="l" t="t" r="r" b="b"/>
            <a:pathLst>
              <a:path w="3803924" h="753869">
                <a:moveTo>
                  <a:pt x="0" y="0"/>
                </a:moveTo>
                <a:lnTo>
                  <a:pt x="3803924" y="0"/>
                </a:lnTo>
                <a:lnTo>
                  <a:pt x="3803924" y="753869"/>
                </a:lnTo>
                <a:lnTo>
                  <a:pt x="0" y="753869"/>
                </a:lnTo>
                <a:lnTo>
                  <a:pt x="0" y="0"/>
                </a:lnTo>
                <a:close/>
              </a:path>
            </a:pathLst>
          </a:custGeom>
          <a:blipFill>
            <a:blip r:embed="rId2"/>
            <a:stretch>
              <a:fillRect/>
            </a:stretch>
          </a:blipFill>
        </p:spPr>
        <p:txBody>
          <a:bodyPr/>
          <a:lstStyle/>
          <a:p>
            <a:endParaRPr lang="en-GB"/>
          </a:p>
        </p:txBody>
      </p:sp>
      <p:grpSp>
        <p:nvGrpSpPr>
          <p:cNvPr id="81" name="Group 12">
            <a:extLst>
              <a:ext uri="{FF2B5EF4-FFF2-40B4-BE49-F238E27FC236}">
                <a16:creationId xmlns:a16="http://schemas.microsoft.com/office/drawing/2014/main" id="{1252D9E3-AC3F-9A3A-26CD-DC60EC0E5C2D}"/>
              </a:ext>
            </a:extLst>
          </p:cNvPr>
          <p:cNvGrpSpPr/>
          <p:nvPr/>
        </p:nvGrpSpPr>
        <p:grpSpPr>
          <a:xfrm>
            <a:off x="8025513" y="7123716"/>
            <a:ext cx="3215074" cy="1586664"/>
            <a:chOff x="0" y="0"/>
            <a:chExt cx="1001857" cy="551807"/>
          </a:xfrm>
        </p:grpSpPr>
        <p:sp>
          <p:nvSpPr>
            <p:cNvPr id="82" name="Freeform 13">
              <a:extLst>
                <a:ext uri="{FF2B5EF4-FFF2-40B4-BE49-F238E27FC236}">
                  <a16:creationId xmlns:a16="http://schemas.microsoft.com/office/drawing/2014/main" id="{58D34162-5504-247C-6FD6-A92BC430D0A0}"/>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solidFill>
              <a:srgbClr val="FFFFFF"/>
            </a:solidFill>
          </p:spPr>
          <p:txBody>
            <a:bodyPr/>
            <a:lstStyle/>
            <a:p>
              <a:endParaRPr lang="en-GB" dirty="0"/>
            </a:p>
          </p:txBody>
        </p:sp>
        <p:sp>
          <p:nvSpPr>
            <p:cNvPr id="83" name="TextBox 14">
              <a:extLst>
                <a:ext uri="{FF2B5EF4-FFF2-40B4-BE49-F238E27FC236}">
                  <a16:creationId xmlns:a16="http://schemas.microsoft.com/office/drawing/2014/main" id="{921EBCC8-756D-7ACA-23C9-72FE1FDC6B1B}"/>
                </a:ext>
              </a:extLst>
            </p:cNvPr>
            <p:cNvSpPr txBox="1"/>
            <p:nvPr/>
          </p:nvSpPr>
          <p:spPr>
            <a:xfrm>
              <a:off x="0" y="-38100"/>
              <a:ext cx="1001857" cy="589907"/>
            </a:xfrm>
            <a:prstGeom prst="rect">
              <a:avLst/>
            </a:prstGeom>
          </p:spPr>
          <p:txBody>
            <a:bodyPr lIns="50800" tIns="50800" rIns="50800" bIns="50800" rtlCol="0" anchor="ctr"/>
            <a:lstStyle/>
            <a:p>
              <a:pPr algn="ctr">
                <a:lnSpc>
                  <a:spcPts val="2520"/>
                </a:lnSpc>
              </a:pPr>
              <a:endParaRPr/>
            </a:p>
          </p:txBody>
        </p:sp>
      </p:grpSp>
      <p:grpSp>
        <p:nvGrpSpPr>
          <p:cNvPr id="84" name="Group 23">
            <a:extLst>
              <a:ext uri="{FF2B5EF4-FFF2-40B4-BE49-F238E27FC236}">
                <a16:creationId xmlns:a16="http://schemas.microsoft.com/office/drawing/2014/main" id="{8EB6D97B-D3D5-BDF6-F44F-DDB61B8FC299}"/>
              </a:ext>
            </a:extLst>
          </p:cNvPr>
          <p:cNvGrpSpPr/>
          <p:nvPr/>
        </p:nvGrpSpPr>
        <p:grpSpPr>
          <a:xfrm>
            <a:off x="8076371" y="7059852"/>
            <a:ext cx="3086100" cy="195093"/>
            <a:chOff x="0" y="0"/>
            <a:chExt cx="812800" cy="51383"/>
          </a:xfrm>
        </p:grpSpPr>
        <p:sp>
          <p:nvSpPr>
            <p:cNvPr id="85" name="Freeform 24">
              <a:extLst>
                <a:ext uri="{FF2B5EF4-FFF2-40B4-BE49-F238E27FC236}">
                  <a16:creationId xmlns:a16="http://schemas.microsoft.com/office/drawing/2014/main" id="{68F9A5E1-D330-D8F3-B5EF-FE780F1D36D3}"/>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122359"/>
            </a:solidFill>
          </p:spPr>
          <p:txBody>
            <a:bodyPr/>
            <a:lstStyle/>
            <a:p>
              <a:endParaRPr lang="en-GB"/>
            </a:p>
          </p:txBody>
        </p:sp>
        <p:sp>
          <p:nvSpPr>
            <p:cNvPr id="86" name="TextBox 25">
              <a:extLst>
                <a:ext uri="{FF2B5EF4-FFF2-40B4-BE49-F238E27FC236}">
                  <a16:creationId xmlns:a16="http://schemas.microsoft.com/office/drawing/2014/main" id="{ED47859E-C41D-7CE6-B762-D5C3E9EA2EB7}"/>
                </a:ext>
              </a:extLst>
            </p:cNvPr>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87" name="TextBox 32">
            <a:extLst>
              <a:ext uri="{FF2B5EF4-FFF2-40B4-BE49-F238E27FC236}">
                <a16:creationId xmlns:a16="http://schemas.microsoft.com/office/drawing/2014/main" id="{E405132F-6402-F85D-5CE0-EC1689BB7605}"/>
              </a:ext>
            </a:extLst>
          </p:cNvPr>
          <p:cNvSpPr txBox="1"/>
          <p:nvPr/>
        </p:nvSpPr>
        <p:spPr>
          <a:xfrm>
            <a:off x="8139368" y="7652859"/>
            <a:ext cx="2960106" cy="553998"/>
          </a:xfrm>
          <a:prstGeom prst="rect">
            <a:avLst/>
          </a:prstGeom>
        </p:spPr>
        <p:txBody>
          <a:bodyPr lIns="0" tIns="0" rIns="0" bIns="0" rtlCol="0" anchor="t">
            <a:spAutoFit/>
          </a:bodyPr>
          <a:lstStyle/>
          <a:p>
            <a:pPr algn="ctr"/>
            <a:r>
              <a:rPr lang="en-GB" sz="3600" b="1" dirty="0">
                <a:solidFill>
                  <a:srgbClr val="000000"/>
                </a:solidFill>
                <a:latin typeface="TT Fors Bold"/>
              </a:rPr>
              <a:t>44.70</a:t>
            </a:r>
          </a:p>
        </p:txBody>
      </p:sp>
      <p:sp>
        <p:nvSpPr>
          <p:cNvPr id="88" name="TextBox 33">
            <a:extLst>
              <a:ext uri="{FF2B5EF4-FFF2-40B4-BE49-F238E27FC236}">
                <a16:creationId xmlns:a16="http://schemas.microsoft.com/office/drawing/2014/main" id="{7DE1C604-0C58-A7B7-9539-7631968441B0}"/>
              </a:ext>
            </a:extLst>
          </p:cNvPr>
          <p:cNvSpPr txBox="1"/>
          <p:nvPr/>
        </p:nvSpPr>
        <p:spPr>
          <a:xfrm>
            <a:off x="8056554" y="7348059"/>
            <a:ext cx="3125733" cy="306705"/>
          </a:xfrm>
          <a:prstGeom prst="rect">
            <a:avLst/>
          </a:prstGeom>
        </p:spPr>
        <p:txBody>
          <a:bodyPr lIns="0" tIns="0" rIns="0" bIns="0" rtlCol="0" anchor="t">
            <a:spAutoFit/>
          </a:bodyPr>
          <a:lstStyle/>
          <a:p>
            <a:pPr algn="ctr">
              <a:lnSpc>
                <a:spcPts val="2519"/>
              </a:lnSpc>
              <a:spcBef>
                <a:spcPct val="0"/>
              </a:spcBef>
            </a:pPr>
            <a:r>
              <a:rPr lang="en-GB" sz="1799" b="1" dirty="0">
                <a:solidFill>
                  <a:srgbClr val="000000"/>
                </a:solidFill>
                <a:latin typeface="TT Fors Bold"/>
              </a:rPr>
              <a:t>Average job duration</a:t>
            </a:r>
            <a:endParaRPr lang="en-US" sz="1799" b="1" dirty="0">
              <a:solidFill>
                <a:srgbClr val="000000"/>
              </a:solidFill>
              <a:latin typeface="TT Fors Bold"/>
              <a:ea typeface="TT Fors Bold"/>
              <a:cs typeface="TT Fors Bold"/>
              <a:sym typeface="TT Fors Bold"/>
            </a:endParaRPr>
          </a:p>
        </p:txBody>
      </p:sp>
      <p:grpSp>
        <p:nvGrpSpPr>
          <p:cNvPr id="51" name="Group 16">
            <a:extLst>
              <a:ext uri="{FF2B5EF4-FFF2-40B4-BE49-F238E27FC236}">
                <a16:creationId xmlns:a16="http://schemas.microsoft.com/office/drawing/2014/main" id="{C7302774-DEF1-A584-122B-F0F1BF99C9FD}"/>
              </a:ext>
            </a:extLst>
          </p:cNvPr>
          <p:cNvGrpSpPr/>
          <p:nvPr/>
        </p:nvGrpSpPr>
        <p:grpSpPr>
          <a:xfrm>
            <a:off x="12134547" y="301333"/>
            <a:ext cx="5849298" cy="9718967"/>
            <a:chOff x="0" y="-61168"/>
            <a:chExt cx="1001857" cy="612975"/>
          </a:xfrm>
          <a:solidFill>
            <a:schemeClr val="accent6">
              <a:lumMod val="75000"/>
            </a:schemeClr>
          </a:solidFill>
        </p:grpSpPr>
        <p:sp>
          <p:nvSpPr>
            <p:cNvPr id="52" name="Freeform 17">
              <a:extLst>
                <a:ext uri="{FF2B5EF4-FFF2-40B4-BE49-F238E27FC236}">
                  <a16:creationId xmlns:a16="http://schemas.microsoft.com/office/drawing/2014/main" id="{3F326F53-194D-F78A-59EE-6DA6ECDD23FF}"/>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grpFill/>
          </p:spPr>
          <p:txBody>
            <a:bodyPr/>
            <a:lstStyle/>
            <a:p>
              <a:endParaRPr lang="en-GB"/>
            </a:p>
          </p:txBody>
        </p:sp>
        <p:sp>
          <p:nvSpPr>
            <p:cNvPr id="53" name="TextBox 18">
              <a:extLst>
                <a:ext uri="{FF2B5EF4-FFF2-40B4-BE49-F238E27FC236}">
                  <a16:creationId xmlns:a16="http://schemas.microsoft.com/office/drawing/2014/main" id="{857FCED1-BE21-974B-287D-DF4A9EA09B58}"/>
                </a:ext>
              </a:extLst>
            </p:cNvPr>
            <p:cNvSpPr txBox="1"/>
            <p:nvPr/>
          </p:nvSpPr>
          <p:spPr>
            <a:xfrm>
              <a:off x="0" y="-61168"/>
              <a:ext cx="1001857" cy="612975"/>
            </a:xfrm>
            <a:prstGeom prst="rect">
              <a:avLst/>
            </a:prstGeom>
            <a:solidFill>
              <a:schemeClr val="tx2"/>
            </a:solidFill>
          </p:spPr>
          <p:txBody>
            <a:bodyPr lIns="50800" tIns="50800" rIns="50800" bIns="50800" rtlCol="0" anchor="ctr"/>
            <a:lstStyle/>
            <a:p>
              <a:pPr algn="ctr">
                <a:lnSpc>
                  <a:spcPts val="2520"/>
                </a:lnSpc>
              </a:pPr>
              <a:endParaRPr/>
            </a:p>
          </p:txBody>
        </p:sp>
      </p:grpSp>
      <p:sp>
        <p:nvSpPr>
          <p:cNvPr id="54" name="TextBox 53">
            <a:extLst>
              <a:ext uri="{FF2B5EF4-FFF2-40B4-BE49-F238E27FC236}">
                <a16:creationId xmlns:a16="http://schemas.microsoft.com/office/drawing/2014/main" id="{A5408BCA-D4E9-D88C-1092-7B7D582253AF}"/>
              </a:ext>
            </a:extLst>
          </p:cNvPr>
          <p:cNvSpPr txBox="1"/>
          <p:nvPr/>
        </p:nvSpPr>
        <p:spPr>
          <a:xfrm>
            <a:off x="12274846" y="544164"/>
            <a:ext cx="5490903" cy="9198672"/>
          </a:xfrm>
          <a:prstGeom prst="rect">
            <a:avLst/>
          </a:prstGeom>
          <a:noFill/>
        </p:spPr>
        <p:txBody>
          <a:bodyPr wrap="square">
            <a:spAutoFit/>
          </a:bodyPr>
          <a:lstStyle/>
          <a:p>
            <a:pPr algn="just">
              <a:lnSpc>
                <a:spcPct val="150000"/>
              </a:lnSpc>
            </a:pPr>
            <a:r>
              <a:rPr lang="en-GB" dirty="0">
                <a:solidFill>
                  <a:schemeClr val="bg1"/>
                </a:solidFill>
                <a:latin typeface="TT Fors" panose="020B0604020202020204" charset="0"/>
              </a:rPr>
              <a:t>The result aggregates high‑level performance indicators across the entire dataset, including the total number of freelancers, jobs completed, earnings, ratings, job success, and rehire rates.</a:t>
            </a:r>
          </a:p>
          <a:p>
            <a:pPr algn="just">
              <a:lnSpc>
                <a:spcPct val="150000"/>
              </a:lnSpc>
            </a:pPr>
            <a:r>
              <a:rPr lang="en-GB" dirty="0">
                <a:solidFill>
                  <a:schemeClr val="bg1"/>
                </a:solidFill>
                <a:latin typeface="TT Fors" panose="020B0604020202020204" charset="0"/>
              </a:rPr>
              <a:t>                                     </a:t>
            </a:r>
          </a:p>
          <a:p>
            <a:pPr algn="just">
              <a:lnSpc>
                <a:spcPct val="150000"/>
              </a:lnSpc>
            </a:pPr>
            <a:r>
              <a:rPr lang="en-GB" dirty="0">
                <a:solidFill>
                  <a:schemeClr val="bg1"/>
                </a:solidFill>
                <a:latin typeface="TT Fors" panose="020B0604020202020204" charset="0"/>
              </a:rPr>
              <a:t>The platform ecosystem is large, with 1,950 freelancers completing 294,000 jobs, indicating strong marketplace activity.</a:t>
            </a:r>
          </a:p>
          <a:p>
            <a:pPr algn="just">
              <a:lnSpc>
                <a:spcPct val="150000"/>
              </a:lnSpc>
            </a:pPr>
            <a:endParaRPr lang="en-GB" dirty="0">
              <a:solidFill>
                <a:schemeClr val="bg1"/>
              </a:solidFill>
              <a:latin typeface="TT Fors" panose="020B0604020202020204" charset="0"/>
            </a:endParaRPr>
          </a:p>
          <a:p>
            <a:pPr algn="just">
              <a:lnSpc>
                <a:spcPct val="150000"/>
              </a:lnSpc>
            </a:pPr>
            <a:r>
              <a:rPr lang="en-GB" dirty="0">
                <a:solidFill>
                  <a:schemeClr val="bg1"/>
                </a:solidFill>
                <a:latin typeface="TT Fors" panose="020B0604020202020204" charset="0"/>
              </a:rPr>
              <a:t>Total earnings reached $10M, with an average hourly rate of $53/hour, suggesting freelance work is financially competitive.</a:t>
            </a:r>
          </a:p>
          <a:p>
            <a:pPr algn="just">
              <a:lnSpc>
                <a:spcPct val="150000"/>
              </a:lnSpc>
            </a:pPr>
            <a:endParaRPr lang="en-GB" dirty="0">
              <a:solidFill>
                <a:schemeClr val="bg1"/>
              </a:solidFill>
              <a:latin typeface="TT Fors" panose="020B0604020202020204" charset="0"/>
            </a:endParaRPr>
          </a:p>
          <a:p>
            <a:pPr algn="just">
              <a:lnSpc>
                <a:spcPct val="150000"/>
              </a:lnSpc>
            </a:pPr>
            <a:r>
              <a:rPr lang="en-GB" dirty="0">
                <a:solidFill>
                  <a:schemeClr val="bg1"/>
                </a:solidFill>
                <a:latin typeface="TT Fors" panose="020B0604020202020204" charset="0"/>
              </a:rPr>
              <a:t>Average client rating of 4/5 reflects generally positive client satisfaction. 74.95% job success rate indicates most gigs are completed successfully. 45% rehire rate signals moderate client loyalty but room for improvement.</a:t>
            </a:r>
          </a:p>
          <a:p>
            <a:pPr algn="just">
              <a:lnSpc>
                <a:spcPct val="150000"/>
              </a:lnSpc>
            </a:pPr>
            <a:endParaRPr lang="en-GB" dirty="0">
              <a:solidFill>
                <a:schemeClr val="bg1"/>
              </a:solidFill>
              <a:latin typeface="TT Fors" panose="020B0604020202020204" charset="0"/>
            </a:endParaRPr>
          </a:p>
          <a:p>
            <a:pPr algn="just">
              <a:lnSpc>
                <a:spcPct val="150000"/>
              </a:lnSpc>
            </a:pPr>
            <a:r>
              <a:rPr lang="en-GB" dirty="0">
                <a:solidFill>
                  <a:schemeClr val="bg1"/>
                </a:solidFill>
                <a:latin typeface="TT Fors" panose="020B0604020202020204" charset="0"/>
              </a:rPr>
              <a:t>The gig economy shows strong volume and healthy earnings, but retention (rehire rate) could be improved to stabilise freelancer income.</a:t>
            </a:r>
          </a:p>
        </p:txBody>
      </p:sp>
      <p:grpSp>
        <p:nvGrpSpPr>
          <p:cNvPr id="64" name="Group 44">
            <a:extLst>
              <a:ext uri="{FF2B5EF4-FFF2-40B4-BE49-F238E27FC236}">
                <a16:creationId xmlns:a16="http://schemas.microsoft.com/office/drawing/2014/main" id="{A20D7100-96F7-7988-D1E1-DB4B6E6E8E49}"/>
              </a:ext>
            </a:extLst>
          </p:cNvPr>
          <p:cNvGrpSpPr/>
          <p:nvPr/>
        </p:nvGrpSpPr>
        <p:grpSpPr>
          <a:xfrm>
            <a:off x="12179794" y="2400300"/>
            <a:ext cx="2374406" cy="304630"/>
            <a:chOff x="0" y="0"/>
            <a:chExt cx="812800" cy="51383"/>
          </a:xfrm>
        </p:grpSpPr>
        <p:sp>
          <p:nvSpPr>
            <p:cNvPr id="65" name="Freeform 45">
              <a:extLst>
                <a:ext uri="{FF2B5EF4-FFF2-40B4-BE49-F238E27FC236}">
                  <a16:creationId xmlns:a16="http://schemas.microsoft.com/office/drawing/2014/main" id="{3563ADF8-55CA-AF5C-A83C-4C6FF24D95F7}"/>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66" name="TextBox 46">
              <a:extLst>
                <a:ext uri="{FF2B5EF4-FFF2-40B4-BE49-F238E27FC236}">
                  <a16:creationId xmlns:a16="http://schemas.microsoft.com/office/drawing/2014/main" id="{96A0DA31-B6AE-D728-F150-6B9AF8C32EB8}"/>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69" name="TextBox 68">
            <a:extLst>
              <a:ext uri="{FF2B5EF4-FFF2-40B4-BE49-F238E27FC236}">
                <a16:creationId xmlns:a16="http://schemas.microsoft.com/office/drawing/2014/main" id="{2A0CDA19-C813-93F5-6CDF-A319FD408CC1}"/>
              </a:ext>
            </a:extLst>
          </p:cNvPr>
          <p:cNvSpPr txBox="1"/>
          <p:nvPr/>
        </p:nvSpPr>
        <p:spPr>
          <a:xfrm>
            <a:off x="12311562" y="2367949"/>
            <a:ext cx="2514600" cy="369332"/>
          </a:xfrm>
          <a:prstGeom prst="rect">
            <a:avLst/>
          </a:prstGeom>
          <a:noFill/>
        </p:spPr>
        <p:txBody>
          <a:bodyPr wrap="square">
            <a:spAutoFit/>
          </a:bodyPr>
          <a:lstStyle/>
          <a:p>
            <a:r>
              <a:rPr lang="en-GB" b="1" dirty="0">
                <a:solidFill>
                  <a:schemeClr val="bg1"/>
                </a:solidFill>
                <a:latin typeface="TT Fors" panose="020B0604020202020204" charset="0"/>
              </a:rPr>
              <a:t>Key insights Scale: </a:t>
            </a:r>
            <a:endParaRPr lang="en-GB" b="1" dirty="0"/>
          </a:p>
        </p:txBody>
      </p:sp>
      <p:grpSp>
        <p:nvGrpSpPr>
          <p:cNvPr id="71" name="Group 44">
            <a:extLst>
              <a:ext uri="{FF2B5EF4-FFF2-40B4-BE49-F238E27FC236}">
                <a16:creationId xmlns:a16="http://schemas.microsoft.com/office/drawing/2014/main" id="{25258872-4A03-9F98-1A12-8932AD84708A}"/>
              </a:ext>
            </a:extLst>
          </p:cNvPr>
          <p:cNvGrpSpPr/>
          <p:nvPr/>
        </p:nvGrpSpPr>
        <p:grpSpPr>
          <a:xfrm>
            <a:off x="11458078" y="3848100"/>
            <a:ext cx="3105812" cy="530510"/>
            <a:chOff x="0" y="-38100"/>
            <a:chExt cx="1063173" cy="89483"/>
          </a:xfrm>
        </p:grpSpPr>
        <p:sp>
          <p:nvSpPr>
            <p:cNvPr id="72" name="Freeform 45">
              <a:extLst>
                <a:ext uri="{FF2B5EF4-FFF2-40B4-BE49-F238E27FC236}">
                  <a16:creationId xmlns:a16="http://schemas.microsoft.com/office/drawing/2014/main" id="{99D9EC82-780C-B6D3-9541-4373C06C4158}"/>
                </a:ext>
              </a:extLst>
            </p:cNvPr>
            <p:cNvSpPr/>
            <p:nvPr/>
          </p:nvSpPr>
          <p:spPr>
            <a:xfrm>
              <a:off x="250373" y="-7251"/>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89" name="TextBox 46">
              <a:extLst>
                <a:ext uri="{FF2B5EF4-FFF2-40B4-BE49-F238E27FC236}">
                  <a16:creationId xmlns:a16="http://schemas.microsoft.com/office/drawing/2014/main" id="{31C8CEC1-7448-D495-89F1-D2085F273382}"/>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91" name="TextBox 90">
            <a:extLst>
              <a:ext uri="{FF2B5EF4-FFF2-40B4-BE49-F238E27FC236}">
                <a16:creationId xmlns:a16="http://schemas.microsoft.com/office/drawing/2014/main" id="{05562D6B-6697-89CA-D6A0-8CAED7313950}"/>
              </a:ext>
            </a:extLst>
          </p:cNvPr>
          <p:cNvSpPr txBox="1"/>
          <p:nvPr/>
        </p:nvSpPr>
        <p:spPr>
          <a:xfrm>
            <a:off x="12311562" y="3876752"/>
            <a:ext cx="9144000" cy="473206"/>
          </a:xfrm>
          <a:prstGeom prst="rect">
            <a:avLst/>
          </a:prstGeom>
          <a:noFill/>
        </p:spPr>
        <p:txBody>
          <a:bodyPr wrap="square">
            <a:spAutoFit/>
          </a:bodyPr>
          <a:lstStyle/>
          <a:p>
            <a:pPr algn="just">
              <a:lnSpc>
                <a:spcPct val="150000"/>
              </a:lnSpc>
            </a:pPr>
            <a:r>
              <a:rPr lang="en-GB" b="1" dirty="0">
                <a:solidFill>
                  <a:schemeClr val="bg1"/>
                </a:solidFill>
                <a:latin typeface="TT Fors" panose="020B0604020202020204" charset="0"/>
              </a:rPr>
              <a:t>Earnings strength: </a:t>
            </a:r>
          </a:p>
        </p:txBody>
      </p:sp>
      <p:grpSp>
        <p:nvGrpSpPr>
          <p:cNvPr id="94" name="Group 44">
            <a:extLst>
              <a:ext uri="{FF2B5EF4-FFF2-40B4-BE49-F238E27FC236}">
                <a16:creationId xmlns:a16="http://schemas.microsoft.com/office/drawing/2014/main" id="{C5BB069A-1F5E-9276-A2CD-215E88D6DAAA}"/>
              </a:ext>
            </a:extLst>
          </p:cNvPr>
          <p:cNvGrpSpPr/>
          <p:nvPr/>
        </p:nvGrpSpPr>
        <p:grpSpPr>
          <a:xfrm>
            <a:off x="11448388" y="5524500"/>
            <a:ext cx="3105812" cy="530510"/>
            <a:chOff x="0" y="-38100"/>
            <a:chExt cx="1063173" cy="89483"/>
          </a:xfrm>
        </p:grpSpPr>
        <p:sp>
          <p:nvSpPr>
            <p:cNvPr id="95" name="Freeform 45">
              <a:extLst>
                <a:ext uri="{FF2B5EF4-FFF2-40B4-BE49-F238E27FC236}">
                  <a16:creationId xmlns:a16="http://schemas.microsoft.com/office/drawing/2014/main" id="{55209F3A-77A7-33FF-9436-E24B0B5572AE}"/>
                </a:ext>
              </a:extLst>
            </p:cNvPr>
            <p:cNvSpPr/>
            <p:nvPr/>
          </p:nvSpPr>
          <p:spPr>
            <a:xfrm>
              <a:off x="250373" y="-7251"/>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96" name="TextBox 46">
              <a:extLst>
                <a:ext uri="{FF2B5EF4-FFF2-40B4-BE49-F238E27FC236}">
                  <a16:creationId xmlns:a16="http://schemas.microsoft.com/office/drawing/2014/main" id="{E51C9C8A-C095-3681-2119-4F33ED28442B}"/>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93" name="TextBox 92">
            <a:extLst>
              <a:ext uri="{FF2B5EF4-FFF2-40B4-BE49-F238E27FC236}">
                <a16:creationId xmlns:a16="http://schemas.microsoft.com/office/drawing/2014/main" id="{41B054C2-6EA8-D0C4-B1C3-D31A2452776F}"/>
              </a:ext>
            </a:extLst>
          </p:cNvPr>
          <p:cNvSpPr txBox="1"/>
          <p:nvPr/>
        </p:nvSpPr>
        <p:spPr>
          <a:xfrm>
            <a:off x="12300319" y="5685678"/>
            <a:ext cx="10744200" cy="369332"/>
          </a:xfrm>
          <a:prstGeom prst="rect">
            <a:avLst/>
          </a:prstGeom>
          <a:noFill/>
        </p:spPr>
        <p:txBody>
          <a:bodyPr wrap="square">
            <a:spAutoFit/>
          </a:bodyPr>
          <a:lstStyle/>
          <a:p>
            <a:r>
              <a:rPr lang="en-GB" b="1" dirty="0">
                <a:solidFill>
                  <a:schemeClr val="bg1"/>
                </a:solidFill>
                <a:latin typeface="TT Fors" panose="020B0604020202020204" charset="0"/>
              </a:rPr>
              <a:t>Quality indicators:</a:t>
            </a:r>
            <a:endParaRPr lang="en-GB" b="1" dirty="0"/>
          </a:p>
        </p:txBody>
      </p:sp>
      <p:grpSp>
        <p:nvGrpSpPr>
          <p:cNvPr id="97" name="Group 44">
            <a:extLst>
              <a:ext uri="{FF2B5EF4-FFF2-40B4-BE49-F238E27FC236}">
                <a16:creationId xmlns:a16="http://schemas.microsoft.com/office/drawing/2014/main" id="{F8316DA2-2663-04B0-2327-77EF044C0715}"/>
              </a:ext>
            </a:extLst>
          </p:cNvPr>
          <p:cNvGrpSpPr/>
          <p:nvPr/>
        </p:nvGrpSpPr>
        <p:grpSpPr>
          <a:xfrm>
            <a:off x="11469321" y="7894575"/>
            <a:ext cx="3105812" cy="530510"/>
            <a:chOff x="0" y="-38100"/>
            <a:chExt cx="1063173" cy="89483"/>
          </a:xfrm>
        </p:grpSpPr>
        <p:sp>
          <p:nvSpPr>
            <p:cNvPr id="98" name="Freeform 45">
              <a:extLst>
                <a:ext uri="{FF2B5EF4-FFF2-40B4-BE49-F238E27FC236}">
                  <a16:creationId xmlns:a16="http://schemas.microsoft.com/office/drawing/2014/main" id="{D2145F6B-6652-23FC-845B-4E4BC284FAC9}"/>
                </a:ext>
              </a:extLst>
            </p:cNvPr>
            <p:cNvSpPr/>
            <p:nvPr/>
          </p:nvSpPr>
          <p:spPr>
            <a:xfrm>
              <a:off x="250373" y="-7251"/>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99" name="TextBox 46">
              <a:extLst>
                <a:ext uri="{FF2B5EF4-FFF2-40B4-BE49-F238E27FC236}">
                  <a16:creationId xmlns:a16="http://schemas.microsoft.com/office/drawing/2014/main" id="{9B5AFBAA-20B9-6B5E-8BBB-A4AF56D3D2BE}"/>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01" name="TextBox 100">
            <a:extLst>
              <a:ext uri="{FF2B5EF4-FFF2-40B4-BE49-F238E27FC236}">
                <a16:creationId xmlns:a16="http://schemas.microsoft.com/office/drawing/2014/main" id="{C528EC0C-9FCB-1072-A8FB-817A2191E5A0}"/>
              </a:ext>
            </a:extLst>
          </p:cNvPr>
          <p:cNvSpPr txBox="1"/>
          <p:nvPr/>
        </p:nvSpPr>
        <p:spPr>
          <a:xfrm>
            <a:off x="12274846" y="7923227"/>
            <a:ext cx="11482464" cy="473206"/>
          </a:xfrm>
          <a:prstGeom prst="rect">
            <a:avLst/>
          </a:prstGeom>
          <a:noFill/>
        </p:spPr>
        <p:txBody>
          <a:bodyPr wrap="square">
            <a:spAutoFit/>
          </a:bodyPr>
          <a:lstStyle/>
          <a:p>
            <a:pPr algn="just">
              <a:lnSpc>
                <a:spcPct val="150000"/>
              </a:lnSpc>
            </a:pPr>
            <a:r>
              <a:rPr lang="en-GB" b="1" dirty="0">
                <a:solidFill>
                  <a:schemeClr val="bg1"/>
                </a:solidFill>
                <a:latin typeface="TT Fors" panose="020B0604020202020204" charset="0"/>
              </a:rPr>
              <a:t>Summary takeaway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12" name="TextBox 12"/>
          <p:cNvSpPr txBox="1"/>
          <p:nvPr/>
        </p:nvSpPr>
        <p:spPr>
          <a:xfrm>
            <a:off x="5638800" y="333100"/>
            <a:ext cx="6096000" cy="619400"/>
          </a:xfrm>
          <a:prstGeom prst="rect">
            <a:avLst/>
          </a:prstGeom>
        </p:spPr>
        <p:txBody>
          <a:bodyPr wrap="square" lIns="0" tIns="0" rIns="0" bIns="0" rtlCol="0" anchor="t">
            <a:spAutoFit/>
          </a:bodyPr>
          <a:lstStyle/>
          <a:p>
            <a:pPr algn="ctr">
              <a:lnSpc>
                <a:spcPts val="5040"/>
              </a:lnSpc>
              <a:spcBef>
                <a:spcPct val="0"/>
              </a:spcBef>
            </a:pPr>
            <a:r>
              <a:rPr lang="en-GB" sz="3600" b="1" dirty="0">
                <a:solidFill>
                  <a:srgbClr val="112F8D"/>
                </a:solidFill>
                <a:latin typeface="TT Fors Bold"/>
              </a:rPr>
              <a:t>Success Rate by Platform</a:t>
            </a:r>
            <a:endParaRPr lang="en-US" sz="3600" b="1" dirty="0">
              <a:solidFill>
                <a:srgbClr val="112F8D"/>
              </a:solidFill>
              <a:latin typeface="TT Fors Bold"/>
              <a:sym typeface="TT Fors Bold"/>
            </a:endParaRPr>
          </a:p>
        </p:txBody>
      </p:sp>
      <p:cxnSp>
        <p:nvCxnSpPr>
          <p:cNvPr id="9" name="Straight Connector 8">
            <a:extLst>
              <a:ext uri="{FF2B5EF4-FFF2-40B4-BE49-F238E27FC236}">
                <a16:creationId xmlns:a16="http://schemas.microsoft.com/office/drawing/2014/main" id="{C211550E-DA64-7447-3E00-90D8FD9E1F33}"/>
              </a:ext>
            </a:extLst>
          </p:cNvPr>
          <p:cNvCxnSpPr>
            <a:cxnSpLocks/>
          </p:cNvCxnSpPr>
          <p:nvPr/>
        </p:nvCxnSpPr>
        <p:spPr>
          <a:xfrm>
            <a:off x="9165229" y="7048500"/>
            <a:ext cx="0" cy="106680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pic>
        <p:nvPicPr>
          <p:cNvPr id="8" name="Picture 7">
            <a:extLst>
              <a:ext uri="{FF2B5EF4-FFF2-40B4-BE49-F238E27FC236}">
                <a16:creationId xmlns:a16="http://schemas.microsoft.com/office/drawing/2014/main" id="{0AA173CD-AD11-5F0A-28AF-BDB9C5C7B5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1697" y="1104900"/>
            <a:ext cx="13504606" cy="6248400"/>
          </a:xfrm>
          <a:prstGeom prst="rect">
            <a:avLst/>
          </a:prstGeom>
        </p:spPr>
      </p:pic>
      <p:sp>
        <p:nvSpPr>
          <p:cNvPr id="53" name="TextBox 40">
            <a:extLst>
              <a:ext uri="{FF2B5EF4-FFF2-40B4-BE49-F238E27FC236}">
                <a16:creationId xmlns:a16="http://schemas.microsoft.com/office/drawing/2014/main" id="{EE37B5CD-EE20-33A9-5F97-AA74AE82FDA1}"/>
              </a:ext>
            </a:extLst>
          </p:cNvPr>
          <p:cNvSpPr txBox="1"/>
          <p:nvPr/>
        </p:nvSpPr>
        <p:spPr>
          <a:xfrm>
            <a:off x="228600" y="7734300"/>
            <a:ext cx="17907000" cy="2552700"/>
          </a:xfrm>
          <a:prstGeom prst="rect">
            <a:avLst/>
          </a:prstGeom>
          <a:solidFill>
            <a:schemeClr val="tx2"/>
          </a:solidFill>
        </p:spPr>
        <p:txBody>
          <a:bodyPr lIns="50800" tIns="50800" rIns="50800" bIns="50800" rtlCol="0" anchor="ctr"/>
          <a:lstStyle/>
          <a:p>
            <a:pPr>
              <a:lnSpc>
                <a:spcPct val="150000"/>
              </a:lnSpc>
            </a:pPr>
            <a:r>
              <a:rPr lang="en-GB" dirty="0">
                <a:solidFill>
                  <a:srgbClr val="FFFFFF"/>
                </a:solidFill>
                <a:latin typeface="TT Fors"/>
                <a:ea typeface="TT Fors"/>
                <a:cs typeface="TT Fors"/>
                <a:sym typeface="TT Fors"/>
              </a:rPr>
              <a:t>The chart compares job success rates across different freelancing platforms.</a:t>
            </a:r>
          </a:p>
          <a:p>
            <a:pPr>
              <a:lnSpc>
                <a:spcPct val="150000"/>
              </a:lnSpc>
            </a:pPr>
            <a:r>
              <a:rPr lang="en-GB" b="1" dirty="0">
                <a:solidFill>
                  <a:schemeClr val="accent6">
                    <a:lumMod val="75000"/>
                  </a:schemeClr>
                </a:solidFill>
                <a:latin typeface="TT Fors"/>
                <a:ea typeface="TT Fors"/>
                <a:cs typeface="TT Fors"/>
                <a:sym typeface="TT Fors"/>
              </a:rPr>
              <a:t>Key insights: </a:t>
            </a:r>
            <a:r>
              <a:rPr lang="en-GB" dirty="0">
                <a:solidFill>
                  <a:srgbClr val="FFFFFF"/>
                </a:solidFill>
                <a:latin typeface="TT Fors"/>
                <a:ea typeface="TT Fors"/>
                <a:cs typeface="TT Fors"/>
                <a:sym typeface="TT Fors"/>
              </a:rPr>
              <a:t>Freelancer has the highest success rate at 76%, suggesting better job matching or job opportunities. </a:t>
            </a:r>
            <a:r>
              <a:rPr lang="en-GB" dirty="0" err="1">
                <a:solidFill>
                  <a:srgbClr val="FFFFFF"/>
                </a:solidFill>
                <a:latin typeface="TT Fors"/>
                <a:ea typeface="TT Fors"/>
                <a:cs typeface="TT Fors"/>
                <a:sym typeface="TT Fors"/>
              </a:rPr>
              <a:t>Toptal</a:t>
            </a:r>
            <a:r>
              <a:rPr lang="en-GB" dirty="0">
                <a:solidFill>
                  <a:srgbClr val="FFFFFF"/>
                </a:solidFill>
                <a:latin typeface="TT Fors"/>
                <a:ea typeface="TT Fors"/>
                <a:cs typeface="TT Fors"/>
                <a:sym typeface="TT Fors"/>
              </a:rPr>
              <a:t>, Fiverr, and </a:t>
            </a:r>
            <a:r>
              <a:rPr lang="en-GB" dirty="0" err="1">
                <a:solidFill>
                  <a:srgbClr val="FFFFFF"/>
                </a:solidFill>
                <a:latin typeface="TT Fors"/>
                <a:ea typeface="TT Fors"/>
                <a:cs typeface="TT Fors"/>
                <a:sym typeface="TT Fors"/>
              </a:rPr>
              <a:t>PeoplePerHour</a:t>
            </a:r>
            <a:r>
              <a:rPr lang="en-GB" dirty="0">
                <a:solidFill>
                  <a:srgbClr val="FFFFFF"/>
                </a:solidFill>
                <a:latin typeface="TT Fors"/>
                <a:ea typeface="TT Fors"/>
                <a:cs typeface="TT Fors"/>
                <a:sym typeface="TT Fors"/>
              </a:rPr>
              <a:t> platforms cluster closely around 75%, indicating similar effectiveness. Upwork records the lowest success rate at 74%, though the difference is marginal.</a:t>
            </a:r>
          </a:p>
          <a:p>
            <a:pPr>
              <a:lnSpc>
                <a:spcPct val="150000"/>
              </a:lnSpc>
            </a:pPr>
            <a:r>
              <a:rPr lang="en-GB" b="1" dirty="0">
                <a:solidFill>
                  <a:schemeClr val="accent6">
                    <a:lumMod val="75000"/>
                  </a:schemeClr>
                </a:solidFill>
                <a:latin typeface="TT Fors"/>
                <a:ea typeface="TT Fors"/>
                <a:cs typeface="TT Fors"/>
                <a:sym typeface="TT Fors"/>
              </a:rPr>
              <a:t>Interpretation: </a:t>
            </a:r>
            <a:r>
              <a:rPr lang="en-GB" dirty="0">
                <a:solidFill>
                  <a:srgbClr val="FFFFFF"/>
                </a:solidFill>
                <a:latin typeface="TT Fors"/>
                <a:ea typeface="TT Fors"/>
                <a:cs typeface="TT Fors"/>
                <a:sym typeface="TT Fors"/>
              </a:rPr>
              <a:t>Differences are small, meaning platform choice alone does not strongly determine success. Slight variations may reflect platform policies, job screening, or client quality. </a:t>
            </a:r>
          </a:p>
          <a:p>
            <a:pPr>
              <a:lnSpc>
                <a:spcPct val="150000"/>
              </a:lnSpc>
            </a:pPr>
            <a:r>
              <a:rPr lang="en-GB" b="1" dirty="0">
                <a:solidFill>
                  <a:schemeClr val="accent6">
                    <a:lumMod val="75000"/>
                  </a:schemeClr>
                </a:solidFill>
                <a:latin typeface="TT Fors"/>
                <a:ea typeface="TT Fors"/>
                <a:cs typeface="TT Fors"/>
                <a:sym typeface="TT Fors"/>
              </a:rPr>
              <a:t>Summary: </a:t>
            </a:r>
            <a:r>
              <a:rPr lang="en-GB" dirty="0">
                <a:solidFill>
                  <a:srgbClr val="FFFFFF"/>
                </a:solidFill>
                <a:latin typeface="TT Fors"/>
                <a:ea typeface="TT Fors"/>
                <a:cs typeface="TT Fors"/>
                <a:sym typeface="TT Fors"/>
              </a:rPr>
              <a:t>All platforms perform similarly, but small success‑rate differences may influence freelancers’ platform choice when competition is tight.</a:t>
            </a:r>
            <a:endParaRPr lang="en-US" dirty="0">
              <a:solidFill>
                <a:srgbClr val="FFFFFF"/>
              </a:solidFill>
              <a:latin typeface="TT Fors"/>
              <a:ea typeface="TT Fors"/>
              <a:cs typeface="TT Fors"/>
              <a:sym typeface="TT For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F24003CB-A3B3-707A-E682-644721F95CCF}"/>
            </a:ext>
          </a:extLst>
        </p:cNvPr>
        <p:cNvGrpSpPr/>
        <p:nvPr/>
      </p:nvGrpSpPr>
      <p:grpSpPr>
        <a:xfrm>
          <a:off x="0" y="0"/>
          <a:ext cx="0" cy="0"/>
          <a:chOff x="0" y="0"/>
          <a:chExt cx="0" cy="0"/>
        </a:xfrm>
      </p:grpSpPr>
      <p:sp>
        <p:nvSpPr>
          <p:cNvPr id="12" name="TextBox 12">
            <a:extLst>
              <a:ext uri="{FF2B5EF4-FFF2-40B4-BE49-F238E27FC236}">
                <a16:creationId xmlns:a16="http://schemas.microsoft.com/office/drawing/2014/main" id="{818A30A8-6959-317A-7864-E84FE1F8B8F4}"/>
              </a:ext>
            </a:extLst>
          </p:cNvPr>
          <p:cNvSpPr txBox="1"/>
          <p:nvPr/>
        </p:nvSpPr>
        <p:spPr>
          <a:xfrm>
            <a:off x="5638800" y="114300"/>
            <a:ext cx="6096000" cy="619400"/>
          </a:xfrm>
          <a:prstGeom prst="rect">
            <a:avLst/>
          </a:prstGeom>
        </p:spPr>
        <p:txBody>
          <a:bodyPr wrap="square" lIns="0" tIns="0" rIns="0" bIns="0" rtlCol="0" anchor="t">
            <a:spAutoFit/>
          </a:bodyPr>
          <a:lstStyle/>
          <a:p>
            <a:pPr algn="ctr">
              <a:lnSpc>
                <a:spcPts val="5040"/>
              </a:lnSpc>
              <a:spcBef>
                <a:spcPct val="0"/>
              </a:spcBef>
            </a:pPr>
            <a:r>
              <a:rPr lang="en-GB" sz="3600" b="1" dirty="0">
                <a:solidFill>
                  <a:srgbClr val="112F8D"/>
                </a:solidFill>
                <a:latin typeface="TT Fors Bold"/>
              </a:rPr>
              <a:t>Job Category by Earning</a:t>
            </a:r>
            <a:endParaRPr lang="en-US" sz="3600" b="1" dirty="0">
              <a:solidFill>
                <a:srgbClr val="112F8D"/>
              </a:solidFill>
              <a:latin typeface="TT Fors Bold"/>
              <a:sym typeface="TT Fors Bold"/>
            </a:endParaRPr>
          </a:p>
        </p:txBody>
      </p:sp>
      <p:cxnSp>
        <p:nvCxnSpPr>
          <p:cNvPr id="8" name="Straight Connector 7">
            <a:extLst>
              <a:ext uri="{FF2B5EF4-FFF2-40B4-BE49-F238E27FC236}">
                <a16:creationId xmlns:a16="http://schemas.microsoft.com/office/drawing/2014/main" id="{442BF5ED-A7B9-EF41-CD51-4DCC6B30CD6D}"/>
              </a:ext>
            </a:extLst>
          </p:cNvPr>
          <p:cNvCxnSpPr>
            <a:cxnSpLocks/>
          </p:cNvCxnSpPr>
          <p:nvPr/>
        </p:nvCxnSpPr>
        <p:spPr>
          <a:xfrm>
            <a:off x="9165229" y="7048500"/>
            <a:ext cx="0" cy="106680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pic>
        <p:nvPicPr>
          <p:cNvPr id="6" name="Picture 5">
            <a:extLst>
              <a:ext uri="{FF2B5EF4-FFF2-40B4-BE49-F238E27FC236}">
                <a16:creationId xmlns:a16="http://schemas.microsoft.com/office/drawing/2014/main" id="{C7C67BE4-7D4C-888E-F785-B95417669C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899823"/>
            <a:ext cx="14563189" cy="6668353"/>
          </a:xfrm>
          <a:prstGeom prst="rect">
            <a:avLst/>
          </a:prstGeom>
        </p:spPr>
      </p:pic>
      <p:sp>
        <p:nvSpPr>
          <p:cNvPr id="7" name="TextBox 40">
            <a:extLst>
              <a:ext uri="{FF2B5EF4-FFF2-40B4-BE49-F238E27FC236}">
                <a16:creationId xmlns:a16="http://schemas.microsoft.com/office/drawing/2014/main" id="{C1790629-A499-9674-A812-C482CA2A1DE5}"/>
              </a:ext>
            </a:extLst>
          </p:cNvPr>
          <p:cNvSpPr txBox="1"/>
          <p:nvPr/>
        </p:nvSpPr>
        <p:spPr>
          <a:xfrm>
            <a:off x="228600" y="7734300"/>
            <a:ext cx="17907000" cy="2438400"/>
          </a:xfrm>
          <a:prstGeom prst="rect">
            <a:avLst/>
          </a:prstGeom>
          <a:solidFill>
            <a:schemeClr val="tx2"/>
          </a:solidFill>
        </p:spPr>
        <p:txBody>
          <a:bodyPr lIns="50800" tIns="50800" rIns="50800" bIns="50800" rtlCol="0" anchor="ctr"/>
          <a:lstStyle/>
          <a:p>
            <a:pPr>
              <a:lnSpc>
                <a:spcPct val="150000"/>
              </a:lnSpc>
            </a:pPr>
            <a:r>
              <a:rPr lang="en-GB" sz="1600" dirty="0">
                <a:solidFill>
                  <a:srgbClr val="FFFFFF"/>
                </a:solidFill>
                <a:latin typeface="TT Fors"/>
                <a:ea typeface="TT Fors"/>
                <a:cs typeface="TT Fors"/>
                <a:sym typeface="TT Fors"/>
              </a:rPr>
              <a:t>The chart ranks job categories by total earnings generated.</a:t>
            </a:r>
          </a:p>
          <a:p>
            <a:pPr>
              <a:lnSpc>
                <a:spcPct val="150000"/>
              </a:lnSpc>
            </a:pPr>
            <a:r>
              <a:rPr lang="en-GB" sz="1600" b="1" dirty="0">
                <a:solidFill>
                  <a:schemeClr val="accent6">
                    <a:lumMod val="75000"/>
                  </a:schemeClr>
                </a:solidFill>
                <a:latin typeface="TT Fors"/>
                <a:ea typeface="TT Fors"/>
                <a:cs typeface="TT Fors"/>
                <a:sym typeface="TT Fors"/>
              </a:rPr>
              <a:t>Key insights:</a:t>
            </a:r>
          </a:p>
          <a:p>
            <a:pPr>
              <a:lnSpc>
                <a:spcPct val="150000"/>
              </a:lnSpc>
            </a:pPr>
            <a:r>
              <a:rPr lang="en-GB" sz="1600" dirty="0">
                <a:solidFill>
                  <a:srgbClr val="FFFFFF"/>
                </a:solidFill>
                <a:latin typeface="TT Fors"/>
                <a:ea typeface="TT Fors"/>
                <a:cs typeface="TT Fors"/>
                <a:sym typeface="TT Fors"/>
              </a:rPr>
              <a:t>Graphic Design earns the most (≈ $1.36M), making it the most lucrative category. SEO generates the lowest earnings (≈ $1.11M). Earnings differences suggest uneven market demand and pricing power across skills. High‑earning categories likely combine strong demand + scalable deliverables. Lower‑earning categories may be more competitive or undervalued.</a:t>
            </a:r>
          </a:p>
          <a:p>
            <a:pPr>
              <a:lnSpc>
                <a:spcPct val="150000"/>
              </a:lnSpc>
            </a:pPr>
            <a:r>
              <a:rPr lang="en-GB" sz="1600" b="1" dirty="0">
                <a:solidFill>
                  <a:schemeClr val="accent6">
                    <a:lumMod val="75000"/>
                  </a:schemeClr>
                </a:solidFill>
                <a:latin typeface="TT Fors"/>
                <a:ea typeface="TT Fors"/>
                <a:cs typeface="TT Fors"/>
                <a:sym typeface="TT Fors"/>
              </a:rPr>
              <a:t>Summary:</a:t>
            </a:r>
          </a:p>
          <a:p>
            <a:pPr>
              <a:lnSpc>
                <a:spcPct val="150000"/>
              </a:lnSpc>
            </a:pPr>
            <a:r>
              <a:rPr lang="en-GB" sz="1600" dirty="0">
                <a:solidFill>
                  <a:srgbClr val="FFFFFF"/>
                </a:solidFill>
                <a:latin typeface="TT Fors"/>
                <a:ea typeface="TT Fors"/>
                <a:cs typeface="TT Fors"/>
                <a:sym typeface="TT Fors"/>
              </a:rPr>
              <a:t>Freelancers targeting high‑earning categories (like graphic design) have better income potential than those in oversaturated or lower‑value roles.</a:t>
            </a:r>
            <a:endParaRPr lang="en-US" sz="1600" dirty="0">
              <a:solidFill>
                <a:srgbClr val="FFFFFF"/>
              </a:solidFill>
              <a:latin typeface="TT Fors"/>
              <a:ea typeface="TT Fors"/>
              <a:cs typeface="TT Fors"/>
              <a:sym typeface="TT Fors"/>
            </a:endParaRPr>
          </a:p>
        </p:txBody>
      </p:sp>
    </p:spTree>
    <p:extLst>
      <p:ext uri="{BB962C8B-B14F-4D97-AF65-F5344CB8AC3E}">
        <p14:creationId xmlns:p14="http://schemas.microsoft.com/office/powerpoint/2010/main" val="2772426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CB8650D1-AF96-95C9-B0A3-D572F6DDF0D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3455DCE-0C82-A712-64F2-F2A6DA611797}"/>
              </a:ext>
            </a:extLst>
          </p:cNvPr>
          <p:cNvGrpSpPr/>
          <p:nvPr/>
        </p:nvGrpSpPr>
        <p:grpSpPr>
          <a:xfrm rot="5400000">
            <a:off x="9011473" y="286573"/>
            <a:ext cx="210974" cy="17884879"/>
            <a:chOff x="0" y="0"/>
            <a:chExt cx="57626" cy="2693278"/>
          </a:xfrm>
        </p:grpSpPr>
        <p:sp>
          <p:nvSpPr>
            <p:cNvPr id="3" name="Freeform 3">
              <a:extLst>
                <a:ext uri="{FF2B5EF4-FFF2-40B4-BE49-F238E27FC236}">
                  <a16:creationId xmlns:a16="http://schemas.microsoft.com/office/drawing/2014/main" id="{9D8391F5-A73A-E130-9305-4CF80302DEB0}"/>
                </a:ext>
              </a:extLst>
            </p:cNvPr>
            <p:cNvSpPr/>
            <p:nvPr/>
          </p:nvSpPr>
          <p:spPr>
            <a:xfrm>
              <a:off x="0" y="0"/>
              <a:ext cx="57626" cy="2693278"/>
            </a:xfrm>
            <a:custGeom>
              <a:avLst/>
              <a:gdLst/>
              <a:ahLst/>
              <a:cxnLst/>
              <a:rect l="l" t="t" r="r" b="b"/>
              <a:pathLst>
                <a:path w="57626" h="2693278">
                  <a:moveTo>
                    <a:pt x="0" y="0"/>
                  </a:moveTo>
                  <a:lnTo>
                    <a:pt x="57626" y="0"/>
                  </a:lnTo>
                  <a:lnTo>
                    <a:pt x="57626" y="2693278"/>
                  </a:lnTo>
                  <a:lnTo>
                    <a:pt x="0" y="2693278"/>
                  </a:lnTo>
                  <a:close/>
                </a:path>
              </a:pathLst>
            </a:custGeom>
            <a:solidFill>
              <a:srgbClr val="BEC8D9"/>
            </a:solidFill>
          </p:spPr>
          <p:txBody>
            <a:bodyPr/>
            <a:lstStyle/>
            <a:p>
              <a:pPr algn="ctr"/>
              <a:endParaRPr lang="en-GB"/>
            </a:p>
          </p:txBody>
        </p:sp>
        <p:sp>
          <p:nvSpPr>
            <p:cNvPr id="4" name="TextBox 4">
              <a:extLst>
                <a:ext uri="{FF2B5EF4-FFF2-40B4-BE49-F238E27FC236}">
                  <a16:creationId xmlns:a16="http://schemas.microsoft.com/office/drawing/2014/main" id="{55196856-3437-58C1-CD6E-087170E26FF8}"/>
                </a:ext>
              </a:extLst>
            </p:cNvPr>
            <p:cNvSpPr txBox="1"/>
            <p:nvPr/>
          </p:nvSpPr>
          <p:spPr>
            <a:xfrm>
              <a:off x="0" y="-38100"/>
              <a:ext cx="57626" cy="2731378"/>
            </a:xfrm>
            <a:prstGeom prst="rect">
              <a:avLst/>
            </a:prstGeom>
          </p:spPr>
          <p:txBody>
            <a:bodyPr lIns="50800" tIns="50800" rIns="50800" bIns="50800" rtlCol="0" anchor="ctr"/>
            <a:lstStyle/>
            <a:p>
              <a:pPr algn="ctr">
                <a:lnSpc>
                  <a:spcPts val="2520"/>
                </a:lnSpc>
              </a:pPr>
              <a:endParaRPr/>
            </a:p>
          </p:txBody>
        </p:sp>
      </p:grpSp>
      <p:sp>
        <p:nvSpPr>
          <p:cNvPr id="12" name="TextBox 12">
            <a:extLst>
              <a:ext uri="{FF2B5EF4-FFF2-40B4-BE49-F238E27FC236}">
                <a16:creationId xmlns:a16="http://schemas.microsoft.com/office/drawing/2014/main" id="{D558C505-F4EB-C5C9-B518-4357C73D1E3E}"/>
              </a:ext>
            </a:extLst>
          </p:cNvPr>
          <p:cNvSpPr txBox="1"/>
          <p:nvPr/>
        </p:nvSpPr>
        <p:spPr>
          <a:xfrm>
            <a:off x="2409795" y="242393"/>
            <a:ext cx="13944600" cy="619400"/>
          </a:xfrm>
          <a:prstGeom prst="rect">
            <a:avLst/>
          </a:prstGeom>
        </p:spPr>
        <p:txBody>
          <a:bodyPr wrap="square" lIns="0" tIns="0" rIns="0" bIns="0" rtlCol="0" anchor="t">
            <a:spAutoFit/>
          </a:bodyPr>
          <a:lstStyle/>
          <a:p>
            <a:pPr algn="ctr">
              <a:lnSpc>
                <a:spcPts val="5040"/>
              </a:lnSpc>
              <a:spcBef>
                <a:spcPct val="0"/>
              </a:spcBef>
            </a:pPr>
            <a:r>
              <a:rPr lang="en-GB" sz="3600" b="1" dirty="0">
                <a:solidFill>
                  <a:srgbClr val="112F8D"/>
                </a:solidFill>
                <a:latin typeface="TT Fors Bold"/>
              </a:rPr>
              <a:t>Marketing Spend and Earnings by Job Category</a:t>
            </a:r>
            <a:endParaRPr lang="en-US" sz="3600" b="1" dirty="0">
              <a:solidFill>
                <a:srgbClr val="112F8D"/>
              </a:solidFill>
              <a:latin typeface="TT Fors Bold"/>
              <a:sym typeface="TT Fors Bold"/>
            </a:endParaRPr>
          </a:p>
        </p:txBody>
      </p:sp>
      <p:grpSp>
        <p:nvGrpSpPr>
          <p:cNvPr id="13" name="Group 44">
            <a:extLst>
              <a:ext uri="{FF2B5EF4-FFF2-40B4-BE49-F238E27FC236}">
                <a16:creationId xmlns:a16="http://schemas.microsoft.com/office/drawing/2014/main" id="{82A971E0-5F25-F843-6EC0-00551D88D205}"/>
              </a:ext>
            </a:extLst>
          </p:cNvPr>
          <p:cNvGrpSpPr/>
          <p:nvPr/>
        </p:nvGrpSpPr>
        <p:grpSpPr>
          <a:xfrm>
            <a:off x="12496734" y="2781299"/>
            <a:ext cx="1828866" cy="304631"/>
            <a:chOff x="0" y="0"/>
            <a:chExt cx="812800" cy="51383"/>
          </a:xfrm>
        </p:grpSpPr>
        <p:sp>
          <p:nvSpPr>
            <p:cNvPr id="14" name="Freeform 45">
              <a:extLst>
                <a:ext uri="{FF2B5EF4-FFF2-40B4-BE49-F238E27FC236}">
                  <a16:creationId xmlns:a16="http://schemas.microsoft.com/office/drawing/2014/main" id="{D569C537-367C-EC4F-2477-B0293917324A}"/>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15" name="TextBox 46">
              <a:extLst>
                <a:ext uri="{FF2B5EF4-FFF2-40B4-BE49-F238E27FC236}">
                  <a16:creationId xmlns:a16="http://schemas.microsoft.com/office/drawing/2014/main" id="{34F5BFF3-3484-AD38-6CA2-85897E88ECF2}"/>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8" name="TextBox 17">
            <a:extLst>
              <a:ext uri="{FF2B5EF4-FFF2-40B4-BE49-F238E27FC236}">
                <a16:creationId xmlns:a16="http://schemas.microsoft.com/office/drawing/2014/main" id="{7D7E486A-BFE5-D480-17D2-31A22C2B4D2F}"/>
              </a:ext>
            </a:extLst>
          </p:cNvPr>
          <p:cNvSpPr txBox="1"/>
          <p:nvPr/>
        </p:nvSpPr>
        <p:spPr>
          <a:xfrm>
            <a:off x="12649167" y="2748948"/>
            <a:ext cx="1524000" cy="369332"/>
          </a:xfrm>
          <a:prstGeom prst="rect">
            <a:avLst/>
          </a:prstGeom>
          <a:noFill/>
        </p:spPr>
        <p:txBody>
          <a:bodyPr wrap="square">
            <a:spAutoFit/>
          </a:bodyPr>
          <a:lstStyle/>
          <a:p>
            <a:r>
              <a:rPr lang="en-GB" b="1" dirty="0">
                <a:solidFill>
                  <a:schemeClr val="bg1"/>
                </a:solidFill>
                <a:latin typeface="TT Fors" panose="020B0604020202020204" charset="0"/>
              </a:rPr>
              <a:t>Key insights:</a:t>
            </a:r>
            <a:endParaRPr lang="en-GB" b="1" dirty="0"/>
          </a:p>
        </p:txBody>
      </p:sp>
      <p:grpSp>
        <p:nvGrpSpPr>
          <p:cNvPr id="19" name="Group 44">
            <a:extLst>
              <a:ext uri="{FF2B5EF4-FFF2-40B4-BE49-F238E27FC236}">
                <a16:creationId xmlns:a16="http://schemas.microsoft.com/office/drawing/2014/main" id="{7F55D0D1-281B-F6C0-2322-809B9468E6E2}"/>
              </a:ext>
            </a:extLst>
          </p:cNvPr>
          <p:cNvGrpSpPr/>
          <p:nvPr/>
        </p:nvGrpSpPr>
        <p:grpSpPr>
          <a:xfrm>
            <a:off x="12510475" y="7731582"/>
            <a:ext cx="1828866" cy="304631"/>
            <a:chOff x="0" y="0"/>
            <a:chExt cx="812800" cy="51383"/>
          </a:xfrm>
        </p:grpSpPr>
        <p:sp>
          <p:nvSpPr>
            <p:cNvPr id="20" name="Freeform 45">
              <a:extLst>
                <a:ext uri="{FF2B5EF4-FFF2-40B4-BE49-F238E27FC236}">
                  <a16:creationId xmlns:a16="http://schemas.microsoft.com/office/drawing/2014/main" id="{8CC06460-84B4-C757-EE44-E7CC6539FC91}"/>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21" name="TextBox 46">
              <a:extLst>
                <a:ext uri="{FF2B5EF4-FFF2-40B4-BE49-F238E27FC236}">
                  <a16:creationId xmlns:a16="http://schemas.microsoft.com/office/drawing/2014/main" id="{3CE2ED59-636D-A46E-4A85-32EF5DACA52F}"/>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22" name="TextBox 21">
            <a:extLst>
              <a:ext uri="{FF2B5EF4-FFF2-40B4-BE49-F238E27FC236}">
                <a16:creationId xmlns:a16="http://schemas.microsoft.com/office/drawing/2014/main" id="{9D7CBB29-CFC3-AEA2-1320-4721ACB3622D}"/>
              </a:ext>
            </a:extLst>
          </p:cNvPr>
          <p:cNvSpPr txBox="1"/>
          <p:nvPr/>
        </p:nvSpPr>
        <p:spPr>
          <a:xfrm>
            <a:off x="12731580" y="7699231"/>
            <a:ext cx="1524000" cy="369332"/>
          </a:xfrm>
          <a:prstGeom prst="rect">
            <a:avLst/>
          </a:prstGeom>
          <a:noFill/>
        </p:spPr>
        <p:txBody>
          <a:bodyPr wrap="square">
            <a:spAutoFit/>
          </a:bodyPr>
          <a:lstStyle/>
          <a:p>
            <a:r>
              <a:rPr lang="en-GB" b="1" dirty="0">
                <a:solidFill>
                  <a:schemeClr val="bg1"/>
                </a:solidFill>
                <a:latin typeface="TT Fors" panose="020B0604020202020204" charset="0"/>
              </a:rPr>
              <a:t>Summary:</a:t>
            </a:r>
            <a:endParaRPr lang="en-GB" b="1" dirty="0"/>
          </a:p>
        </p:txBody>
      </p:sp>
      <p:cxnSp>
        <p:nvCxnSpPr>
          <p:cNvPr id="23" name="Straight Connector 22">
            <a:extLst>
              <a:ext uri="{FF2B5EF4-FFF2-40B4-BE49-F238E27FC236}">
                <a16:creationId xmlns:a16="http://schemas.microsoft.com/office/drawing/2014/main" id="{F148E8DF-1D2A-C78F-CF8F-DF580E2E9CF2}"/>
              </a:ext>
            </a:extLst>
          </p:cNvPr>
          <p:cNvCxnSpPr/>
          <p:nvPr/>
        </p:nvCxnSpPr>
        <p:spPr>
          <a:xfrm>
            <a:off x="11277600" y="4838700"/>
            <a:ext cx="1767597"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pic>
        <p:nvPicPr>
          <p:cNvPr id="7" name="Picture 6">
            <a:extLst>
              <a:ext uri="{FF2B5EF4-FFF2-40B4-BE49-F238E27FC236}">
                <a16:creationId xmlns:a16="http://schemas.microsoft.com/office/drawing/2014/main" id="{00D2C255-D77F-2F99-8931-6460DC892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921115"/>
            <a:ext cx="11804313" cy="6249910"/>
          </a:xfrm>
          <a:prstGeom prst="rect">
            <a:avLst/>
          </a:prstGeom>
        </p:spPr>
      </p:pic>
      <p:grpSp>
        <p:nvGrpSpPr>
          <p:cNvPr id="8" name="Group 16">
            <a:extLst>
              <a:ext uri="{FF2B5EF4-FFF2-40B4-BE49-F238E27FC236}">
                <a16:creationId xmlns:a16="http://schemas.microsoft.com/office/drawing/2014/main" id="{06222D93-3243-C963-49FB-4AA2E7C91569}"/>
              </a:ext>
            </a:extLst>
          </p:cNvPr>
          <p:cNvGrpSpPr/>
          <p:nvPr/>
        </p:nvGrpSpPr>
        <p:grpSpPr>
          <a:xfrm>
            <a:off x="12420666" y="1432063"/>
            <a:ext cx="5791134" cy="8131037"/>
            <a:chOff x="0" y="-46333"/>
            <a:chExt cx="1001857" cy="598140"/>
          </a:xfrm>
          <a:solidFill>
            <a:schemeClr val="accent6">
              <a:lumMod val="75000"/>
            </a:schemeClr>
          </a:solidFill>
        </p:grpSpPr>
        <p:sp>
          <p:nvSpPr>
            <p:cNvPr id="9" name="Freeform 17">
              <a:extLst>
                <a:ext uri="{FF2B5EF4-FFF2-40B4-BE49-F238E27FC236}">
                  <a16:creationId xmlns:a16="http://schemas.microsoft.com/office/drawing/2014/main" id="{8A852B50-978B-7EFC-86F5-62639A9D32D3}"/>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grpFill/>
          </p:spPr>
          <p:txBody>
            <a:bodyPr/>
            <a:lstStyle/>
            <a:p>
              <a:endParaRPr lang="en-GB"/>
            </a:p>
          </p:txBody>
        </p:sp>
        <p:sp>
          <p:nvSpPr>
            <p:cNvPr id="10" name="TextBox 18">
              <a:extLst>
                <a:ext uri="{FF2B5EF4-FFF2-40B4-BE49-F238E27FC236}">
                  <a16:creationId xmlns:a16="http://schemas.microsoft.com/office/drawing/2014/main" id="{AA77C634-F704-0465-5BD2-E5FF408AC759}"/>
                </a:ext>
              </a:extLst>
            </p:cNvPr>
            <p:cNvSpPr txBox="1"/>
            <p:nvPr/>
          </p:nvSpPr>
          <p:spPr>
            <a:xfrm>
              <a:off x="0" y="-46333"/>
              <a:ext cx="1001857" cy="598140"/>
            </a:xfrm>
            <a:prstGeom prst="rect">
              <a:avLst/>
            </a:prstGeom>
            <a:solidFill>
              <a:schemeClr val="tx2"/>
            </a:solidFill>
          </p:spPr>
          <p:txBody>
            <a:bodyPr lIns="50800" tIns="50800" rIns="50800" bIns="50800" rtlCol="0" anchor="ctr"/>
            <a:lstStyle/>
            <a:p>
              <a:pPr algn="ctr">
                <a:lnSpc>
                  <a:spcPts val="2520"/>
                </a:lnSpc>
              </a:pPr>
              <a:endParaRPr/>
            </a:p>
          </p:txBody>
        </p:sp>
      </p:grpSp>
      <p:sp>
        <p:nvSpPr>
          <p:cNvPr id="11" name="TextBox 10">
            <a:extLst>
              <a:ext uri="{FF2B5EF4-FFF2-40B4-BE49-F238E27FC236}">
                <a16:creationId xmlns:a16="http://schemas.microsoft.com/office/drawing/2014/main" id="{16FFD050-7240-0CA6-DAC7-6759FADD1AF9}"/>
              </a:ext>
            </a:extLst>
          </p:cNvPr>
          <p:cNvSpPr txBox="1"/>
          <p:nvPr/>
        </p:nvSpPr>
        <p:spPr>
          <a:xfrm>
            <a:off x="12649266" y="1432069"/>
            <a:ext cx="5105400" cy="7950253"/>
          </a:xfrm>
          <a:prstGeom prst="rect">
            <a:avLst/>
          </a:prstGeom>
          <a:noFill/>
        </p:spPr>
        <p:txBody>
          <a:bodyPr wrap="square">
            <a:spAutoFit/>
          </a:bodyPr>
          <a:lstStyle/>
          <a:p>
            <a:pPr algn="just">
              <a:lnSpc>
                <a:spcPct val="150000"/>
              </a:lnSpc>
            </a:pPr>
            <a:r>
              <a:rPr lang="en-GB" sz="1900" dirty="0">
                <a:solidFill>
                  <a:schemeClr val="bg1"/>
                </a:solidFill>
                <a:latin typeface="TT Fors" panose="020B0604020202020204" charset="0"/>
              </a:rPr>
              <a:t>The chart compares marketing investment against earnings across job categories.</a:t>
            </a:r>
          </a:p>
          <a:p>
            <a:pPr algn="just">
              <a:lnSpc>
                <a:spcPct val="150000"/>
              </a:lnSpc>
            </a:pPr>
            <a:endParaRPr lang="en-GB" sz="1900" dirty="0">
              <a:solidFill>
                <a:schemeClr val="bg1"/>
              </a:solidFill>
              <a:latin typeface="TT Fors" panose="020B0604020202020204" charset="0"/>
            </a:endParaRPr>
          </a:p>
          <a:p>
            <a:pPr algn="just">
              <a:lnSpc>
                <a:spcPct val="150000"/>
              </a:lnSpc>
            </a:pPr>
            <a:endParaRPr lang="en-GB" sz="1900" dirty="0">
              <a:solidFill>
                <a:schemeClr val="bg1"/>
              </a:solidFill>
              <a:latin typeface="TT Fors" panose="020B0604020202020204" charset="0"/>
            </a:endParaRPr>
          </a:p>
          <a:p>
            <a:pPr algn="just">
              <a:lnSpc>
                <a:spcPct val="150000"/>
              </a:lnSpc>
            </a:pPr>
            <a:r>
              <a:rPr lang="en-GB" sz="1900" dirty="0">
                <a:solidFill>
                  <a:schemeClr val="bg1"/>
                </a:solidFill>
                <a:latin typeface="TT Fors" panose="020B0604020202020204" charset="0"/>
              </a:rPr>
              <a:t>Job categories with higher marketing spend also report higher earnings.</a:t>
            </a:r>
          </a:p>
          <a:p>
            <a:pPr algn="just">
              <a:lnSpc>
                <a:spcPct val="150000"/>
              </a:lnSpc>
            </a:pPr>
            <a:r>
              <a:rPr lang="en-GB" sz="1900" dirty="0">
                <a:solidFill>
                  <a:schemeClr val="bg1"/>
                </a:solidFill>
                <a:latin typeface="TT Fors" panose="020B0604020202020204" charset="0"/>
              </a:rPr>
              <a:t>Graphic Design shows both high marketing investment and high returns. Low marketing spend does not consistently lead to low earnings.</a:t>
            </a:r>
          </a:p>
          <a:p>
            <a:pPr algn="just">
              <a:lnSpc>
                <a:spcPct val="150000"/>
              </a:lnSpc>
            </a:pPr>
            <a:r>
              <a:rPr lang="en-GB" sz="1900" dirty="0">
                <a:solidFill>
                  <a:schemeClr val="bg1"/>
                </a:solidFill>
                <a:latin typeface="TT Fors" panose="020B0604020202020204" charset="0"/>
              </a:rPr>
              <a:t>Marketing increases visibility, client reach, and job opportunities. The relationship is positive but not perfectly proportional, meaning marketing must be strategic.</a:t>
            </a:r>
          </a:p>
          <a:p>
            <a:pPr algn="just">
              <a:lnSpc>
                <a:spcPct val="150000"/>
              </a:lnSpc>
            </a:pPr>
            <a:r>
              <a:rPr lang="en-GB" sz="1900" dirty="0">
                <a:solidFill>
                  <a:schemeClr val="bg1"/>
                </a:solidFill>
                <a:latin typeface="TT Fors" panose="020B0604020202020204" charset="0"/>
              </a:rPr>
              <a:t> </a:t>
            </a:r>
          </a:p>
          <a:p>
            <a:pPr algn="just">
              <a:lnSpc>
                <a:spcPct val="150000"/>
              </a:lnSpc>
            </a:pPr>
            <a:r>
              <a:rPr lang="en-GB" sz="1900" dirty="0">
                <a:solidFill>
                  <a:schemeClr val="bg1"/>
                </a:solidFill>
                <a:latin typeface="TT Fors" panose="020B0604020202020204" charset="0"/>
              </a:rPr>
              <a:t>Marketing spend is a powerful income driver, but effectiveness depends on how and where it is applied.</a:t>
            </a:r>
          </a:p>
        </p:txBody>
      </p:sp>
    </p:spTree>
    <p:extLst>
      <p:ext uri="{BB962C8B-B14F-4D97-AF65-F5344CB8AC3E}">
        <p14:creationId xmlns:p14="http://schemas.microsoft.com/office/powerpoint/2010/main" val="469865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28CDCC9D-717C-9FD2-28B0-7E7BCE937CD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9AC9A59-94AF-7367-0110-1BE36174425F}"/>
              </a:ext>
            </a:extLst>
          </p:cNvPr>
          <p:cNvGrpSpPr/>
          <p:nvPr/>
        </p:nvGrpSpPr>
        <p:grpSpPr>
          <a:xfrm rot="5400000">
            <a:off x="9011473" y="286573"/>
            <a:ext cx="210974" cy="17884879"/>
            <a:chOff x="0" y="0"/>
            <a:chExt cx="57626" cy="2693278"/>
          </a:xfrm>
        </p:grpSpPr>
        <p:sp>
          <p:nvSpPr>
            <p:cNvPr id="3" name="Freeform 3">
              <a:extLst>
                <a:ext uri="{FF2B5EF4-FFF2-40B4-BE49-F238E27FC236}">
                  <a16:creationId xmlns:a16="http://schemas.microsoft.com/office/drawing/2014/main" id="{867C7F53-425A-9739-3F5D-A097F539DE2B}"/>
                </a:ext>
              </a:extLst>
            </p:cNvPr>
            <p:cNvSpPr/>
            <p:nvPr/>
          </p:nvSpPr>
          <p:spPr>
            <a:xfrm>
              <a:off x="0" y="0"/>
              <a:ext cx="57626" cy="2693278"/>
            </a:xfrm>
            <a:custGeom>
              <a:avLst/>
              <a:gdLst/>
              <a:ahLst/>
              <a:cxnLst/>
              <a:rect l="l" t="t" r="r" b="b"/>
              <a:pathLst>
                <a:path w="57626" h="2693278">
                  <a:moveTo>
                    <a:pt x="0" y="0"/>
                  </a:moveTo>
                  <a:lnTo>
                    <a:pt x="57626" y="0"/>
                  </a:lnTo>
                  <a:lnTo>
                    <a:pt x="57626" y="2693278"/>
                  </a:lnTo>
                  <a:lnTo>
                    <a:pt x="0" y="2693278"/>
                  </a:lnTo>
                  <a:close/>
                </a:path>
              </a:pathLst>
            </a:custGeom>
            <a:solidFill>
              <a:srgbClr val="BEC8D9"/>
            </a:solidFill>
          </p:spPr>
          <p:txBody>
            <a:bodyPr/>
            <a:lstStyle/>
            <a:p>
              <a:pPr algn="ctr"/>
              <a:endParaRPr lang="en-GB"/>
            </a:p>
          </p:txBody>
        </p:sp>
        <p:sp>
          <p:nvSpPr>
            <p:cNvPr id="4" name="TextBox 4">
              <a:extLst>
                <a:ext uri="{FF2B5EF4-FFF2-40B4-BE49-F238E27FC236}">
                  <a16:creationId xmlns:a16="http://schemas.microsoft.com/office/drawing/2014/main" id="{1F9ABD83-F453-29C9-ADAD-AEE24F57D0BC}"/>
                </a:ext>
              </a:extLst>
            </p:cNvPr>
            <p:cNvSpPr txBox="1"/>
            <p:nvPr/>
          </p:nvSpPr>
          <p:spPr>
            <a:xfrm>
              <a:off x="0" y="-38100"/>
              <a:ext cx="57626" cy="2731378"/>
            </a:xfrm>
            <a:prstGeom prst="rect">
              <a:avLst/>
            </a:prstGeom>
          </p:spPr>
          <p:txBody>
            <a:bodyPr lIns="50800" tIns="50800" rIns="50800" bIns="50800" rtlCol="0" anchor="ctr"/>
            <a:lstStyle/>
            <a:p>
              <a:pPr algn="ctr">
                <a:lnSpc>
                  <a:spcPts val="2520"/>
                </a:lnSpc>
              </a:pPr>
              <a:endParaRPr/>
            </a:p>
          </p:txBody>
        </p:sp>
      </p:grpSp>
      <p:sp>
        <p:nvSpPr>
          <p:cNvPr id="12" name="TextBox 12">
            <a:extLst>
              <a:ext uri="{FF2B5EF4-FFF2-40B4-BE49-F238E27FC236}">
                <a16:creationId xmlns:a16="http://schemas.microsoft.com/office/drawing/2014/main" id="{2CDF7BDF-F3E9-2E69-7CE6-40A234DAA21E}"/>
              </a:ext>
            </a:extLst>
          </p:cNvPr>
          <p:cNvSpPr txBox="1"/>
          <p:nvPr/>
        </p:nvSpPr>
        <p:spPr>
          <a:xfrm>
            <a:off x="2362200" y="486719"/>
            <a:ext cx="13944600" cy="619400"/>
          </a:xfrm>
          <a:prstGeom prst="rect">
            <a:avLst/>
          </a:prstGeom>
        </p:spPr>
        <p:txBody>
          <a:bodyPr wrap="square" lIns="0" tIns="0" rIns="0" bIns="0" rtlCol="0" anchor="t">
            <a:spAutoFit/>
          </a:bodyPr>
          <a:lstStyle/>
          <a:p>
            <a:pPr algn="ctr">
              <a:lnSpc>
                <a:spcPts val="5040"/>
              </a:lnSpc>
              <a:spcBef>
                <a:spcPct val="0"/>
              </a:spcBef>
            </a:pPr>
            <a:r>
              <a:rPr lang="en-GB" sz="3600" b="1" dirty="0">
                <a:solidFill>
                  <a:srgbClr val="112F8D"/>
                </a:solidFill>
                <a:latin typeface="TT Fors Bold"/>
              </a:rPr>
              <a:t>Hourly Rate by Experience Level</a:t>
            </a:r>
            <a:endParaRPr lang="en-US" sz="3600" b="1" dirty="0">
              <a:solidFill>
                <a:srgbClr val="112F8D"/>
              </a:solidFill>
              <a:latin typeface="TT Fors Bold"/>
              <a:sym typeface="TT Fors Bold"/>
            </a:endParaRPr>
          </a:p>
        </p:txBody>
      </p:sp>
      <p:pic>
        <p:nvPicPr>
          <p:cNvPr id="6" name="Picture 5">
            <a:extLst>
              <a:ext uri="{FF2B5EF4-FFF2-40B4-BE49-F238E27FC236}">
                <a16:creationId xmlns:a16="http://schemas.microsoft.com/office/drawing/2014/main" id="{03752267-6BDC-4278-B862-E19262983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875330"/>
            <a:ext cx="8290803" cy="6893983"/>
          </a:xfrm>
          <a:prstGeom prst="rect">
            <a:avLst/>
          </a:prstGeom>
        </p:spPr>
      </p:pic>
      <p:grpSp>
        <p:nvGrpSpPr>
          <p:cNvPr id="8" name="Group 16">
            <a:extLst>
              <a:ext uri="{FF2B5EF4-FFF2-40B4-BE49-F238E27FC236}">
                <a16:creationId xmlns:a16="http://schemas.microsoft.com/office/drawing/2014/main" id="{21B10E92-C6C8-553C-FC4B-3C0A5B5E7505}"/>
              </a:ext>
            </a:extLst>
          </p:cNvPr>
          <p:cNvGrpSpPr/>
          <p:nvPr/>
        </p:nvGrpSpPr>
        <p:grpSpPr>
          <a:xfrm>
            <a:off x="11277600" y="1432063"/>
            <a:ext cx="6781734" cy="8131037"/>
            <a:chOff x="0" y="-46333"/>
            <a:chExt cx="1001857" cy="598140"/>
          </a:xfrm>
          <a:solidFill>
            <a:schemeClr val="accent6">
              <a:lumMod val="75000"/>
            </a:schemeClr>
          </a:solidFill>
        </p:grpSpPr>
        <p:sp>
          <p:nvSpPr>
            <p:cNvPr id="9" name="Freeform 17">
              <a:extLst>
                <a:ext uri="{FF2B5EF4-FFF2-40B4-BE49-F238E27FC236}">
                  <a16:creationId xmlns:a16="http://schemas.microsoft.com/office/drawing/2014/main" id="{BF72ACD7-68DF-394B-A14B-980EAF536147}"/>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grpFill/>
          </p:spPr>
          <p:txBody>
            <a:bodyPr/>
            <a:lstStyle/>
            <a:p>
              <a:endParaRPr lang="en-GB"/>
            </a:p>
          </p:txBody>
        </p:sp>
        <p:sp>
          <p:nvSpPr>
            <p:cNvPr id="10" name="TextBox 18">
              <a:extLst>
                <a:ext uri="{FF2B5EF4-FFF2-40B4-BE49-F238E27FC236}">
                  <a16:creationId xmlns:a16="http://schemas.microsoft.com/office/drawing/2014/main" id="{9E3D712B-B664-F989-137C-0215C08FAEB8}"/>
                </a:ext>
              </a:extLst>
            </p:cNvPr>
            <p:cNvSpPr txBox="1"/>
            <p:nvPr/>
          </p:nvSpPr>
          <p:spPr>
            <a:xfrm>
              <a:off x="0" y="-46333"/>
              <a:ext cx="1001857" cy="598140"/>
            </a:xfrm>
            <a:prstGeom prst="rect">
              <a:avLst/>
            </a:prstGeom>
            <a:solidFill>
              <a:schemeClr val="tx2"/>
            </a:solidFill>
          </p:spPr>
          <p:txBody>
            <a:bodyPr lIns="50800" tIns="50800" rIns="50800" bIns="50800" rtlCol="0" anchor="ctr"/>
            <a:lstStyle/>
            <a:p>
              <a:pPr algn="ctr">
                <a:lnSpc>
                  <a:spcPts val="2520"/>
                </a:lnSpc>
              </a:pPr>
              <a:endParaRPr/>
            </a:p>
          </p:txBody>
        </p:sp>
      </p:grpSp>
      <p:sp>
        <p:nvSpPr>
          <p:cNvPr id="11" name="TextBox 10">
            <a:extLst>
              <a:ext uri="{FF2B5EF4-FFF2-40B4-BE49-F238E27FC236}">
                <a16:creationId xmlns:a16="http://schemas.microsoft.com/office/drawing/2014/main" id="{C5BEBB3C-C311-6911-1FEF-0F93D5BBCACB}"/>
              </a:ext>
            </a:extLst>
          </p:cNvPr>
          <p:cNvSpPr txBox="1"/>
          <p:nvPr/>
        </p:nvSpPr>
        <p:spPr>
          <a:xfrm>
            <a:off x="11506167" y="1564193"/>
            <a:ext cx="6324600" cy="7511672"/>
          </a:xfrm>
          <a:prstGeom prst="rect">
            <a:avLst/>
          </a:prstGeom>
          <a:noFill/>
        </p:spPr>
        <p:txBody>
          <a:bodyPr wrap="square">
            <a:spAutoFit/>
          </a:bodyPr>
          <a:lstStyle/>
          <a:p>
            <a:pPr>
              <a:lnSpc>
                <a:spcPct val="150000"/>
              </a:lnSpc>
            </a:pPr>
            <a:r>
              <a:rPr lang="en-GB" sz="1900" dirty="0">
                <a:solidFill>
                  <a:schemeClr val="bg1"/>
                </a:solidFill>
                <a:latin typeface="TT Fors" panose="020B0604020202020204" charset="0"/>
              </a:rPr>
              <a:t>The chart compares the average hourly earnings of freelancers across the three experience levels: beginner, intermediate, and expert.</a:t>
            </a:r>
          </a:p>
          <a:p>
            <a:pPr>
              <a:lnSpc>
                <a:spcPct val="150000"/>
              </a:lnSpc>
            </a:pPr>
            <a:endParaRPr lang="en-GB" sz="1900" dirty="0">
              <a:solidFill>
                <a:schemeClr val="bg1"/>
              </a:solidFill>
              <a:latin typeface="TT Fors" panose="020B0604020202020204" charset="0"/>
            </a:endParaRPr>
          </a:p>
          <a:p>
            <a:pPr>
              <a:lnSpc>
                <a:spcPct val="150000"/>
              </a:lnSpc>
            </a:pPr>
            <a:r>
              <a:rPr lang="en-GB" sz="1900" dirty="0">
                <a:solidFill>
                  <a:schemeClr val="bg1"/>
                </a:solidFill>
                <a:latin typeface="TT Fors" panose="020B0604020202020204" charset="0"/>
              </a:rPr>
              <a:t>Intermediate freelancers earn the highest average rate of $54/hour. Experts earn slightly less ($52/hour), and beginners earn $51/hour. The differences are narrow, indicating experience alone does not dictate pricing power.</a:t>
            </a:r>
          </a:p>
          <a:p>
            <a:pPr>
              <a:lnSpc>
                <a:spcPct val="150000"/>
              </a:lnSpc>
            </a:pPr>
            <a:r>
              <a:rPr lang="en-GB" sz="1900" dirty="0">
                <a:solidFill>
                  <a:schemeClr val="bg1"/>
                </a:solidFill>
                <a:latin typeface="TT Fors" panose="020B0604020202020204" charset="0"/>
              </a:rPr>
              <a:t>Intermediate freelancers may balance competitive pricing with proven experience, making them more attractive to clients. Experts may accept lower rates to remain competitive or secure more consistent work.</a:t>
            </a:r>
          </a:p>
          <a:p>
            <a:pPr>
              <a:lnSpc>
                <a:spcPct val="150000"/>
              </a:lnSpc>
            </a:pPr>
            <a:endParaRPr lang="en-GB" sz="1900" dirty="0">
              <a:solidFill>
                <a:schemeClr val="bg1"/>
              </a:solidFill>
              <a:latin typeface="TT Fors" panose="020B0604020202020204" charset="0"/>
            </a:endParaRPr>
          </a:p>
          <a:p>
            <a:pPr>
              <a:lnSpc>
                <a:spcPct val="150000"/>
              </a:lnSpc>
            </a:pPr>
            <a:r>
              <a:rPr lang="en-GB" sz="1900" dirty="0">
                <a:solidFill>
                  <a:schemeClr val="bg1"/>
                </a:solidFill>
                <a:latin typeface="TT Fors" panose="020B0604020202020204" charset="0"/>
              </a:rPr>
              <a:t>Optimal earnings occur at the intermediate level, suggesting that marketability may matter more than expertise.</a:t>
            </a:r>
          </a:p>
        </p:txBody>
      </p:sp>
      <p:grpSp>
        <p:nvGrpSpPr>
          <p:cNvPr id="13" name="Group 44">
            <a:extLst>
              <a:ext uri="{FF2B5EF4-FFF2-40B4-BE49-F238E27FC236}">
                <a16:creationId xmlns:a16="http://schemas.microsoft.com/office/drawing/2014/main" id="{7206A076-5CF4-95E2-8F3A-04996200937D}"/>
              </a:ext>
            </a:extLst>
          </p:cNvPr>
          <p:cNvGrpSpPr/>
          <p:nvPr/>
        </p:nvGrpSpPr>
        <p:grpSpPr>
          <a:xfrm>
            <a:off x="11525766" y="3042251"/>
            <a:ext cx="1828866" cy="304631"/>
            <a:chOff x="0" y="0"/>
            <a:chExt cx="812800" cy="51383"/>
          </a:xfrm>
        </p:grpSpPr>
        <p:sp>
          <p:nvSpPr>
            <p:cNvPr id="14" name="Freeform 45">
              <a:extLst>
                <a:ext uri="{FF2B5EF4-FFF2-40B4-BE49-F238E27FC236}">
                  <a16:creationId xmlns:a16="http://schemas.microsoft.com/office/drawing/2014/main" id="{0BA9E219-C825-BB6F-87CE-22835D4D982C}"/>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15" name="TextBox 46">
              <a:extLst>
                <a:ext uri="{FF2B5EF4-FFF2-40B4-BE49-F238E27FC236}">
                  <a16:creationId xmlns:a16="http://schemas.microsoft.com/office/drawing/2014/main" id="{166CAB55-3BA8-EC96-54FC-603D4FD9F34E}"/>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6" name="TextBox 15">
            <a:extLst>
              <a:ext uri="{FF2B5EF4-FFF2-40B4-BE49-F238E27FC236}">
                <a16:creationId xmlns:a16="http://schemas.microsoft.com/office/drawing/2014/main" id="{D1750004-50E6-37F7-48F5-565D225F5185}"/>
              </a:ext>
            </a:extLst>
          </p:cNvPr>
          <p:cNvSpPr txBox="1"/>
          <p:nvPr/>
        </p:nvSpPr>
        <p:spPr>
          <a:xfrm>
            <a:off x="11678199" y="3009900"/>
            <a:ext cx="1524000" cy="369332"/>
          </a:xfrm>
          <a:prstGeom prst="rect">
            <a:avLst/>
          </a:prstGeom>
          <a:noFill/>
        </p:spPr>
        <p:txBody>
          <a:bodyPr wrap="square">
            <a:spAutoFit/>
          </a:bodyPr>
          <a:lstStyle/>
          <a:p>
            <a:r>
              <a:rPr lang="en-GB" b="1" dirty="0">
                <a:solidFill>
                  <a:schemeClr val="bg1"/>
                </a:solidFill>
                <a:latin typeface="TT Fors" panose="020B0604020202020204" charset="0"/>
              </a:rPr>
              <a:t>Key insights:</a:t>
            </a:r>
            <a:endParaRPr lang="en-GB" b="1" dirty="0"/>
          </a:p>
        </p:txBody>
      </p:sp>
      <p:grpSp>
        <p:nvGrpSpPr>
          <p:cNvPr id="17" name="Group 44">
            <a:extLst>
              <a:ext uri="{FF2B5EF4-FFF2-40B4-BE49-F238E27FC236}">
                <a16:creationId xmlns:a16="http://schemas.microsoft.com/office/drawing/2014/main" id="{8F0B7DAC-A33A-CC7B-C484-D7B011182673}"/>
              </a:ext>
            </a:extLst>
          </p:cNvPr>
          <p:cNvGrpSpPr/>
          <p:nvPr/>
        </p:nvGrpSpPr>
        <p:grpSpPr>
          <a:xfrm>
            <a:off x="11511017" y="7385651"/>
            <a:ext cx="1828866" cy="304631"/>
            <a:chOff x="0" y="0"/>
            <a:chExt cx="812800" cy="51383"/>
          </a:xfrm>
        </p:grpSpPr>
        <p:sp>
          <p:nvSpPr>
            <p:cNvPr id="18" name="Freeform 45">
              <a:extLst>
                <a:ext uri="{FF2B5EF4-FFF2-40B4-BE49-F238E27FC236}">
                  <a16:creationId xmlns:a16="http://schemas.microsoft.com/office/drawing/2014/main" id="{8F4425EA-33DE-5911-5E78-A94591AEFA03}"/>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19" name="TextBox 46">
              <a:extLst>
                <a:ext uri="{FF2B5EF4-FFF2-40B4-BE49-F238E27FC236}">
                  <a16:creationId xmlns:a16="http://schemas.microsoft.com/office/drawing/2014/main" id="{FBB9EB7F-9FAC-AE29-42E3-E45AFFD41972}"/>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20" name="TextBox 19">
            <a:extLst>
              <a:ext uri="{FF2B5EF4-FFF2-40B4-BE49-F238E27FC236}">
                <a16:creationId xmlns:a16="http://schemas.microsoft.com/office/drawing/2014/main" id="{DD059F20-E3AB-5CF0-D427-BCE013EFA241}"/>
              </a:ext>
            </a:extLst>
          </p:cNvPr>
          <p:cNvSpPr txBox="1"/>
          <p:nvPr/>
        </p:nvSpPr>
        <p:spPr>
          <a:xfrm>
            <a:off x="11732122" y="7353300"/>
            <a:ext cx="1524000" cy="369332"/>
          </a:xfrm>
          <a:prstGeom prst="rect">
            <a:avLst/>
          </a:prstGeom>
          <a:noFill/>
        </p:spPr>
        <p:txBody>
          <a:bodyPr wrap="square">
            <a:spAutoFit/>
          </a:bodyPr>
          <a:lstStyle/>
          <a:p>
            <a:r>
              <a:rPr lang="en-GB" dirty="0">
                <a:solidFill>
                  <a:schemeClr val="bg1"/>
                </a:solidFill>
                <a:latin typeface="TT Fors" panose="020B0604020202020204" charset="0"/>
              </a:rPr>
              <a:t>Summary:</a:t>
            </a:r>
            <a:endParaRPr lang="en-GB" dirty="0"/>
          </a:p>
        </p:txBody>
      </p:sp>
      <p:cxnSp>
        <p:nvCxnSpPr>
          <p:cNvPr id="23" name="Straight Connector 22">
            <a:extLst>
              <a:ext uri="{FF2B5EF4-FFF2-40B4-BE49-F238E27FC236}">
                <a16:creationId xmlns:a16="http://schemas.microsoft.com/office/drawing/2014/main" id="{96F1A916-451B-D2EE-194F-26DB9CE1F184}"/>
              </a:ext>
            </a:extLst>
          </p:cNvPr>
          <p:cNvCxnSpPr/>
          <p:nvPr/>
        </p:nvCxnSpPr>
        <p:spPr>
          <a:xfrm>
            <a:off x="9510003" y="4838700"/>
            <a:ext cx="1767597"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349814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B012DF79-F561-1F5D-CD43-778E6047BE7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F07CF17-A7EB-A417-1530-04E4FE5108B0}"/>
              </a:ext>
            </a:extLst>
          </p:cNvPr>
          <p:cNvGrpSpPr/>
          <p:nvPr/>
        </p:nvGrpSpPr>
        <p:grpSpPr>
          <a:xfrm rot="5400000">
            <a:off x="9011473" y="286573"/>
            <a:ext cx="210974" cy="17884879"/>
            <a:chOff x="0" y="0"/>
            <a:chExt cx="57626" cy="2693278"/>
          </a:xfrm>
        </p:grpSpPr>
        <p:sp>
          <p:nvSpPr>
            <p:cNvPr id="3" name="Freeform 3">
              <a:extLst>
                <a:ext uri="{FF2B5EF4-FFF2-40B4-BE49-F238E27FC236}">
                  <a16:creationId xmlns:a16="http://schemas.microsoft.com/office/drawing/2014/main" id="{7F1D0D6C-3327-F5D0-0DB9-451ABB0899CE}"/>
                </a:ext>
              </a:extLst>
            </p:cNvPr>
            <p:cNvSpPr/>
            <p:nvPr/>
          </p:nvSpPr>
          <p:spPr>
            <a:xfrm>
              <a:off x="0" y="0"/>
              <a:ext cx="57626" cy="2693278"/>
            </a:xfrm>
            <a:custGeom>
              <a:avLst/>
              <a:gdLst/>
              <a:ahLst/>
              <a:cxnLst/>
              <a:rect l="l" t="t" r="r" b="b"/>
              <a:pathLst>
                <a:path w="57626" h="2693278">
                  <a:moveTo>
                    <a:pt x="0" y="0"/>
                  </a:moveTo>
                  <a:lnTo>
                    <a:pt x="57626" y="0"/>
                  </a:lnTo>
                  <a:lnTo>
                    <a:pt x="57626" y="2693278"/>
                  </a:lnTo>
                  <a:lnTo>
                    <a:pt x="0" y="2693278"/>
                  </a:lnTo>
                  <a:close/>
                </a:path>
              </a:pathLst>
            </a:custGeom>
            <a:solidFill>
              <a:srgbClr val="BEC8D9"/>
            </a:solidFill>
          </p:spPr>
          <p:txBody>
            <a:bodyPr/>
            <a:lstStyle/>
            <a:p>
              <a:pPr algn="ctr"/>
              <a:endParaRPr lang="en-GB"/>
            </a:p>
          </p:txBody>
        </p:sp>
        <p:sp>
          <p:nvSpPr>
            <p:cNvPr id="4" name="TextBox 4">
              <a:extLst>
                <a:ext uri="{FF2B5EF4-FFF2-40B4-BE49-F238E27FC236}">
                  <a16:creationId xmlns:a16="http://schemas.microsoft.com/office/drawing/2014/main" id="{3AAD64B8-4A56-9DEF-7636-35DCBBE213C3}"/>
                </a:ext>
              </a:extLst>
            </p:cNvPr>
            <p:cNvSpPr txBox="1"/>
            <p:nvPr/>
          </p:nvSpPr>
          <p:spPr>
            <a:xfrm>
              <a:off x="0" y="-38100"/>
              <a:ext cx="57626" cy="2731378"/>
            </a:xfrm>
            <a:prstGeom prst="rect">
              <a:avLst/>
            </a:prstGeom>
          </p:spPr>
          <p:txBody>
            <a:bodyPr lIns="50800" tIns="50800" rIns="50800" bIns="50800" rtlCol="0" anchor="ctr"/>
            <a:lstStyle/>
            <a:p>
              <a:pPr algn="ctr">
                <a:lnSpc>
                  <a:spcPts val="2520"/>
                </a:lnSpc>
              </a:pPr>
              <a:endParaRPr/>
            </a:p>
          </p:txBody>
        </p:sp>
      </p:grpSp>
      <p:sp>
        <p:nvSpPr>
          <p:cNvPr id="12" name="TextBox 12">
            <a:extLst>
              <a:ext uri="{FF2B5EF4-FFF2-40B4-BE49-F238E27FC236}">
                <a16:creationId xmlns:a16="http://schemas.microsoft.com/office/drawing/2014/main" id="{53AB3421-DD77-6E90-3411-615890BD6AC5}"/>
              </a:ext>
            </a:extLst>
          </p:cNvPr>
          <p:cNvSpPr txBox="1"/>
          <p:nvPr/>
        </p:nvSpPr>
        <p:spPr>
          <a:xfrm>
            <a:off x="2362200" y="486719"/>
            <a:ext cx="13944600" cy="619400"/>
          </a:xfrm>
          <a:prstGeom prst="rect">
            <a:avLst/>
          </a:prstGeom>
        </p:spPr>
        <p:txBody>
          <a:bodyPr wrap="square" lIns="0" tIns="0" rIns="0" bIns="0" rtlCol="0" anchor="t">
            <a:spAutoFit/>
          </a:bodyPr>
          <a:lstStyle/>
          <a:p>
            <a:pPr algn="ctr">
              <a:lnSpc>
                <a:spcPts val="5040"/>
              </a:lnSpc>
              <a:spcBef>
                <a:spcPct val="0"/>
              </a:spcBef>
            </a:pPr>
            <a:r>
              <a:rPr lang="en-GB" sz="3600" b="1" dirty="0">
                <a:solidFill>
                  <a:srgbClr val="112F8D"/>
                </a:solidFill>
                <a:latin typeface="TT Fors Bold"/>
              </a:rPr>
              <a:t>Earnings by Region</a:t>
            </a:r>
            <a:endParaRPr lang="en-US" sz="3600" b="1" dirty="0">
              <a:solidFill>
                <a:srgbClr val="112F8D"/>
              </a:solidFill>
              <a:latin typeface="TT Fors Bold"/>
              <a:sym typeface="TT Fors Bold"/>
            </a:endParaRPr>
          </a:p>
        </p:txBody>
      </p:sp>
      <p:grpSp>
        <p:nvGrpSpPr>
          <p:cNvPr id="16" name="Group 44">
            <a:extLst>
              <a:ext uri="{FF2B5EF4-FFF2-40B4-BE49-F238E27FC236}">
                <a16:creationId xmlns:a16="http://schemas.microsoft.com/office/drawing/2014/main" id="{BC929060-95CE-EB66-C29A-65F37A9B5C54}"/>
              </a:ext>
            </a:extLst>
          </p:cNvPr>
          <p:cNvGrpSpPr/>
          <p:nvPr/>
        </p:nvGrpSpPr>
        <p:grpSpPr>
          <a:xfrm>
            <a:off x="12554876" y="2234601"/>
            <a:ext cx="1828866" cy="304631"/>
            <a:chOff x="0" y="0"/>
            <a:chExt cx="812800" cy="51383"/>
          </a:xfrm>
        </p:grpSpPr>
        <p:sp>
          <p:nvSpPr>
            <p:cNvPr id="17" name="Freeform 45">
              <a:extLst>
                <a:ext uri="{FF2B5EF4-FFF2-40B4-BE49-F238E27FC236}">
                  <a16:creationId xmlns:a16="http://schemas.microsoft.com/office/drawing/2014/main" id="{4590A83F-9BC1-C6DB-744D-AB9C4BF8BB02}"/>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18" name="TextBox 46">
              <a:extLst>
                <a:ext uri="{FF2B5EF4-FFF2-40B4-BE49-F238E27FC236}">
                  <a16:creationId xmlns:a16="http://schemas.microsoft.com/office/drawing/2014/main" id="{9D8B32D9-D3EA-ADC6-8790-66FE1549A2E5}"/>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19" name="TextBox 18">
            <a:extLst>
              <a:ext uri="{FF2B5EF4-FFF2-40B4-BE49-F238E27FC236}">
                <a16:creationId xmlns:a16="http://schemas.microsoft.com/office/drawing/2014/main" id="{ABFFC59B-B172-F2A6-1B0F-1F38EBD8969E}"/>
              </a:ext>
            </a:extLst>
          </p:cNvPr>
          <p:cNvSpPr txBox="1"/>
          <p:nvPr/>
        </p:nvSpPr>
        <p:spPr>
          <a:xfrm>
            <a:off x="12707309" y="2202250"/>
            <a:ext cx="1524000" cy="369332"/>
          </a:xfrm>
          <a:prstGeom prst="rect">
            <a:avLst/>
          </a:prstGeom>
          <a:noFill/>
        </p:spPr>
        <p:txBody>
          <a:bodyPr wrap="square">
            <a:spAutoFit/>
          </a:bodyPr>
          <a:lstStyle/>
          <a:p>
            <a:r>
              <a:rPr lang="en-GB" b="1" dirty="0">
                <a:solidFill>
                  <a:schemeClr val="bg1"/>
                </a:solidFill>
                <a:latin typeface="TT Fors" panose="020B0604020202020204" charset="0"/>
              </a:rPr>
              <a:t>Key insights:</a:t>
            </a:r>
            <a:endParaRPr lang="en-GB" b="1" dirty="0"/>
          </a:p>
        </p:txBody>
      </p:sp>
      <p:grpSp>
        <p:nvGrpSpPr>
          <p:cNvPr id="20" name="Group 44">
            <a:extLst>
              <a:ext uri="{FF2B5EF4-FFF2-40B4-BE49-F238E27FC236}">
                <a16:creationId xmlns:a16="http://schemas.microsoft.com/office/drawing/2014/main" id="{1BA20B3B-52BF-1CE1-4676-136FBCF68E35}"/>
              </a:ext>
            </a:extLst>
          </p:cNvPr>
          <p:cNvGrpSpPr/>
          <p:nvPr/>
        </p:nvGrpSpPr>
        <p:grpSpPr>
          <a:xfrm>
            <a:off x="12572082" y="7022476"/>
            <a:ext cx="1828866" cy="304631"/>
            <a:chOff x="0" y="0"/>
            <a:chExt cx="812800" cy="51383"/>
          </a:xfrm>
        </p:grpSpPr>
        <p:sp>
          <p:nvSpPr>
            <p:cNvPr id="21" name="Freeform 45">
              <a:extLst>
                <a:ext uri="{FF2B5EF4-FFF2-40B4-BE49-F238E27FC236}">
                  <a16:creationId xmlns:a16="http://schemas.microsoft.com/office/drawing/2014/main" id="{18CD67E7-0FAB-6175-6B54-B1DC6DD91E3E}"/>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4"/>
            </a:solidFill>
          </p:spPr>
          <p:txBody>
            <a:bodyPr/>
            <a:lstStyle/>
            <a:p>
              <a:endParaRPr lang="en-GB"/>
            </a:p>
          </p:txBody>
        </p:sp>
        <p:sp>
          <p:nvSpPr>
            <p:cNvPr id="22" name="TextBox 46">
              <a:extLst>
                <a:ext uri="{FF2B5EF4-FFF2-40B4-BE49-F238E27FC236}">
                  <a16:creationId xmlns:a16="http://schemas.microsoft.com/office/drawing/2014/main" id="{0EAE47AD-07D7-B1B1-D73D-17B2DF38EB5F}"/>
                </a:ext>
              </a:extLst>
            </p:cNvPr>
            <p:cNvSpPr txBox="1"/>
            <p:nvPr/>
          </p:nvSpPr>
          <p:spPr>
            <a:xfrm>
              <a:off x="0" y="-38100"/>
              <a:ext cx="812800" cy="89483"/>
            </a:xfrm>
            <a:prstGeom prst="rect">
              <a:avLst/>
            </a:prstGeom>
          </p:spPr>
          <p:txBody>
            <a:bodyPr lIns="50800" tIns="50800" rIns="50800" bIns="50800" rtlCol="0" anchor="ctr"/>
            <a:lstStyle/>
            <a:p>
              <a:pPr algn="ctr">
                <a:lnSpc>
                  <a:spcPts val="2520"/>
                </a:lnSpc>
              </a:pPr>
              <a:endParaRPr/>
            </a:p>
          </p:txBody>
        </p:sp>
      </p:grpSp>
      <p:sp>
        <p:nvSpPr>
          <p:cNvPr id="23" name="TextBox 22">
            <a:extLst>
              <a:ext uri="{FF2B5EF4-FFF2-40B4-BE49-F238E27FC236}">
                <a16:creationId xmlns:a16="http://schemas.microsoft.com/office/drawing/2014/main" id="{8236E438-8F53-CBB4-5890-57E03CD459C0}"/>
              </a:ext>
            </a:extLst>
          </p:cNvPr>
          <p:cNvSpPr txBox="1"/>
          <p:nvPr/>
        </p:nvSpPr>
        <p:spPr>
          <a:xfrm>
            <a:off x="12702393" y="6990125"/>
            <a:ext cx="1524000" cy="369332"/>
          </a:xfrm>
          <a:prstGeom prst="rect">
            <a:avLst/>
          </a:prstGeom>
          <a:noFill/>
        </p:spPr>
        <p:txBody>
          <a:bodyPr wrap="square">
            <a:spAutoFit/>
          </a:bodyPr>
          <a:lstStyle/>
          <a:p>
            <a:r>
              <a:rPr lang="en-GB" dirty="0">
                <a:solidFill>
                  <a:schemeClr val="bg1"/>
                </a:solidFill>
                <a:latin typeface="TT Fors" panose="020B0604020202020204" charset="0"/>
              </a:rPr>
              <a:t>Summary:</a:t>
            </a:r>
            <a:endParaRPr lang="en-GB" dirty="0"/>
          </a:p>
        </p:txBody>
      </p:sp>
      <p:cxnSp>
        <p:nvCxnSpPr>
          <p:cNvPr id="25" name="Straight Connector 24">
            <a:extLst>
              <a:ext uri="{FF2B5EF4-FFF2-40B4-BE49-F238E27FC236}">
                <a16:creationId xmlns:a16="http://schemas.microsoft.com/office/drawing/2014/main" id="{7B08C646-05B7-7389-4E84-FC4F8B851E81}"/>
              </a:ext>
            </a:extLst>
          </p:cNvPr>
          <p:cNvCxnSpPr/>
          <p:nvPr/>
        </p:nvCxnSpPr>
        <p:spPr>
          <a:xfrm>
            <a:off x="11125200" y="4376509"/>
            <a:ext cx="1767597"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grpSp>
        <p:nvGrpSpPr>
          <p:cNvPr id="10" name="Group 9">
            <a:extLst>
              <a:ext uri="{FF2B5EF4-FFF2-40B4-BE49-F238E27FC236}">
                <a16:creationId xmlns:a16="http://schemas.microsoft.com/office/drawing/2014/main" id="{AFA73E08-AEA9-56CA-1555-7E80E7F87537}"/>
              </a:ext>
            </a:extLst>
          </p:cNvPr>
          <p:cNvGrpSpPr/>
          <p:nvPr/>
        </p:nvGrpSpPr>
        <p:grpSpPr>
          <a:xfrm>
            <a:off x="174520" y="2446560"/>
            <a:ext cx="11578514" cy="3713057"/>
            <a:chOff x="304800" y="1670696"/>
            <a:chExt cx="12394594" cy="4189139"/>
          </a:xfrm>
        </p:grpSpPr>
        <p:pic>
          <p:nvPicPr>
            <p:cNvPr id="7" name="Picture 6">
              <a:extLst>
                <a:ext uri="{FF2B5EF4-FFF2-40B4-BE49-F238E27FC236}">
                  <a16:creationId xmlns:a16="http://schemas.microsoft.com/office/drawing/2014/main" id="{068E09EE-CCB6-E46B-8739-0081C88846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670696"/>
              <a:ext cx="12394593" cy="2303152"/>
            </a:xfrm>
            <a:prstGeom prst="rect">
              <a:avLst/>
            </a:prstGeom>
          </p:spPr>
        </p:pic>
        <p:pic>
          <p:nvPicPr>
            <p:cNvPr id="9" name="Picture 8">
              <a:extLst>
                <a:ext uri="{FF2B5EF4-FFF2-40B4-BE49-F238E27FC236}">
                  <a16:creationId xmlns:a16="http://schemas.microsoft.com/office/drawing/2014/main" id="{04AE67F9-1863-A8F2-A5A7-479B26A557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808" y="3848100"/>
              <a:ext cx="12368586" cy="2011735"/>
            </a:xfrm>
            <a:prstGeom prst="rect">
              <a:avLst/>
            </a:prstGeom>
          </p:spPr>
        </p:pic>
      </p:grpSp>
      <p:grpSp>
        <p:nvGrpSpPr>
          <p:cNvPr id="11" name="Group 16">
            <a:extLst>
              <a:ext uri="{FF2B5EF4-FFF2-40B4-BE49-F238E27FC236}">
                <a16:creationId xmlns:a16="http://schemas.microsoft.com/office/drawing/2014/main" id="{95491641-0770-79CF-C1A4-3B65F2408722}"/>
              </a:ext>
            </a:extLst>
          </p:cNvPr>
          <p:cNvGrpSpPr/>
          <p:nvPr/>
        </p:nvGrpSpPr>
        <p:grpSpPr>
          <a:xfrm>
            <a:off x="12445436" y="1205126"/>
            <a:ext cx="5613964" cy="7696200"/>
            <a:chOff x="0" y="-46333"/>
            <a:chExt cx="1001857" cy="598140"/>
          </a:xfrm>
          <a:solidFill>
            <a:schemeClr val="accent6">
              <a:lumMod val="75000"/>
            </a:schemeClr>
          </a:solidFill>
        </p:grpSpPr>
        <p:sp>
          <p:nvSpPr>
            <p:cNvPr id="13" name="Freeform 17">
              <a:extLst>
                <a:ext uri="{FF2B5EF4-FFF2-40B4-BE49-F238E27FC236}">
                  <a16:creationId xmlns:a16="http://schemas.microsoft.com/office/drawing/2014/main" id="{0BCE7CFD-7D25-496B-1579-A0115BDFFB2D}"/>
                </a:ext>
              </a:extLst>
            </p:cNvPr>
            <p:cNvSpPr/>
            <p:nvPr/>
          </p:nvSpPr>
          <p:spPr>
            <a:xfrm>
              <a:off x="0" y="0"/>
              <a:ext cx="1001857" cy="551807"/>
            </a:xfrm>
            <a:custGeom>
              <a:avLst/>
              <a:gdLst/>
              <a:ahLst/>
              <a:cxnLst/>
              <a:rect l="l" t="t" r="r" b="b"/>
              <a:pathLst>
                <a:path w="1001857" h="551807">
                  <a:moveTo>
                    <a:pt x="48846" y="0"/>
                  </a:moveTo>
                  <a:lnTo>
                    <a:pt x="953011" y="0"/>
                  </a:lnTo>
                  <a:cubicBezTo>
                    <a:pt x="979988" y="0"/>
                    <a:pt x="1001857" y="21869"/>
                    <a:pt x="1001857" y="48846"/>
                  </a:cubicBezTo>
                  <a:lnTo>
                    <a:pt x="1001857" y="502961"/>
                  </a:lnTo>
                  <a:cubicBezTo>
                    <a:pt x="1001857" y="515915"/>
                    <a:pt x="996710" y="528340"/>
                    <a:pt x="987550" y="537500"/>
                  </a:cubicBezTo>
                  <a:cubicBezTo>
                    <a:pt x="978390" y="546660"/>
                    <a:pt x="965965" y="551807"/>
                    <a:pt x="953011" y="551807"/>
                  </a:cubicBezTo>
                  <a:lnTo>
                    <a:pt x="48846" y="551807"/>
                  </a:lnTo>
                  <a:cubicBezTo>
                    <a:pt x="21869" y="551807"/>
                    <a:pt x="0" y="529938"/>
                    <a:pt x="0" y="502961"/>
                  </a:cubicBezTo>
                  <a:lnTo>
                    <a:pt x="0" y="48846"/>
                  </a:lnTo>
                  <a:cubicBezTo>
                    <a:pt x="0" y="21869"/>
                    <a:pt x="21869" y="0"/>
                    <a:pt x="48846" y="0"/>
                  </a:cubicBezTo>
                  <a:close/>
                </a:path>
              </a:pathLst>
            </a:custGeom>
            <a:grpFill/>
          </p:spPr>
          <p:txBody>
            <a:bodyPr/>
            <a:lstStyle/>
            <a:p>
              <a:endParaRPr lang="en-GB"/>
            </a:p>
          </p:txBody>
        </p:sp>
        <p:sp>
          <p:nvSpPr>
            <p:cNvPr id="14" name="TextBox 18">
              <a:extLst>
                <a:ext uri="{FF2B5EF4-FFF2-40B4-BE49-F238E27FC236}">
                  <a16:creationId xmlns:a16="http://schemas.microsoft.com/office/drawing/2014/main" id="{B91B4083-B99A-DE24-17D4-E1B7306E0584}"/>
                </a:ext>
              </a:extLst>
            </p:cNvPr>
            <p:cNvSpPr txBox="1"/>
            <p:nvPr/>
          </p:nvSpPr>
          <p:spPr>
            <a:xfrm>
              <a:off x="0" y="-46333"/>
              <a:ext cx="1001857" cy="598140"/>
            </a:xfrm>
            <a:prstGeom prst="rect">
              <a:avLst/>
            </a:prstGeom>
            <a:solidFill>
              <a:schemeClr val="tx2"/>
            </a:solidFill>
          </p:spPr>
          <p:txBody>
            <a:bodyPr lIns="50800" tIns="50800" rIns="50800" bIns="50800" rtlCol="0" anchor="ctr"/>
            <a:lstStyle/>
            <a:p>
              <a:pPr algn="ctr">
                <a:lnSpc>
                  <a:spcPts val="2520"/>
                </a:lnSpc>
              </a:pPr>
              <a:endParaRPr/>
            </a:p>
          </p:txBody>
        </p:sp>
      </p:grpSp>
      <p:sp>
        <p:nvSpPr>
          <p:cNvPr id="15" name="TextBox 14">
            <a:extLst>
              <a:ext uri="{FF2B5EF4-FFF2-40B4-BE49-F238E27FC236}">
                <a16:creationId xmlns:a16="http://schemas.microsoft.com/office/drawing/2014/main" id="{F5E9791A-E2DE-E7BB-D815-6E38EA417B23}"/>
              </a:ext>
            </a:extLst>
          </p:cNvPr>
          <p:cNvSpPr txBox="1"/>
          <p:nvPr/>
        </p:nvSpPr>
        <p:spPr>
          <a:xfrm>
            <a:off x="12525379" y="1205126"/>
            <a:ext cx="5153021" cy="7511672"/>
          </a:xfrm>
          <a:prstGeom prst="rect">
            <a:avLst/>
          </a:prstGeom>
          <a:noFill/>
        </p:spPr>
        <p:txBody>
          <a:bodyPr wrap="square">
            <a:spAutoFit/>
          </a:bodyPr>
          <a:lstStyle/>
          <a:p>
            <a:pPr>
              <a:lnSpc>
                <a:spcPct val="150000"/>
              </a:lnSpc>
            </a:pPr>
            <a:r>
              <a:rPr lang="en-GB" sz="1900" dirty="0">
                <a:solidFill>
                  <a:schemeClr val="bg1"/>
                </a:solidFill>
                <a:latin typeface="TT Fors" panose="020B0604020202020204" charset="0"/>
              </a:rPr>
              <a:t>The chart shows the total earnings by client’s geographical region.</a:t>
            </a:r>
          </a:p>
          <a:p>
            <a:pPr>
              <a:lnSpc>
                <a:spcPct val="150000"/>
              </a:lnSpc>
            </a:pPr>
            <a:endParaRPr lang="en-GB" sz="1900" dirty="0">
              <a:solidFill>
                <a:schemeClr val="bg1"/>
              </a:solidFill>
              <a:latin typeface="TT Fors" panose="020B0604020202020204" charset="0"/>
            </a:endParaRPr>
          </a:p>
          <a:p>
            <a:pPr>
              <a:lnSpc>
                <a:spcPct val="150000"/>
              </a:lnSpc>
            </a:pPr>
            <a:r>
              <a:rPr lang="en-GB" sz="1900" dirty="0">
                <a:solidFill>
                  <a:schemeClr val="bg1"/>
                </a:solidFill>
                <a:latin typeface="TT Fors" panose="020B0604020202020204" charset="0"/>
              </a:rPr>
              <a:t>Australia records the highest earnings (~$1.48M). Europe shows the lowest earnings (~$1.28M). Differences indicate varying labour demand, wage standards, and market maturity.</a:t>
            </a:r>
          </a:p>
          <a:p>
            <a:pPr>
              <a:lnSpc>
                <a:spcPct val="150000"/>
              </a:lnSpc>
            </a:pPr>
            <a:r>
              <a:rPr lang="en-GB" sz="1900" dirty="0">
                <a:solidFill>
                  <a:schemeClr val="bg1"/>
                </a:solidFill>
                <a:latin typeface="TT Fors" panose="020B0604020202020204" charset="0"/>
              </a:rPr>
              <a:t>Regions with higher earnings may offer better‑paying clients or fewer freelancers per job.</a:t>
            </a:r>
          </a:p>
          <a:p>
            <a:pPr>
              <a:lnSpc>
                <a:spcPct val="150000"/>
              </a:lnSpc>
            </a:pPr>
            <a:r>
              <a:rPr lang="en-GB" sz="1900" dirty="0">
                <a:solidFill>
                  <a:schemeClr val="bg1"/>
                </a:solidFill>
                <a:latin typeface="TT Fors" panose="020B0604020202020204" charset="0"/>
              </a:rPr>
              <a:t>Regional targeting can significantly influence income outcomes.</a:t>
            </a:r>
          </a:p>
          <a:p>
            <a:pPr>
              <a:lnSpc>
                <a:spcPct val="150000"/>
              </a:lnSpc>
            </a:pPr>
            <a:endParaRPr lang="en-GB" sz="1900" dirty="0">
              <a:solidFill>
                <a:schemeClr val="bg1"/>
              </a:solidFill>
              <a:latin typeface="TT Fors" panose="020B0604020202020204" charset="0"/>
            </a:endParaRPr>
          </a:p>
          <a:p>
            <a:pPr>
              <a:lnSpc>
                <a:spcPct val="150000"/>
              </a:lnSpc>
            </a:pPr>
            <a:r>
              <a:rPr lang="en-GB" sz="1900" dirty="0">
                <a:solidFill>
                  <a:schemeClr val="bg1"/>
                </a:solidFill>
                <a:latin typeface="TT Fors" panose="020B0604020202020204" charset="0"/>
              </a:rPr>
              <a:t>Freelancers who target clients in high‑earning regions can substantially increase their earning potential.</a:t>
            </a:r>
          </a:p>
        </p:txBody>
      </p:sp>
    </p:spTree>
    <p:extLst>
      <p:ext uri="{BB962C8B-B14F-4D97-AF65-F5344CB8AC3E}">
        <p14:creationId xmlns:p14="http://schemas.microsoft.com/office/powerpoint/2010/main" val="40248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C2857E38-831C-6266-03AA-9C281EEAA41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F5FDDCC-19D0-995F-0A91-6737AEF38E3D}"/>
              </a:ext>
            </a:extLst>
          </p:cNvPr>
          <p:cNvGrpSpPr/>
          <p:nvPr/>
        </p:nvGrpSpPr>
        <p:grpSpPr>
          <a:xfrm rot="5400000">
            <a:off x="9011473" y="972373"/>
            <a:ext cx="210974" cy="17884879"/>
            <a:chOff x="0" y="0"/>
            <a:chExt cx="57626" cy="2693278"/>
          </a:xfrm>
        </p:grpSpPr>
        <p:sp>
          <p:nvSpPr>
            <p:cNvPr id="3" name="Freeform 3">
              <a:extLst>
                <a:ext uri="{FF2B5EF4-FFF2-40B4-BE49-F238E27FC236}">
                  <a16:creationId xmlns:a16="http://schemas.microsoft.com/office/drawing/2014/main" id="{072860A0-048A-E681-64B0-3D2DD372E188}"/>
                </a:ext>
              </a:extLst>
            </p:cNvPr>
            <p:cNvSpPr/>
            <p:nvPr/>
          </p:nvSpPr>
          <p:spPr>
            <a:xfrm>
              <a:off x="0" y="0"/>
              <a:ext cx="57626" cy="2693278"/>
            </a:xfrm>
            <a:custGeom>
              <a:avLst/>
              <a:gdLst/>
              <a:ahLst/>
              <a:cxnLst/>
              <a:rect l="l" t="t" r="r" b="b"/>
              <a:pathLst>
                <a:path w="57626" h="2693278">
                  <a:moveTo>
                    <a:pt x="0" y="0"/>
                  </a:moveTo>
                  <a:lnTo>
                    <a:pt x="57626" y="0"/>
                  </a:lnTo>
                  <a:lnTo>
                    <a:pt x="57626" y="2693278"/>
                  </a:lnTo>
                  <a:lnTo>
                    <a:pt x="0" y="2693278"/>
                  </a:lnTo>
                  <a:close/>
                </a:path>
              </a:pathLst>
            </a:custGeom>
            <a:solidFill>
              <a:srgbClr val="BEC8D9"/>
            </a:solidFill>
          </p:spPr>
          <p:txBody>
            <a:bodyPr/>
            <a:lstStyle/>
            <a:p>
              <a:pPr algn="ctr"/>
              <a:endParaRPr lang="en-GB"/>
            </a:p>
          </p:txBody>
        </p:sp>
        <p:sp>
          <p:nvSpPr>
            <p:cNvPr id="4" name="TextBox 4">
              <a:extLst>
                <a:ext uri="{FF2B5EF4-FFF2-40B4-BE49-F238E27FC236}">
                  <a16:creationId xmlns:a16="http://schemas.microsoft.com/office/drawing/2014/main" id="{FA2F2337-5903-A3C0-3F6F-2D558DF8E295}"/>
                </a:ext>
              </a:extLst>
            </p:cNvPr>
            <p:cNvSpPr txBox="1"/>
            <p:nvPr/>
          </p:nvSpPr>
          <p:spPr>
            <a:xfrm>
              <a:off x="0" y="-38100"/>
              <a:ext cx="57626" cy="2731378"/>
            </a:xfrm>
            <a:prstGeom prst="rect">
              <a:avLst/>
            </a:prstGeom>
          </p:spPr>
          <p:txBody>
            <a:bodyPr lIns="50800" tIns="50800" rIns="50800" bIns="50800" rtlCol="0" anchor="ctr"/>
            <a:lstStyle/>
            <a:p>
              <a:pPr algn="ctr">
                <a:lnSpc>
                  <a:spcPts val="2520"/>
                </a:lnSpc>
              </a:pPr>
              <a:endParaRPr/>
            </a:p>
          </p:txBody>
        </p:sp>
      </p:grpSp>
      <p:sp>
        <p:nvSpPr>
          <p:cNvPr id="12" name="TextBox 12">
            <a:extLst>
              <a:ext uri="{FF2B5EF4-FFF2-40B4-BE49-F238E27FC236}">
                <a16:creationId xmlns:a16="http://schemas.microsoft.com/office/drawing/2014/main" id="{AB387F05-47CA-5CB6-E58D-98CF37BF4D96}"/>
              </a:ext>
            </a:extLst>
          </p:cNvPr>
          <p:cNvSpPr txBox="1"/>
          <p:nvPr/>
        </p:nvSpPr>
        <p:spPr>
          <a:xfrm>
            <a:off x="2362200" y="190500"/>
            <a:ext cx="13944600" cy="619400"/>
          </a:xfrm>
          <a:prstGeom prst="rect">
            <a:avLst/>
          </a:prstGeom>
        </p:spPr>
        <p:txBody>
          <a:bodyPr wrap="square" lIns="0" tIns="0" rIns="0" bIns="0" rtlCol="0" anchor="t">
            <a:spAutoFit/>
          </a:bodyPr>
          <a:lstStyle/>
          <a:p>
            <a:pPr algn="ctr">
              <a:lnSpc>
                <a:spcPts val="5040"/>
              </a:lnSpc>
              <a:spcBef>
                <a:spcPct val="0"/>
              </a:spcBef>
            </a:pPr>
            <a:r>
              <a:rPr lang="en-GB" sz="3600" b="1" dirty="0">
                <a:solidFill>
                  <a:srgbClr val="112F8D"/>
                </a:solidFill>
                <a:latin typeface="TT Fors Bold"/>
                <a:sym typeface="TT Fors Bold"/>
              </a:rPr>
              <a:t>Dashboard</a:t>
            </a:r>
            <a:endParaRPr lang="en-US" sz="3600" b="1" dirty="0">
              <a:solidFill>
                <a:srgbClr val="112F8D"/>
              </a:solidFill>
              <a:latin typeface="TT Fors Bold"/>
              <a:sym typeface="TT Fors Bold"/>
            </a:endParaRPr>
          </a:p>
        </p:txBody>
      </p:sp>
      <p:pic>
        <p:nvPicPr>
          <p:cNvPr id="5" name="Picture 4">
            <a:extLst>
              <a:ext uri="{FF2B5EF4-FFF2-40B4-BE49-F238E27FC236}">
                <a16:creationId xmlns:a16="http://schemas.microsoft.com/office/drawing/2014/main" id="{3EC47FD4-2BE9-C897-BD5A-5EDD30FE08BE}"/>
              </a:ext>
            </a:extLst>
          </p:cNvPr>
          <p:cNvPicPr>
            <a:picLocks noChangeAspect="1"/>
          </p:cNvPicPr>
          <p:nvPr/>
        </p:nvPicPr>
        <p:blipFill>
          <a:blip r:embed="rId2"/>
          <a:srcRect t="984"/>
          <a:stretch>
            <a:fillRect/>
          </a:stretch>
        </p:blipFill>
        <p:spPr>
          <a:xfrm>
            <a:off x="226470" y="1028700"/>
            <a:ext cx="17985330" cy="8561552"/>
          </a:xfrm>
          <a:prstGeom prst="rect">
            <a:avLst/>
          </a:prstGeom>
        </p:spPr>
      </p:pic>
    </p:spTree>
    <p:extLst>
      <p:ext uri="{BB962C8B-B14F-4D97-AF65-F5344CB8AC3E}">
        <p14:creationId xmlns:p14="http://schemas.microsoft.com/office/powerpoint/2010/main" val="1935205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DBBB3729-0624-88DE-7673-6300D9256CC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050F47-20B8-C5F3-F32E-BD3838641485}"/>
              </a:ext>
            </a:extLst>
          </p:cNvPr>
          <p:cNvGrpSpPr/>
          <p:nvPr/>
        </p:nvGrpSpPr>
        <p:grpSpPr>
          <a:xfrm rot="5400000">
            <a:off x="9011473" y="286573"/>
            <a:ext cx="210974" cy="17884879"/>
            <a:chOff x="0" y="0"/>
            <a:chExt cx="57626" cy="2693278"/>
          </a:xfrm>
        </p:grpSpPr>
        <p:sp>
          <p:nvSpPr>
            <p:cNvPr id="3" name="Freeform 3">
              <a:extLst>
                <a:ext uri="{FF2B5EF4-FFF2-40B4-BE49-F238E27FC236}">
                  <a16:creationId xmlns:a16="http://schemas.microsoft.com/office/drawing/2014/main" id="{D70DB692-ED2A-CA76-27E1-3DEB5330E7E7}"/>
                </a:ext>
              </a:extLst>
            </p:cNvPr>
            <p:cNvSpPr/>
            <p:nvPr/>
          </p:nvSpPr>
          <p:spPr>
            <a:xfrm>
              <a:off x="0" y="0"/>
              <a:ext cx="57626" cy="2693278"/>
            </a:xfrm>
            <a:custGeom>
              <a:avLst/>
              <a:gdLst/>
              <a:ahLst/>
              <a:cxnLst/>
              <a:rect l="l" t="t" r="r" b="b"/>
              <a:pathLst>
                <a:path w="57626" h="2693278">
                  <a:moveTo>
                    <a:pt x="0" y="0"/>
                  </a:moveTo>
                  <a:lnTo>
                    <a:pt x="57626" y="0"/>
                  </a:lnTo>
                  <a:lnTo>
                    <a:pt x="57626" y="2693278"/>
                  </a:lnTo>
                  <a:lnTo>
                    <a:pt x="0" y="2693278"/>
                  </a:lnTo>
                  <a:close/>
                </a:path>
              </a:pathLst>
            </a:custGeom>
            <a:solidFill>
              <a:srgbClr val="BEC8D9"/>
            </a:solidFill>
          </p:spPr>
          <p:txBody>
            <a:bodyPr/>
            <a:lstStyle/>
            <a:p>
              <a:pPr algn="ctr"/>
              <a:endParaRPr lang="en-GB"/>
            </a:p>
          </p:txBody>
        </p:sp>
        <p:sp>
          <p:nvSpPr>
            <p:cNvPr id="4" name="TextBox 4">
              <a:extLst>
                <a:ext uri="{FF2B5EF4-FFF2-40B4-BE49-F238E27FC236}">
                  <a16:creationId xmlns:a16="http://schemas.microsoft.com/office/drawing/2014/main" id="{DA2772AE-183B-17A5-7A4C-83134AACFC46}"/>
                </a:ext>
              </a:extLst>
            </p:cNvPr>
            <p:cNvSpPr txBox="1"/>
            <p:nvPr/>
          </p:nvSpPr>
          <p:spPr>
            <a:xfrm>
              <a:off x="0" y="-38100"/>
              <a:ext cx="57626" cy="2731378"/>
            </a:xfrm>
            <a:prstGeom prst="rect">
              <a:avLst/>
            </a:prstGeom>
          </p:spPr>
          <p:txBody>
            <a:bodyPr lIns="50800" tIns="50800" rIns="50800" bIns="50800" rtlCol="0" anchor="ctr"/>
            <a:lstStyle/>
            <a:p>
              <a:pPr algn="ctr">
                <a:lnSpc>
                  <a:spcPts val="2520"/>
                </a:lnSpc>
              </a:pPr>
              <a:endParaRPr/>
            </a:p>
          </p:txBody>
        </p:sp>
      </p:grpSp>
      <p:sp>
        <p:nvSpPr>
          <p:cNvPr id="12" name="TextBox 12">
            <a:extLst>
              <a:ext uri="{FF2B5EF4-FFF2-40B4-BE49-F238E27FC236}">
                <a16:creationId xmlns:a16="http://schemas.microsoft.com/office/drawing/2014/main" id="{49E11AA7-EBBD-4413-3E8E-E9D3D4F4B5D2}"/>
              </a:ext>
            </a:extLst>
          </p:cNvPr>
          <p:cNvSpPr txBox="1"/>
          <p:nvPr/>
        </p:nvSpPr>
        <p:spPr>
          <a:xfrm>
            <a:off x="2362200" y="190500"/>
            <a:ext cx="13944600" cy="619400"/>
          </a:xfrm>
          <a:prstGeom prst="rect">
            <a:avLst/>
          </a:prstGeom>
        </p:spPr>
        <p:txBody>
          <a:bodyPr wrap="square" lIns="0" tIns="0" rIns="0" bIns="0" rtlCol="0" anchor="t">
            <a:spAutoFit/>
          </a:bodyPr>
          <a:lstStyle/>
          <a:p>
            <a:pPr algn="ctr">
              <a:lnSpc>
                <a:spcPts val="5040"/>
              </a:lnSpc>
              <a:spcBef>
                <a:spcPct val="0"/>
              </a:spcBef>
            </a:pPr>
            <a:r>
              <a:rPr lang="en-GB" sz="3600" b="1" dirty="0">
                <a:solidFill>
                  <a:srgbClr val="112F8D"/>
                </a:solidFill>
                <a:latin typeface="TT Fors Bold"/>
                <a:sym typeface="TT Fors Bold"/>
              </a:rPr>
              <a:t>Forecasting</a:t>
            </a:r>
            <a:endParaRPr lang="en-US" sz="3600" b="1" dirty="0">
              <a:solidFill>
                <a:srgbClr val="112F8D"/>
              </a:solidFill>
              <a:latin typeface="TT Fors Bold"/>
              <a:sym typeface="TT Fors Bold"/>
            </a:endParaRPr>
          </a:p>
        </p:txBody>
      </p:sp>
      <p:grpSp>
        <p:nvGrpSpPr>
          <p:cNvPr id="51" name="Group 38">
            <a:extLst>
              <a:ext uri="{FF2B5EF4-FFF2-40B4-BE49-F238E27FC236}">
                <a16:creationId xmlns:a16="http://schemas.microsoft.com/office/drawing/2014/main" id="{FA1A129A-EB03-0B6E-73EF-E90E820DE74A}"/>
              </a:ext>
            </a:extLst>
          </p:cNvPr>
          <p:cNvGrpSpPr/>
          <p:nvPr/>
        </p:nvGrpSpPr>
        <p:grpSpPr>
          <a:xfrm>
            <a:off x="0" y="9450090"/>
            <a:ext cx="18137884" cy="798810"/>
            <a:chOff x="3605270" y="279338"/>
            <a:chExt cx="1046234" cy="286315"/>
          </a:xfrm>
        </p:grpSpPr>
        <p:sp>
          <p:nvSpPr>
            <p:cNvPr id="52" name="Freeform 39">
              <a:extLst>
                <a:ext uri="{FF2B5EF4-FFF2-40B4-BE49-F238E27FC236}">
                  <a16:creationId xmlns:a16="http://schemas.microsoft.com/office/drawing/2014/main" id="{59F02F0A-0F4A-34C6-2B32-8CD5141A922B}"/>
                </a:ext>
              </a:extLst>
            </p:cNvPr>
            <p:cNvSpPr/>
            <p:nvPr/>
          </p:nvSpPr>
          <p:spPr>
            <a:xfrm>
              <a:off x="3609801" y="290126"/>
              <a:ext cx="1041703" cy="248215"/>
            </a:xfrm>
            <a:custGeom>
              <a:avLst/>
              <a:gdLst/>
              <a:ahLst/>
              <a:cxnLst/>
              <a:rect l="l" t="t" r="r" b="b"/>
              <a:pathLst>
                <a:path w="1041703" h="248215">
                  <a:moveTo>
                    <a:pt x="35233" y="0"/>
                  </a:moveTo>
                  <a:lnTo>
                    <a:pt x="1006470" y="0"/>
                  </a:lnTo>
                  <a:cubicBezTo>
                    <a:pt x="1015814" y="0"/>
                    <a:pt x="1024776" y="3712"/>
                    <a:pt x="1031384" y="10320"/>
                  </a:cubicBezTo>
                  <a:cubicBezTo>
                    <a:pt x="1037991" y="16927"/>
                    <a:pt x="1041703" y="25889"/>
                    <a:pt x="1041703" y="35233"/>
                  </a:cubicBezTo>
                  <a:lnTo>
                    <a:pt x="1041703" y="212982"/>
                  </a:lnTo>
                  <a:cubicBezTo>
                    <a:pt x="1041703" y="222326"/>
                    <a:pt x="1037991" y="231288"/>
                    <a:pt x="1031384" y="237895"/>
                  </a:cubicBezTo>
                  <a:cubicBezTo>
                    <a:pt x="1024776" y="244503"/>
                    <a:pt x="1015814" y="248215"/>
                    <a:pt x="1006470" y="248215"/>
                  </a:cubicBezTo>
                  <a:lnTo>
                    <a:pt x="35233" y="248215"/>
                  </a:lnTo>
                  <a:cubicBezTo>
                    <a:pt x="25889" y="248215"/>
                    <a:pt x="16927" y="244503"/>
                    <a:pt x="10320" y="237895"/>
                  </a:cubicBezTo>
                  <a:cubicBezTo>
                    <a:pt x="3712" y="231288"/>
                    <a:pt x="0" y="222326"/>
                    <a:pt x="0" y="212982"/>
                  </a:cubicBezTo>
                  <a:lnTo>
                    <a:pt x="0" y="35233"/>
                  </a:lnTo>
                  <a:cubicBezTo>
                    <a:pt x="0" y="25889"/>
                    <a:pt x="3712" y="16927"/>
                    <a:pt x="10320" y="10320"/>
                  </a:cubicBezTo>
                  <a:cubicBezTo>
                    <a:pt x="16927" y="3712"/>
                    <a:pt x="25889" y="0"/>
                    <a:pt x="35233" y="0"/>
                  </a:cubicBezTo>
                  <a:close/>
                </a:path>
              </a:pathLst>
            </a:custGeom>
            <a:solidFill>
              <a:srgbClr val="122359"/>
            </a:solidFill>
          </p:spPr>
          <p:txBody>
            <a:bodyPr/>
            <a:lstStyle/>
            <a:p>
              <a:pPr algn="ctr"/>
              <a:endParaRPr lang="en-GB" dirty="0"/>
            </a:p>
          </p:txBody>
        </p:sp>
        <p:sp>
          <p:nvSpPr>
            <p:cNvPr id="53" name="TextBox 40">
              <a:extLst>
                <a:ext uri="{FF2B5EF4-FFF2-40B4-BE49-F238E27FC236}">
                  <a16:creationId xmlns:a16="http://schemas.microsoft.com/office/drawing/2014/main" id="{D347CA8E-3636-5856-EC8D-6745F9064E89}"/>
                </a:ext>
              </a:extLst>
            </p:cNvPr>
            <p:cNvSpPr txBox="1"/>
            <p:nvPr/>
          </p:nvSpPr>
          <p:spPr>
            <a:xfrm>
              <a:off x="3605270" y="279338"/>
              <a:ext cx="1041703" cy="286315"/>
            </a:xfrm>
            <a:prstGeom prst="rect">
              <a:avLst/>
            </a:prstGeom>
          </p:spPr>
          <p:txBody>
            <a:bodyPr lIns="50800" tIns="50800" rIns="50800" bIns="50800" rtlCol="0" anchor="ctr"/>
            <a:lstStyle/>
            <a:p>
              <a:pPr algn="ctr">
                <a:lnSpc>
                  <a:spcPts val="2240"/>
                </a:lnSpc>
              </a:pPr>
              <a:r>
                <a:rPr lang="en-US" sz="1600" dirty="0">
                  <a:solidFill>
                    <a:srgbClr val="FFFFFF"/>
                  </a:solidFill>
                  <a:latin typeface="TT Fors"/>
                  <a:ea typeface="TT Fors"/>
                  <a:cs typeface="TT Fors"/>
                  <a:sym typeface="TT Fors"/>
                </a:rPr>
                <a:t>The Forecasting Table using Regression Statistics.</a:t>
              </a:r>
            </a:p>
          </p:txBody>
        </p:sp>
      </p:grpSp>
      <p:graphicFrame>
        <p:nvGraphicFramePr>
          <p:cNvPr id="6" name="Content Placeholder 6">
            <a:extLst>
              <a:ext uri="{FF2B5EF4-FFF2-40B4-BE49-F238E27FC236}">
                <a16:creationId xmlns:a16="http://schemas.microsoft.com/office/drawing/2014/main" id="{A61C5A74-9474-EE50-CBD4-435A87D0530B}"/>
              </a:ext>
            </a:extLst>
          </p:cNvPr>
          <p:cNvGraphicFramePr>
            <a:graphicFrameLocks/>
          </p:cNvGraphicFramePr>
          <p:nvPr>
            <p:extLst>
              <p:ext uri="{D42A27DB-BD31-4B8C-83A1-F6EECF244321}">
                <p14:modId xmlns:p14="http://schemas.microsoft.com/office/powerpoint/2010/main" val="2020613480"/>
              </p:ext>
            </p:extLst>
          </p:nvPr>
        </p:nvGraphicFramePr>
        <p:xfrm>
          <a:off x="533400" y="1058781"/>
          <a:ext cx="17221199" cy="8439755"/>
        </p:xfrm>
        <a:graphic>
          <a:graphicData uri="http://schemas.openxmlformats.org/drawingml/2006/table">
            <a:tbl>
              <a:tblPr/>
              <a:tblGrid>
                <a:gridCol w="2750806">
                  <a:extLst>
                    <a:ext uri="{9D8B030D-6E8A-4147-A177-3AD203B41FA5}">
                      <a16:colId xmlns:a16="http://schemas.microsoft.com/office/drawing/2014/main" val="1685094278"/>
                    </a:ext>
                  </a:extLst>
                </a:gridCol>
                <a:gridCol w="2292336">
                  <a:extLst>
                    <a:ext uri="{9D8B030D-6E8A-4147-A177-3AD203B41FA5}">
                      <a16:colId xmlns:a16="http://schemas.microsoft.com/office/drawing/2014/main" val="1978976755"/>
                    </a:ext>
                  </a:extLst>
                </a:gridCol>
                <a:gridCol w="2263686">
                  <a:extLst>
                    <a:ext uri="{9D8B030D-6E8A-4147-A177-3AD203B41FA5}">
                      <a16:colId xmlns:a16="http://schemas.microsoft.com/office/drawing/2014/main" val="968094710"/>
                    </a:ext>
                  </a:extLst>
                </a:gridCol>
                <a:gridCol w="1833874">
                  <a:extLst>
                    <a:ext uri="{9D8B030D-6E8A-4147-A177-3AD203B41FA5}">
                      <a16:colId xmlns:a16="http://schemas.microsoft.com/office/drawing/2014/main" val="2511823895"/>
                    </a:ext>
                  </a:extLst>
                </a:gridCol>
                <a:gridCol w="2206377">
                  <a:extLst>
                    <a:ext uri="{9D8B030D-6E8A-4147-A177-3AD203B41FA5}">
                      <a16:colId xmlns:a16="http://schemas.microsoft.com/office/drawing/2014/main" val="512303797"/>
                    </a:ext>
                  </a:extLst>
                </a:gridCol>
                <a:gridCol w="1747908">
                  <a:extLst>
                    <a:ext uri="{9D8B030D-6E8A-4147-A177-3AD203B41FA5}">
                      <a16:colId xmlns:a16="http://schemas.microsoft.com/office/drawing/2014/main" val="995909301"/>
                    </a:ext>
                  </a:extLst>
                </a:gridCol>
                <a:gridCol w="1375404">
                  <a:extLst>
                    <a:ext uri="{9D8B030D-6E8A-4147-A177-3AD203B41FA5}">
                      <a16:colId xmlns:a16="http://schemas.microsoft.com/office/drawing/2014/main" val="1961799613"/>
                    </a:ext>
                  </a:extLst>
                </a:gridCol>
                <a:gridCol w="1375404">
                  <a:extLst>
                    <a:ext uri="{9D8B030D-6E8A-4147-A177-3AD203B41FA5}">
                      <a16:colId xmlns:a16="http://schemas.microsoft.com/office/drawing/2014/main" val="597492424"/>
                    </a:ext>
                  </a:extLst>
                </a:gridCol>
                <a:gridCol w="1375404">
                  <a:extLst>
                    <a:ext uri="{9D8B030D-6E8A-4147-A177-3AD203B41FA5}">
                      <a16:colId xmlns:a16="http://schemas.microsoft.com/office/drawing/2014/main" val="1554217952"/>
                    </a:ext>
                  </a:extLst>
                </a:gridCol>
              </a:tblGrid>
              <a:tr h="289962">
                <a:tc>
                  <a:txBody>
                    <a:bodyPr/>
                    <a:lstStyle/>
                    <a:p>
                      <a:pPr algn="l" fontAlgn="b"/>
                      <a:r>
                        <a:rPr lang="en-US" sz="2000" b="1" i="0" u="none" strike="noStrike">
                          <a:solidFill>
                            <a:srgbClr val="000000"/>
                          </a:solidFill>
                          <a:effectLst/>
                          <a:latin typeface="Calibri" panose="020F0502020204030204" pitchFamily="34" charset="0"/>
                        </a:rPr>
                        <a:t>SUMMARY OUTPUT</a:t>
                      </a: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2834797754"/>
                  </a:ext>
                </a:extLst>
              </a:tr>
              <a:tr h="289962">
                <a:tc>
                  <a:txBody>
                    <a:bodyPr/>
                    <a:lstStyle/>
                    <a:p>
                      <a:pPr algn="l" fontAlgn="b"/>
                      <a:endParaRPr lang="en-US" sz="2000" b="1" i="0" u="none" strike="noStrike" dirty="0">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3829435583"/>
                  </a:ext>
                </a:extLst>
              </a:tr>
              <a:tr h="289962">
                <a:tc gridSpan="2">
                  <a:txBody>
                    <a:bodyPr/>
                    <a:lstStyle/>
                    <a:p>
                      <a:pPr algn="ctr" fontAlgn="b"/>
                      <a:r>
                        <a:rPr lang="en-US" sz="2000" b="1" i="1" u="none" strike="noStrike">
                          <a:solidFill>
                            <a:srgbClr val="000000"/>
                          </a:solidFill>
                          <a:effectLst/>
                          <a:latin typeface="Calibri" panose="020F0502020204030204" pitchFamily="34" charset="0"/>
                        </a:rPr>
                        <a:t>Regression Statistics</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3298953875"/>
                  </a:ext>
                </a:extLst>
              </a:tr>
              <a:tr h="289962">
                <a:tc>
                  <a:txBody>
                    <a:bodyPr/>
                    <a:lstStyle/>
                    <a:p>
                      <a:pPr algn="l" fontAlgn="b"/>
                      <a:r>
                        <a:rPr lang="en-US" sz="2000" b="1" i="0" u="none" strike="noStrike">
                          <a:solidFill>
                            <a:srgbClr val="000000"/>
                          </a:solidFill>
                          <a:effectLst/>
                          <a:latin typeface="Calibri" panose="020F0502020204030204" pitchFamily="34" charset="0"/>
                        </a:rPr>
                        <a:t>Multiple R</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0.073789246</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dirty="0">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4214444474"/>
                  </a:ext>
                </a:extLst>
              </a:tr>
              <a:tr h="289962">
                <a:tc>
                  <a:txBody>
                    <a:bodyPr/>
                    <a:lstStyle/>
                    <a:p>
                      <a:pPr algn="l" fontAlgn="b"/>
                      <a:r>
                        <a:rPr lang="en-US" sz="2000" b="1" i="0" u="none" strike="noStrike">
                          <a:solidFill>
                            <a:srgbClr val="000000"/>
                          </a:solidFill>
                          <a:effectLst/>
                          <a:latin typeface="Calibri" panose="020F0502020204030204" pitchFamily="34" charset="0"/>
                        </a:rPr>
                        <a:t>R Square</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0.005444853</a:t>
                      </a: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507979402"/>
                  </a:ext>
                </a:extLst>
              </a:tr>
              <a:tr h="289962">
                <a:tc>
                  <a:txBody>
                    <a:bodyPr/>
                    <a:lstStyle/>
                    <a:p>
                      <a:pPr algn="l" fontAlgn="b"/>
                      <a:r>
                        <a:rPr lang="en-US" sz="2000" b="1" i="0" u="none" strike="noStrike">
                          <a:solidFill>
                            <a:srgbClr val="000000"/>
                          </a:solidFill>
                          <a:effectLst/>
                          <a:latin typeface="Calibri" panose="020F0502020204030204" pitchFamily="34" charset="0"/>
                        </a:rPr>
                        <a:t>Adjusted R Square</a:t>
                      </a:r>
                    </a:p>
                  </a:txBody>
                  <a:tcPr marL="5189" marR="5189" marT="5189" marB="0" anchor="b">
                    <a:lnL>
                      <a:noFill/>
                    </a:lnL>
                    <a:lnR>
                      <a:noFill/>
                    </a:lnR>
                    <a:lnT>
                      <a:noFill/>
                    </a:lnT>
                    <a:lnB>
                      <a:noFill/>
                    </a:lnB>
                  </a:tcPr>
                </a:tc>
                <a:tc>
                  <a:txBody>
                    <a:bodyPr/>
                    <a:lstStyle/>
                    <a:p>
                      <a:pPr algn="r" fontAlgn="b"/>
                      <a:r>
                        <a:rPr lang="en-US" sz="2000" b="1" i="0" u="none" strike="noStrike" dirty="0">
                          <a:solidFill>
                            <a:srgbClr val="000000"/>
                          </a:solidFill>
                          <a:effectLst/>
                          <a:latin typeface="Calibri" panose="020F0502020204030204" pitchFamily="34" charset="0"/>
                        </a:rPr>
                        <a:t>0.001859948</a:t>
                      </a: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2382564415"/>
                  </a:ext>
                </a:extLst>
              </a:tr>
              <a:tr h="289962">
                <a:tc>
                  <a:txBody>
                    <a:bodyPr/>
                    <a:lstStyle/>
                    <a:p>
                      <a:pPr algn="l" fontAlgn="b"/>
                      <a:r>
                        <a:rPr lang="en-US" sz="2000" b="1" i="0" u="none" strike="noStrike">
                          <a:solidFill>
                            <a:srgbClr val="000000"/>
                          </a:solidFill>
                          <a:effectLst/>
                          <a:latin typeface="Calibri" panose="020F0502020204030204" pitchFamily="34" charset="0"/>
                        </a:rPr>
                        <a:t>Standard Error</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2923.557287</a:t>
                      </a: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4042804197"/>
                  </a:ext>
                </a:extLst>
              </a:tr>
              <a:tr h="289962">
                <a:tc>
                  <a:txBody>
                    <a:bodyPr/>
                    <a:lstStyle/>
                    <a:p>
                      <a:pPr algn="l" fontAlgn="b"/>
                      <a:r>
                        <a:rPr lang="en-US" sz="2000" b="1" i="0" u="none" strike="noStrike">
                          <a:solidFill>
                            <a:srgbClr val="000000"/>
                          </a:solidFill>
                          <a:effectLst/>
                          <a:latin typeface="Calibri" panose="020F0502020204030204" pitchFamily="34" charset="0"/>
                        </a:rPr>
                        <a:t>Observations</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1950</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1048350211"/>
                  </a:ext>
                </a:extLst>
              </a:tr>
              <a:tr h="289962">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1725516654"/>
                  </a:ext>
                </a:extLst>
              </a:tr>
              <a:tr h="289962">
                <a:tc>
                  <a:txBody>
                    <a:bodyPr/>
                    <a:lstStyle/>
                    <a:p>
                      <a:pPr algn="l" fontAlgn="b"/>
                      <a:r>
                        <a:rPr lang="en-US" sz="2000" b="1" i="0" u="none" strike="noStrike">
                          <a:solidFill>
                            <a:srgbClr val="000000"/>
                          </a:solidFill>
                          <a:effectLst/>
                          <a:latin typeface="Calibri" panose="020F0502020204030204" pitchFamily="34" charset="0"/>
                        </a:rPr>
                        <a:t>ANOVA</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1351571851"/>
                  </a:ext>
                </a:extLst>
              </a:tr>
              <a:tr h="289962">
                <a:tc>
                  <a:txBody>
                    <a:bodyPr/>
                    <a:lstStyle/>
                    <a:p>
                      <a:pPr algn="ctr" fontAlgn="b"/>
                      <a:r>
                        <a:rPr lang="en-US" sz="2000" b="1" i="1" u="none" strike="noStrike">
                          <a:solidFill>
                            <a:srgbClr val="000000"/>
                          </a:solidFill>
                          <a:effectLst/>
                          <a:latin typeface="Calibri" panose="020F0502020204030204" pitchFamily="34" charset="0"/>
                        </a:rPr>
                        <a:t> </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df</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SS</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MS</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F</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Significance F</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1613752329"/>
                  </a:ext>
                </a:extLst>
              </a:tr>
              <a:tr h="289962">
                <a:tc>
                  <a:txBody>
                    <a:bodyPr/>
                    <a:lstStyle/>
                    <a:p>
                      <a:pPr algn="l" fontAlgn="b"/>
                      <a:r>
                        <a:rPr lang="en-US" sz="2000" b="1" i="0" u="none" strike="noStrike">
                          <a:solidFill>
                            <a:srgbClr val="000000"/>
                          </a:solidFill>
                          <a:effectLst/>
                          <a:latin typeface="Calibri" panose="020F0502020204030204" pitchFamily="34" charset="0"/>
                        </a:rPr>
                        <a:t>Regression</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7</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90871923.14</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12981703.31</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1.518827537</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0.15624711</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3381730671"/>
                  </a:ext>
                </a:extLst>
              </a:tr>
              <a:tr h="289962">
                <a:tc>
                  <a:txBody>
                    <a:bodyPr/>
                    <a:lstStyle/>
                    <a:p>
                      <a:pPr algn="l" fontAlgn="b"/>
                      <a:r>
                        <a:rPr lang="en-US" sz="2000" b="1" i="0" u="none" strike="noStrike">
                          <a:solidFill>
                            <a:srgbClr val="000000"/>
                          </a:solidFill>
                          <a:effectLst/>
                          <a:latin typeface="Calibri" panose="020F0502020204030204" pitchFamily="34" charset="0"/>
                        </a:rPr>
                        <a:t>Residual</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1942</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16598637568</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8547187.213</a:t>
                      </a: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3697013740"/>
                  </a:ext>
                </a:extLst>
              </a:tr>
              <a:tr h="289962">
                <a:tc>
                  <a:txBody>
                    <a:bodyPr/>
                    <a:lstStyle/>
                    <a:p>
                      <a:pPr algn="l" fontAlgn="b"/>
                      <a:r>
                        <a:rPr lang="en-US" sz="2000" b="1" i="0" u="none" strike="noStrike">
                          <a:solidFill>
                            <a:srgbClr val="000000"/>
                          </a:solidFill>
                          <a:effectLst/>
                          <a:latin typeface="Calibri" panose="020F0502020204030204" pitchFamily="34" charset="0"/>
                        </a:rPr>
                        <a:t>Total</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1949</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16689509491</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2000" b="1" i="0" u="none" strike="noStrike">
                          <a:solidFill>
                            <a:srgbClr val="000000"/>
                          </a:solidFill>
                          <a:effectLst/>
                          <a:latin typeface="Calibri" panose="020F0502020204030204" pitchFamily="34" charset="0"/>
                        </a:rPr>
                        <a:t> </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2000" b="1" i="0" u="none" strike="noStrike">
                          <a:solidFill>
                            <a:srgbClr val="000000"/>
                          </a:solidFill>
                          <a:effectLst/>
                          <a:latin typeface="Calibri" panose="020F0502020204030204" pitchFamily="34" charset="0"/>
                        </a:rPr>
                        <a:t> </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2000" b="1" i="0" u="none" strike="noStrike">
                          <a:solidFill>
                            <a:srgbClr val="000000"/>
                          </a:solidFill>
                          <a:effectLst/>
                          <a:latin typeface="Calibri" panose="020F0502020204030204" pitchFamily="34" charset="0"/>
                        </a:rPr>
                        <a:t> </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1729954015"/>
                  </a:ext>
                </a:extLst>
              </a:tr>
              <a:tr h="289962">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1538997"/>
                  </a:ext>
                </a:extLst>
              </a:tr>
              <a:tr h="380041">
                <a:tc>
                  <a:txBody>
                    <a:bodyPr/>
                    <a:lstStyle/>
                    <a:p>
                      <a:pPr algn="ctr" fontAlgn="b"/>
                      <a:r>
                        <a:rPr lang="en-US" sz="2000" b="1" i="1" u="none" strike="noStrike">
                          <a:solidFill>
                            <a:srgbClr val="000000"/>
                          </a:solidFill>
                          <a:effectLst/>
                          <a:latin typeface="Calibri" panose="020F0502020204030204" pitchFamily="34" charset="0"/>
                        </a:rPr>
                        <a:t> </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Coefficients</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Standard Error</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t Stat</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P-value</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Lower 95%</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Upper 95%</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a:solidFill>
                            <a:srgbClr val="000000"/>
                          </a:solidFill>
                          <a:effectLst/>
                          <a:latin typeface="Calibri" panose="020F0502020204030204" pitchFamily="34" charset="0"/>
                        </a:rPr>
                        <a:t>Lower 95.0%</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2000" b="1" i="1" u="none" strike="noStrike" dirty="0">
                          <a:solidFill>
                            <a:srgbClr val="000000"/>
                          </a:solidFill>
                          <a:effectLst/>
                          <a:latin typeface="Calibri" panose="020F0502020204030204" pitchFamily="34" charset="0"/>
                        </a:rPr>
                        <a:t>Upper 95.0%</a:t>
                      </a:r>
                    </a:p>
                  </a:txBody>
                  <a:tcPr marL="5189" marR="5189" marT="5189"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7724262"/>
                  </a:ext>
                </a:extLst>
              </a:tr>
              <a:tr h="289962">
                <a:tc>
                  <a:txBody>
                    <a:bodyPr/>
                    <a:lstStyle/>
                    <a:p>
                      <a:pPr algn="l" fontAlgn="b"/>
                      <a:r>
                        <a:rPr lang="en-US" sz="2000" b="1" i="0" u="none" strike="noStrike">
                          <a:solidFill>
                            <a:srgbClr val="000000"/>
                          </a:solidFill>
                          <a:effectLst/>
                          <a:latin typeface="Calibri" panose="020F0502020204030204" pitchFamily="34" charset="0"/>
                        </a:rPr>
                        <a:t>Intercept</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4181.282277</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638.0528205</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6.553191432</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7.19413E-11</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2929.94183</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5432.623</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2929.942</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2000" b="1" i="0" u="none" strike="noStrike">
                          <a:solidFill>
                            <a:srgbClr val="000000"/>
                          </a:solidFill>
                          <a:effectLst/>
                          <a:latin typeface="Calibri" panose="020F0502020204030204" pitchFamily="34" charset="0"/>
                        </a:rPr>
                        <a:t>5432.623</a:t>
                      </a:r>
                    </a:p>
                  </a:txBody>
                  <a:tcPr marL="5189" marR="5189" marT="5189"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319450215"/>
                  </a:ext>
                </a:extLst>
              </a:tr>
              <a:tr h="289962">
                <a:tc>
                  <a:txBody>
                    <a:bodyPr/>
                    <a:lstStyle/>
                    <a:p>
                      <a:pPr algn="l" fontAlgn="b"/>
                      <a:r>
                        <a:rPr lang="en-US" sz="2000" b="1" i="0" u="none" strike="noStrike">
                          <a:solidFill>
                            <a:srgbClr val="000000"/>
                          </a:solidFill>
                          <a:effectLst/>
                          <a:latin typeface="Calibri" panose="020F0502020204030204" pitchFamily="34" charset="0"/>
                        </a:rPr>
                        <a:t>Hourly_Rate</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1.643140251</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2.465321533</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0.666501399</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0.50516984</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-3.1918145</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6.478095</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-3.19181</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6.478095</a:t>
                      </a:r>
                    </a:p>
                  </a:txBody>
                  <a:tcPr marL="5189" marR="5189" marT="5189" marB="0" anchor="b">
                    <a:lnL>
                      <a:noFill/>
                    </a:lnL>
                    <a:lnR>
                      <a:noFill/>
                    </a:lnR>
                    <a:lnT>
                      <a:noFill/>
                    </a:lnT>
                    <a:lnB>
                      <a:noFill/>
                    </a:lnB>
                  </a:tcPr>
                </a:tc>
                <a:extLst>
                  <a:ext uri="{0D108BD9-81ED-4DB2-BD59-A6C34878D82A}">
                    <a16:rowId xmlns:a16="http://schemas.microsoft.com/office/drawing/2014/main" val="3277438736"/>
                  </a:ext>
                </a:extLst>
              </a:tr>
              <a:tr h="289962">
                <a:tc>
                  <a:txBody>
                    <a:bodyPr/>
                    <a:lstStyle/>
                    <a:p>
                      <a:pPr algn="l" fontAlgn="b"/>
                      <a:r>
                        <a:rPr lang="en-US" sz="2000" b="1" i="0" u="none" strike="noStrike">
                          <a:solidFill>
                            <a:srgbClr val="000000"/>
                          </a:solidFill>
                          <a:effectLst/>
                          <a:latin typeface="Calibri" panose="020F0502020204030204" pitchFamily="34" charset="0"/>
                        </a:rPr>
                        <a:t>Job_Success_Rate</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6.025211278</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4.536428349</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1.32818394</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0.184273418</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-2.8715698</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14.92199</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-2.87157</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14.92199</a:t>
                      </a:r>
                    </a:p>
                  </a:txBody>
                  <a:tcPr marL="5189" marR="5189" marT="5189" marB="0" anchor="b">
                    <a:lnL>
                      <a:noFill/>
                    </a:lnL>
                    <a:lnR>
                      <a:noFill/>
                    </a:lnR>
                    <a:lnT>
                      <a:noFill/>
                    </a:lnT>
                    <a:lnB>
                      <a:noFill/>
                    </a:lnB>
                  </a:tcPr>
                </a:tc>
                <a:extLst>
                  <a:ext uri="{0D108BD9-81ED-4DB2-BD59-A6C34878D82A}">
                    <a16:rowId xmlns:a16="http://schemas.microsoft.com/office/drawing/2014/main" val="2574153130"/>
                  </a:ext>
                </a:extLst>
              </a:tr>
              <a:tr h="289962">
                <a:tc>
                  <a:txBody>
                    <a:bodyPr/>
                    <a:lstStyle/>
                    <a:p>
                      <a:pPr algn="l" fontAlgn="b"/>
                      <a:r>
                        <a:rPr lang="en-US" sz="2000" b="1" i="0" u="none" strike="noStrike">
                          <a:solidFill>
                            <a:srgbClr val="000000"/>
                          </a:solidFill>
                          <a:effectLst/>
                          <a:latin typeface="Calibri" panose="020F0502020204030204" pitchFamily="34" charset="0"/>
                        </a:rPr>
                        <a:t>Client_Rating</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96.474699</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115.1658425</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0.837702368</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0.402300965</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-129.38697</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322.3364</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-129.387</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322.3364</a:t>
                      </a:r>
                    </a:p>
                  </a:txBody>
                  <a:tcPr marL="5189" marR="5189" marT="5189" marB="0" anchor="b">
                    <a:lnL>
                      <a:noFill/>
                    </a:lnL>
                    <a:lnR>
                      <a:noFill/>
                    </a:lnR>
                    <a:lnT>
                      <a:noFill/>
                    </a:lnT>
                    <a:lnB>
                      <a:noFill/>
                    </a:lnB>
                  </a:tcPr>
                </a:tc>
                <a:extLst>
                  <a:ext uri="{0D108BD9-81ED-4DB2-BD59-A6C34878D82A}">
                    <a16:rowId xmlns:a16="http://schemas.microsoft.com/office/drawing/2014/main" val="695166091"/>
                  </a:ext>
                </a:extLst>
              </a:tr>
              <a:tr h="289962">
                <a:tc>
                  <a:txBody>
                    <a:bodyPr/>
                    <a:lstStyle/>
                    <a:p>
                      <a:pPr algn="l" fontAlgn="b"/>
                      <a:r>
                        <a:rPr lang="en-US" sz="2000" b="1" i="0" u="none" strike="noStrike">
                          <a:solidFill>
                            <a:srgbClr val="000000"/>
                          </a:solidFill>
                          <a:effectLst/>
                          <a:latin typeface="Calibri" panose="020F0502020204030204" pitchFamily="34" charset="0"/>
                        </a:rPr>
                        <a:t>Job_Duration_Days</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1.051520774</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2.549743418</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0.412402584</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0.68008989</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-3.9490011</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6.052043</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-3.949</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6.052043</a:t>
                      </a:r>
                    </a:p>
                  </a:txBody>
                  <a:tcPr marL="5189" marR="5189" marT="5189" marB="0" anchor="b">
                    <a:lnL>
                      <a:noFill/>
                    </a:lnL>
                    <a:lnR>
                      <a:noFill/>
                    </a:lnR>
                    <a:lnT>
                      <a:noFill/>
                    </a:lnT>
                    <a:lnB>
                      <a:noFill/>
                    </a:lnB>
                  </a:tcPr>
                </a:tc>
                <a:extLst>
                  <a:ext uri="{0D108BD9-81ED-4DB2-BD59-A6C34878D82A}">
                    <a16:rowId xmlns:a16="http://schemas.microsoft.com/office/drawing/2014/main" val="2373443382"/>
                  </a:ext>
                </a:extLst>
              </a:tr>
              <a:tr h="289962">
                <a:tc>
                  <a:txBody>
                    <a:bodyPr/>
                    <a:lstStyle/>
                    <a:p>
                      <a:pPr algn="l" fontAlgn="b"/>
                      <a:r>
                        <a:rPr lang="en-US" sz="2000" b="1" i="0" u="none" strike="noStrike">
                          <a:solidFill>
                            <a:srgbClr val="000000"/>
                          </a:solidFill>
                          <a:effectLst/>
                          <a:latin typeface="Calibri" panose="020F0502020204030204" pitchFamily="34" charset="0"/>
                        </a:rPr>
                        <a:t>Job_Completed</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-0.63701893</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0.775712522</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-0.82120491</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0.411630359</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-2.1583357</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0.884298</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-2.15834</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0.884298</a:t>
                      </a:r>
                    </a:p>
                  </a:txBody>
                  <a:tcPr marL="5189" marR="5189" marT="5189" marB="0" anchor="b">
                    <a:lnL>
                      <a:noFill/>
                    </a:lnL>
                    <a:lnR>
                      <a:noFill/>
                    </a:lnR>
                    <a:lnT>
                      <a:noFill/>
                    </a:lnT>
                    <a:lnB>
                      <a:noFill/>
                    </a:lnB>
                  </a:tcPr>
                </a:tc>
                <a:extLst>
                  <a:ext uri="{0D108BD9-81ED-4DB2-BD59-A6C34878D82A}">
                    <a16:rowId xmlns:a16="http://schemas.microsoft.com/office/drawing/2014/main" val="2341101247"/>
                  </a:ext>
                </a:extLst>
              </a:tr>
              <a:tr h="289962">
                <a:tc>
                  <a:txBody>
                    <a:bodyPr/>
                    <a:lstStyle/>
                    <a:p>
                      <a:pPr algn="l" fontAlgn="b"/>
                      <a:r>
                        <a:rPr lang="en-US" sz="2000" b="1" i="0" u="none" strike="noStrike">
                          <a:solidFill>
                            <a:srgbClr val="000000"/>
                          </a:solidFill>
                          <a:effectLst/>
                          <a:latin typeface="Calibri" panose="020F0502020204030204" pitchFamily="34" charset="0"/>
                        </a:rPr>
                        <a:t>Rehire_Rate</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-5.881583956</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3.288759999</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-1.78838953</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0.073869023</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-12.331455</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0.568287</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-12.3315</a:t>
                      </a:r>
                    </a:p>
                  </a:txBody>
                  <a:tcPr marL="5189" marR="5189" marT="5189" marB="0" anchor="b">
                    <a:lnL>
                      <a:noFill/>
                    </a:lnL>
                    <a:lnR>
                      <a:noFill/>
                    </a:lnR>
                    <a:lnT>
                      <a:noFill/>
                    </a:lnT>
                    <a:lnB>
                      <a:noFill/>
                    </a:lnB>
                  </a:tcPr>
                </a:tc>
                <a:tc>
                  <a:txBody>
                    <a:bodyPr/>
                    <a:lstStyle/>
                    <a:p>
                      <a:pPr algn="r" fontAlgn="b"/>
                      <a:r>
                        <a:rPr lang="en-US" sz="2000" b="1" i="0" u="none" strike="noStrike">
                          <a:solidFill>
                            <a:srgbClr val="000000"/>
                          </a:solidFill>
                          <a:effectLst/>
                          <a:latin typeface="Calibri" panose="020F0502020204030204" pitchFamily="34" charset="0"/>
                        </a:rPr>
                        <a:t>0.568287</a:t>
                      </a:r>
                    </a:p>
                  </a:txBody>
                  <a:tcPr marL="5189" marR="5189" marT="5189" marB="0" anchor="b">
                    <a:lnL>
                      <a:noFill/>
                    </a:lnL>
                    <a:lnR>
                      <a:noFill/>
                    </a:lnR>
                    <a:lnT>
                      <a:noFill/>
                    </a:lnT>
                    <a:lnB>
                      <a:noFill/>
                    </a:lnB>
                  </a:tcPr>
                </a:tc>
                <a:extLst>
                  <a:ext uri="{0D108BD9-81ED-4DB2-BD59-A6C34878D82A}">
                    <a16:rowId xmlns:a16="http://schemas.microsoft.com/office/drawing/2014/main" val="1941974953"/>
                  </a:ext>
                </a:extLst>
              </a:tr>
              <a:tr h="289962">
                <a:tc>
                  <a:txBody>
                    <a:bodyPr/>
                    <a:lstStyle/>
                    <a:p>
                      <a:pPr algn="l" fontAlgn="b"/>
                      <a:r>
                        <a:rPr lang="en-US" sz="2000" b="1" i="0" u="none" strike="noStrike">
                          <a:solidFill>
                            <a:srgbClr val="000000"/>
                          </a:solidFill>
                          <a:effectLst/>
                          <a:latin typeface="Calibri" panose="020F0502020204030204" pitchFamily="34" charset="0"/>
                        </a:rPr>
                        <a:t>Marketing_Spend</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0.901127562</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0.448505121</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2.009180093</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0.044656183</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0.02152546</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1.78073</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0.021525</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2000" b="1" i="0" u="none" strike="noStrike">
                          <a:solidFill>
                            <a:srgbClr val="000000"/>
                          </a:solidFill>
                          <a:effectLst/>
                          <a:latin typeface="Calibri" panose="020F0502020204030204" pitchFamily="34" charset="0"/>
                        </a:rPr>
                        <a:t>1.78073</a:t>
                      </a:r>
                    </a:p>
                  </a:txBody>
                  <a:tcPr marL="5189" marR="5189" marT="5189"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4466496"/>
                  </a:ext>
                </a:extLst>
              </a:tr>
              <a:tr h="289962">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472953409"/>
                  </a:ext>
                </a:extLst>
              </a:tr>
              <a:tr h="289962">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3468084859"/>
                  </a:ext>
                </a:extLst>
              </a:tr>
              <a:tr h="289962">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a:solidFill>
                          <a:srgbClr val="000000"/>
                        </a:solidFill>
                        <a:effectLst/>
                        <a:latin typeface="Calibri" panose="020F0502020204030204" pitchFamily="34" charset="0"/>
                      </a:endParaRPr>
                    </a:p>
                  </a:txBody>
                  <a:tcPr marL="5189" marR="5189" marT="5189" marB="0" anchor="b">
                    <a:lnL>
                      <a:noFill/>
                    </a:lnL>
                    <a:lnR>
                      <a:noFill/>
                    </a:lnR>
                    <a:lnT>
                      <a:noFill/>
                    </a:lnT>
                    <a:lnB>
                      <a:noFill/>
                    </a:lnB>
                  </a:tcPr>
                </a:tc>
                <a:tc>
                  <a:txBody>
                    <a:bodyPr/>
                    <a:lstStyle/>
                    <a:p>
                      <a:pPr algn="l" fontAlgn="b"/>
                      <a:endParaRPr lang="en-US" sz="2000" b="1" i="0" u="none" strike="noStrike" dirty="0">
                        <a:solidFill>
                          <a:srgbClr val="000000"/>
                        </a:solidFill>
                        <a:effectLst/>
                        <a:latin typeface="Calibri" panose="020F0502020204030204" pitchFamily="34" charset="0"/>
                      </a:endParaRPr>
                    </a:p>
                  </a:txBody>
                  <a:tcPr marL="5189" marR="5189" marT="5189" marB="0" anchor="b">
                    <a:lnL>
                      <a:noFill/>
                    </a:lnL>
                    <a:lnR>
                      <a:noFill/>
                    </a:lnR>
                    <a:lnT>
                      <a:noFill/>
                    </a:lnT>
                    <a:lnB>
                      <a:noFill/>
                    </a:lnB>
                  </a:tcPr>
                </a:tc>
                <a:extLst>
                  <a:ext uri="{0D108BD9-81ED-4DB2-BD59-A6C34878D82A}">
                    <a16:rowId xmlns:a16="http://schemas.microsoft.com/office/drawing/2014/main" val="3696809530"/>
                  </a:ext>
                </a:extLst>
              </a:tr>
            </a:tbl>
          </a:graphicData>
        </a:graphic>
      </p:graphicFrame>
    </p:spTree>
    <p:extLst>
      <p:ext uri="{BB962C8B-B14F-4D97-AF65-F5344CB8AC3E}">
        <p14:creationId xmlns:p14="http://schemas.microsoft.com/office/powerpoint/2010/main" val="4721354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908EEE13-6FF3-2FFF-F89A-328E031CA4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5760805-9FB8-864C-9705-859B65E1E1B5}"/>
              </a:ext>
            </a:extLst>
          </p:cNvPr>
          <p:cNvGrpSpPr/>
          <p:nvPr/>
        </p:nvGrpSpPr>
        <p:grpSpPr>
          <a:xfrm rot="5400000">
            <a:off x="9011473" y="286573"/>
            <a:ext cx="210974" cy="17884879"/>
            <a:chOff x="0" y="0"/>
            <a:chExt cx="57626" cy="2693278"/>
          </a:xfrm>
        </p:grpSpPr>
        <p:sp>
          <p:nvSpPr>
            <p:cNvPr id="3" name="Freeform 3">
              <a:extLst>
                <a:ext uri="{FF2B5EF4-FFF2-40B4-BE49-F238E27FC236}">
                  <a16:creationId xmlns:a16="http://schemas.microsoft.com/office/drawing/2014/main" id="{8B8A823D-260A-8EE6-43A2-64EC718B64CF}"/>
                </a:ext>
              </a:extLst>
            </p:cNvPr>
            <p:cNvSpPr/>
            <p:nvPr/>
          </p:nvSpPr>
          <p:spPr>
            <a:xfrm>
              <a:off x="0" y="0"/>
              <a:ext cx="57626" cy="2693278"/>
            </a:xfrm>
            <a:custGeom>
              <a:avLst/>
              <a:gdLst/>
              <a:ahLst/>
              <a:cxnLst/>
              <a:rect l="l" t="t" r="r" b="b"/>
              <a:pathLst>
                <a:path w="57626" h="2693278">
                  <a:moveTo>
                    <a:pt x="0" y="0"/>
                  </a:moveTo>
                  <a:lnTo>
                    <a:pt x="57626" y="0"/>
                  </a:lnTo>
                  <a:lnTo>
                    <a:pt x="57626" y="2693278"/>
                  </a:lnTo>
                  <a:lnTo>
                    <a:pt x="0" y="2693278"/>
                  </a:lnTo>
                  <a:close/>
                </a:path>
              </a:pathLst>
            </a:custGeom>
            <a:solidFill>
              <a:srgbClr val="BEC8D9"/>
            </a:solidFill>
          </p:spPr>
          <p:txBody>
            <a:bodyPr/>
            <a:lstStyle/>
            <a:p>
              <a:pPr algn="ctr"/>
              <a:endParaRPr lang="en-GB"/>
            </a:p>
          </p:txBody>
        </p:sp>
        <p:sp>
          <p:nvSpPr>
            <p:cNvPr id="4" name="TextBox 4">
              <a:extLst>
                <a:ext uri="{FF2B5EF4-FFF2-40B4-BE49-F238E27FC236}">
                  <a16:creationId xmlns:a16="http://schemas.microsoft.com/office/drawing/2014/main" id="{939D98FC-0E56-0599-9184-941E14EE7E8C}"/>
                </a:ext>
              </a:extLst>
            </p:cNvPr>
            <p:cNvSpPr txBox="1"/>
            <p:nvPr/>
          </p:nvSpPr>
          <p:spPr>
            <a:xfrm>
              <a:off x="0" y="-38100"/>
              <a:ext cx="57626" cy="2731378"/>
            </a:xfrm>
            <a:prstGeom prst="rect">
              <a:avLst/>
            </a:prstGeom>
          </p:spPr>
          <p:txBody>
            <a:bodyPr lIns="50800" tIns="50800" rIns="50800" bIns="50800" rtlCol="0" anchor="ctr"/>
            <a:lstStyle/>
            <a:p>
              <a:pPr algn="ctr">
                <a:lnSpc>
                  <a:spcPts val="2520"/>
                </a:lnSpc>
              </a:pPr>
              <a:endParaRPr/>
            </a:p>
          </p:txBody>
        </p:sp>
      </p:grpSp>
      <p:sp>
        <p:nvSpPr>
          <p:cNvPr id="12" name="TextBox 12">
            <a:extLst>
              <a:ext uri="{FF2B5EF4-FFF2-40B4-BE49-F238E27FC236}">
                <a16:creationId xmlns:a16="http://schemas.microsoft.com/office/drawing/2014/main" id="{17CBB9AB-BDC0-5B98-C3B0-D8487C4E29A9}"/>
              </a:ext>
            </a:extLst>
          </p:cNvPr>
          <p:cNvSpPr txBox="1"/>
          <p:nvPr/>
        </p:nvSpPr>
        <p:spPr>
          <a:xfrm>
            <a:off x="2362200" y="190500"/>
            <a:ext cx="13944600" cy="619400"/>
          </a:xfrm>
          <a:prstGeom prst="rect">
            <a:avLst/>
          </a:prstGeom>
        </p:spPr>
        <p:txBody>
          <a:bodyPr wrap="square" lIns="0" tIns="0" rIns="0" bIns="0" rtlCol="0" anchor="t">
            <a:spAutoFit/>
          </a:bodyPr>
          <a:lstStyle/>
          <a:p>
            <a:pPr algn="ctr">
              <a:lnSpc>
                <a:spcPts val="5040"/>
              </a:lnSpc>
              <a:spcBef>
                <a:spcPct val="0"/>
              </a:spcBef>
            </a:pPr>
            <a:r>
              <a:rPr lang="en-GB" sz="3600" b="1" dirty="0">
                <a:solidFill>
                  <a:srgbClr val="112F8D"/>
                </a:solidFill>
                <a:latin typeface="TT Fors Bold"/>
                <a:sym typeface="TT Fors Bold"/>
              </a:rPr>
              <a:t>Interpretation</a:t>
            </a:r>
            <a:endParaRPr lang="en-US" sz="3600" b="1" dirty="0">
              <a:solidFill>
                <a:srgbClr val="112F8D"/>
              </a:solidFill>
              <a:latin typeface="TT Fors Bold"/>
              <a:sym typeface="TT Fors Bold"/>
            </a:endParaRPr>
          </a:p>
        </p:txBody>
      </p:sp>
      <p:sp>
        <p:nvSpPr>
          <p:cNvPr id="53" name="TextBox 40">
            <a:extLst>
              <a:ext uri="{FF2B5EF4-FFF2-40B4-BE49-F238E27FC236}">
                <a16:creationId xmlns:a16="http://schemas.microsoft.com/office/drawing/2014/main" id="{47B9CF82-BA3A-CB62-1293-6FF9915834DE}"/>
              </a:ext>
            </a:extLst>
          </p:cNvPr>
          <p:cNvSpPr txBox="1"/>
          <p:nvPr/>
        </p:nvSpPr>
        <p:spPr>
          <a:xfrm>
            <a:off x="952512" y="2019300"/>
            <a:ext cx="16763975" cy="6632548"/>
          </a:xfrm>
          <a:prstGeom prst="rect">
            <a:avLst/>
          </a:prstGeom>
        </p:spPr>
        <p:txBody>
          <a:bodyPr lIns="50800" tIns="50800" rIns="50800" bIns="50800" rtlCol="0" anchor="ctr"/>
          <a:lstStyle/>
          <a:p>
            <a:pPr marL="0" marR="0">
              <a:lnSpc>
                <a:spcPct val="300000"/>
              </a:lnSpc>
              <a:spcBef>
                <a:spcPts val="0"/>
              </a:spcBef>
              <a:spcAft>
                <a:spcPts val="0"/>
              </a:spcAft>
            </a:pPr>
            <a:r>
              <a:rPr lang="en-US" sz="2800" b="1" dirty="0">
                <a:latin typeface="TT Fors" panose="020B0604020202020204" charset="0"/>
                <a:ea typeface="Times New Roman" panose="02020603050405020304" pitchFamily="18" charset="0"/>
                <a:cs typeface="Calibri" panose="020F0502020204030204" pitchFamily="34" charset="0"/>
              </a:rPr>
              <a:t>Based on the Regression Table: </a:t>
            </a:r>
            <a:br>
              <a:rPr lang="en-US" sz="2800" b="1" dirty="0">
                <a:latin typeface="TT Fors" panose="020B0604020202020204" charset="0"/>
                <a:ea typeface="Times New Roman" panose="02020603050405020304" pitchFamily="18" charset="0"/>
                <a:cs typeface="Calibri" panose="020F0502020204030204" pitchFamily="34" charset="0"/>
              </a:rPr>
            </a:br>
            <a:r>
              <a:rPr lang="en-US" sz="2800" dirty="0">
                <a:solidFill>
                  <a:srgbClr val="0D0D0D"/>
                </a:solidFill>
                <a:effectLst/>
                <a:latin typeface="TT Fors" panose="020B0604020202020204" charset="0"/>
                <a:ea typeface="Times New Roman" panose="02020603050405020304" pitchFamily="18" charset="0"/>
              </a:rPr>
              <a:t>Regression model tested multiple predictors of earnings (hourly rate, success rate, ratings, duration, rehire rate, marketing spend).</a:t>
            </a:r>
            <a:endParaRPr lang="en-US" sz="2800" dirty="0">
              <a:effectLst/>
              <a:latin typeface="TT Fors" panose="020B0604020202020204" charset="0"/>
              <a:ea typeface="Times New Roman" panose="02020603050405020304" pitchFamily="18" charset="0"/>
            </a:endParaRPr>
          </a:p>
          <a:p>
            <a:pPr marL="0" marR="0">
              <a:lnSpc>
                <a:spcPct val="300000"/>
              </a:lnSpc>
              <a:spcBef>
                <a:spcPts val="0"/>
              </a:spcBef>
              <a:spcAft>
                <a:spcPts val="0"/>
              </a:spcAft>
            </a:pPr>
            <a:r>
              <a:rPr lang="en-US" sz="2800" dirty="0">
                <a:solidFill>
                  <a:srgbClr val="0D0D0D"/>
                </a:solidFill>
                <a:effectLst/>
                <a:latin typeface="TT Fors" panose="020B0604020202020204" charset="0"/>
                <a:ea typeface="Times New Roman" panose="02020603050405020304" pitchFamily="18" charset="0"/>
              </a:rPr>
              <a:t>Adjusted R² (≈ 0.005) is very low, showing weak model fit.</a:t>
            </a:r>
            <a:endParaRPr lang="en-US" sz="2800" dirty="0">
              <a:effectLst/>
              <a:latin typeface="TT Fors" panose="020B0604020202020204" charset="0"/>
              <a:ea typeface="Times New Roman" panose="02020603050405020304" pitchFamily="18" charset="0"/>
            </a:endParaRPr>
          </a:p>
          <a:p>
            <a:pPr marL="0" marR="0">
              <a:lnSpc>
                <a:spcPct val="300000"/>
              </a:lnSpc>
              <a:spcBef>
                <a:spcPts val="0"/>
              </a:spcBef>
              <a:spcAft>
                <a:spcPts val="0"/>
              </a:spcAft>
            </a:pPr>
            <a:r>
              <a:rPr lang="en-US" sz="2800" dirty="0">
                <a:solidFill>
                  <a:srgbClr val="0D0D0D"/>
                </a:solidFill>
                <a:effectLst/>
                <a:latin typeface="TT Fors" panose="020B0604020202020204" charset="0"/>
                <a:ea typeface="Times New Roman" panose="02020603050405020304" pitchFamily="18" charset="0"/>
              </a:rPr>
              <a:t>Significance F &gt; 0.05 → </a:t>
            </a:r>
            <a:r>
              <a:rPr lang="en-US" sz="2800" b="0" dirty="0">
                <a:solidFill>
                  <a:srgbClr val="0D0D0D"/>
                </a:solidFill>
                <a:effectLst/>
                <a:latin typeface="TT Fors" panose="020B0604020202020204" charset="0"/>
                <a:ea typeface="Times New Roman" panose="02020603050405020304" pitchFamily="18" charset="0"/>
              </a:rPr>
              <a:t>model is unreliable</a:t>
            </a:r>
            <a:endParaRPr lang="en-US" sz="2800" dirty="0">
              <a:effectLst/>
              <a:latin typeface="TT Fors" panose="020B0604020202020204" charset="0"/>
              <a:ea typeface="Times New Roman" panose="02020603050405020304" pitchFamily="18" charset="0"/>
            </a:endParaRPr>
          </a:p>
          <a:p>
            <a:pPr marL="0" marR="0">
              <a:lnSpc>
                <a:spcPct val="300000"/>
              </a:lnSpc>
              <a:spcBef>
                <a:spcPts val="0"/>
              </a:spcBef>
              <a:spcAft>
                <a:spcPts val="0"/>
              </a:spcAft>
            </a:pPr>
            <a:r>
              <a:rPr lang="en-US" sz="2800" dirty="0">
                <a:solidFill>
                  <a:srgbClr val="0D0D0D"/>
                </a:solidFill>
                <a:effectLst/>
                <a:latin typeface="TT Fors" panose="020B0604020202020204" charset="0"/>
                <a:ea typeface="Times New Roman" panose="02020603050405020304" pitchFamily="18" charset="0"/>
              </a:rPr>
              <a:t>Marketing Spend is the only statistically significant variable (p &lt; 0.05)</a:t>
            </a:r>
            <a:endParaRPr lang="en-US" sz="2800" dirty="0">
              <a:effectLst/>
              <a:latin typeface="TT Fors" panose="020B0604020202020204" charset="0"/>
              <a:ea typeface="Times New Roman" panose="02020603050405020304" pitchFamily="18" charset="0"/>
            </a:endParaRPr>
          </a:p>
          <a:p>
            <a:pPr>
              <a:lnSpc>
                <a:spcPct val="250000"/>
              </a:lnSpc>
            </a:pPr>
            <a:endParaRPr lang="en-US" sz="2800" dirty="0">
              <a:solidFill>
                <a:srgbClr val="FFFFFF"/>
              </a:solidFill>
              <a:latin typeface="TT Fors" panose="020B0604020202020204" charset="0"/>
              <a:ea typeface="TT Fors"/>
              <a:cs typeface="TT Fors"/>
              <a:sym typeface="TT Fors"/>
            </a:endParaRPr>
          </a:p>
        </p:txBody>
      </p:sp>
    </p:spTree>
    <p:extLst>
      <p:ext uri="{BB962C8B-B14F-4D97-AF65-F5344CB8AC3E}">
        <p14:creationId xmlns:p14="http://schemas.microsoft.com/office/powerpoint/2010/main" val="1144060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A6BC62AE-9015-E9EE-0139-D8D33DF5F29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AB086C-D29D-06C4-3CEA-84B548C64798}"/>
              </a:ext>
            </a:extLst>
          </p:cNvPr>
          <p:cNvGrpSpPr/>
          <p:nvPr/>
        </p:nvGrpSpPr>
        <p:grpSpPr>
          <a:xfrm rot="5400000">
            <a:off x="9011473" y="286573"/>
            <a:ext cx="210974" cy="17884879"/>
            <a:chOff x="0" y="0"/>
            <a:chExt cx="57626" cy="2693278"/>
          </a:xfrm>
        </p:grpSpPr>
        <p:sp>
          <p:nvSpPr>
            <p:cNvPr id="3" name="Freeform 3">
              <a:extLst>
                <a:ext uri="{FF2B5EF4-FFF2-40B4-BE49-F238E27FC236}">
                  <a16:creationId xmlns:a16="http://schemas.microsoft.com/office/drawing/2014/main" id="{241248B7-A256-B747-2CB0-5F704BEDCC0D}"/>
                </a:ext>
              </a:extLst>
            </p:cNvPr>
            <p:cNvSpPr/>
            <p:nvPr/>
          </p:nvSpPr>
          <p:spPr>
            <a:xfrm>
              <a:off x="0" y="0"/>
              <a:ext cx="57626" cy="2693278"/>
            </a:xfrm>
            <a:custGeom>
              <a:avLst/>
              <a:gdLst/>
              <a:ahLst/>
              <a:cxnLst/>
              <a:rect l="l" t="t" r="r" b="b"/>
              <a:pathLst>
                <a:path w="57626" h="2693278">
                  <a:moveTo>
                    <a:pt x="0" y="0"/>
                  </a:moveTo>
                  <a:lnTo>
                    <a:pt x="57626" y="0"/>
                  </a:lnTo>
                  <a:lnTo>
                    <a:pt x="57626" y="2693278"/>
                  </a:lnTo>
                  <a:lnTo>
                    <a:pt x="0" y="2693278"/>
                  </a:lnTo>
                  <a:close/>
                </a:path>
              </a:pathLst>
            </a:custGeom>
            <a:solidFill>
              <a:srgbClr val="BEC8D9"/>
            </a:solidFill>
          </p:spPr>
          <p:txBody>
            <a:bodyPr/>
            <a:lstStyle/>
            <a:p>
              <a:pPr algn="ctr"/>
              <a:endParaRPr lang="en-GB"/>
            </a:p>
          </p:txBody>
        </p:sp>
        <p:sp>
          <p:nvSpPr>
            <p:cNvPr id="4" name="TextBox 4">
              <a:extLst>
                <a:ext uri="{FF2B5EF4-FFF2-40B4-BE49-F238E27FC236}">
                  <a16:creationId xmlns:a16="http://schemas.microsoft.com/office/drawing/2014/main" id="{15552740-9615-416D-4947-8FCB0E73F622}"/>
                </a:ext>
              </a:extLst>
            </p:cNvPr>
            <p:cNvSpPr txBox="1"/>
            <p:nvPr/>
          </p:nvSpPr>
          <p:spPr>
            <a:xfrm>
              <a:off x="0" y="-38100"/>
              <a:ext cx="57626" cy="2731378"/>
            </a:xfrm>
            <a:prstGeom prst="rect">
              <a:avLst/>
            </a:prstGeom>
          </p:spPr>
          <p:txBody>
            <a:bodyPr lIns="50800" tIns="50800" rIns="50800" bIns="50800" rtlCol="0" anchor="ctr"/>
            <a:lstStyle/>
            <a:p>
              <a:pPr algn="ctr">
                <a:lnSpc>
                  <a:spcPts val="2520"/>
                </a:lnSpc>
              </a:pPr>
              <a:endParaRPr/>
            </a:p>
          </p:txBody>
        </p:sp>
      </p:grpSp>
      <p:sp>
        <p:nvSpPr>
          <p:cNvPr id="12" name="TextBox 12">
            <a:extLst>
              <a:ext uri="{FF2B5EF4-FFF2-40B4-BE49-F238E27FC236}">
                <a16:creationId xmlns:a16="http://schemas.microsoft.com/office/drawing/2014/main" id="{961FD1E8-9D63-1567-C37F-29D658819B07}"/>
              </a:ext>
            </a:extLst>
          </p:cNvPr>
          <p:cNvSpPr txBox="1"/>
          <p:nvPr/>
        </p:nvSpPr>
        <p:spPr>
          <a:xfrm>
            <a:off x="2362200" y="333100"/>
            <a:ext cx="13944600" cy="619400"/>
          </a:xfrm>
          <a:prstGeom prst="rect">
            <a:avLst/>
          </a:prstGeom>
        </p:spPr>
        <p:txBody>
          <a:bodyPr wrap="square" lIns="0" tIns="0" rIns="0" bIns="0" rtlCol="0" anchor="t">
            <a:spAutoFit/>
          </a:bodyPr>
          <a:lstStyle/>
          <a:p>
            <a:pPr algn="ctr">
              <a:lnSpc>
                <a:spcPts val="5040"/>
              </a:lnSpc>
              <a:spcBef>
                <a:spcPct val="0"/>
              </a:spcBef>
            </a:pPr>
            <a:r>
              <a:rPr lang="en-US" sz="3200" b="1" dirty="0">
                <a:solidFill>
                  <a:srgbClr val="112F8D"/>
                </a:solidFill>
                <a:latin typeface="TT Fors Bold"/>
              </a:rPr>
              <a:t>Regression Table &amp; Forecasting</a:t>
            </a:r>
            <a:endParaRPr lang="en-US" sz="3200" b="1" dirty="0">
              <a:solidFill>
                <a:srgbClr val="112F8D"/>
              </a:solidFill>
              <a:latin typeface="TT Fors Bold"/>
              <a:sym typeface="TT Fors Bold"/>
            </a:endParaRPr>
          </a:p>
        </p:txBody>
      </p:sp>
      <p:grpSp>
        <p:nvGrpSpPr>
          <p:cNvPr id="51" name="Group 38">
            <a:extLst>
              <a:ext uri="{FF2B5EF4-FFF2-40B4-BE49-F238E27FC236}">
                <a16:creationId xmlns:a16="http://schemas.microsoft.com/office/drawing/2014/main" id="{55BEE40E-B8C8-2559-ABCF-99951145C357}"/>
              </a:ext>
            </a:extLst>
          </p:cNvPr>
          <p:cNvGrpSpPr/>
          <p:nvPr/>
        </p:nvGrpSpPr>
        <p:grpSpPr>
          <a:xfrm>
            <a:off x="0" y="9450090"/>
            <a:ext cx="18137884" cy="798810"/>
            <a:chOff x="3605270" y="279338"/>
            <a:chExt cx="1046234" cy="286315"/>
          </a:xfrm>
        </p:grpSpPr>
        <p:sp>
          <p:nvSpPr>
            <p:cNvPr id="52" name="Freeform 39">
              <a:extLst>
                <a:ext uri="{FF2B5EF4-FFF2-40B4-BE49-F238E27FC236}">
                  <a16:creationId xmlns:a16="http://schemas.microsoft.com/office/drawing/2014/main" id="{B0AA695C-C99E-29FC-22DE-06C7B8B5EA7B}"/>
                </a:ext>
              </a:extLst>
            </p:cNvPr>
            <p:cNvSpPr/>
            <p:nvPr/>
          </p:nvSpPr>
          <p:spPr>
            <a:xfrm>
              <a:off x="3609801" y="290126"/>
              <a:ext cx="1041703" cy="248215"/>
            </a:xfrm>
            <a:custGeom>
              <a:avLst/>
              <a:gdLst/>
              <a:ahLst/>
              <a:cxnLst/>
              <a:rect l="l" t="t" r="r" b="b"/>
              <a:pathLst>
                <a:path w="1041703" h="248215">
                  <a:moveTo>
                    <a:pt x="35233" y="0"/>
                  </a:moveTo>
                  <a:lnTo>
                    <a:pt x="1006470" y="0"/>
                  </a:lnTo>
                  <a:cubicBezTo>
                    <a:pt x="1015814" y="0"/>
                    <a:pt x="1024776" y="3712"/>
                    <a:pt x="1031384" y="10320"/>
                  </a:cubicBezTo>
                  <a:cubicBezTo>
                    <a:pt x="1037991" y="16927"/>
                    <a:pt x="1041703" y="25889"/>
                    <a:pt x="1041703" y="35233"/>
                  </a:cubicBezTo>
                  <a:lnTo>
                    <a:pt x="1041703" y="212982"/>
                  </a:lnTo>
                  <a:cubicBezTo>
                    <a:pt x="1041703" y="222326"/>
                    <a:pt x="1037991" y="231288"/>
                    <a:pt x="1031384" y="237895"/>
                  </a:cubicBezTo>
                  <a:cubicBezTo>
                    <a:pt x="1024776" y="244503"/>
                    <a:pt x="1015814" y="248215"/>
                    <a:pt x="1006470" y="248215"/>
                  </a:cubicBezTo>
                  <a:lnTo>
                    <a:pt x="35233" y="248215"/>
                  </a:lnTo>
                  <a:cubicBezTo>
                    <a:pt x="25889" y="248215"/>
                    <a:pt x="16927" y="244503"/>
                    <a:pt x="10320" y="237895"/>
                  </a:cubicBezTo>
                  <a:cubicBezTo>
                    <a:pt x="3712" y="231288"/>
                    <a:pt x="0" y="222326"/>
                    <a:pt x="0" y="212982"/>
                  </a:cubicBezTo>
                  <a:lnTo>
                    <a:pt x="0" y="35233"/>
                  </a:lnTo>
                  <a:cubicBezTo>
                    <a:pt x="0" y="25889"/>
                    <a:pt x="3712" y="16927"/>
                    <a:pt x="10320" y="10320"/>
                  </a:cubicBezTo>
                  <a:cubicBezTo>
                    <a:pt x="16927" y="3712"/>
                    <a:pt x="25889" y="0"/>
                    <a:pt x="35233" y="0"/>
                  </a:cubicBezTo>
                  <a:close/>
                </a:path>
              </a:pathLst>
            </a:custGeom>
            <a:solidFill>
              <a:srgbClr val="122359"/>
            </a:solidFill>
          </p:spPr>
          <p:txBody>
            <a:bodyPr/>
            <a:lstStyle/>
            <a:p>
              <a:pPr algn="ctr"/>
              <a:endParaRPr lang="en-GB" dirty="0"/>
            </a:p>
          </p:txBody>
        </p:sp>
        <p:sp>
          <p:nvSpPr>
            <p:cNvPr id="53" name="TextBox 40">
              <a:extLst>
                <a:ext uri="{FF2B5EF4-FFF2-40B4-BE49-F238E27FC236}">
                  <a16:creationId xmlns:a16="http://schemas.microsoft.com/office/drawing/2014/main" id="{C70C456E-B8CC-43A4-3DC2-389E41DC0059}"/>
                </a:ext>
              </a:extLst>
            </p:cNvPr>
            <p:cNvSpPr txBox="1"/>
            <p:nvPr/>
          </p:nvSpPr>
          <p:spPr>
            <a:xfrm>
              <a:off x="3605270" y="279338"/>
              <a:ext cx="1041703" cy="286315"/>
            </a:xfrm>
            <a:prstGeom prst="rect">
              <a:avLst/>
            </a:prstGeom>
          </p:spPr>
          <p:txBody>
            <a:bodyPr lIns="50800" tIns="50800" rIns="50800" bIns="50800" rtlCol="0" anchor="ctr"/>
            <a:lstStyle/>
            <a:p>
              <a:pPr algn="ctr">
                <a:lnSpc>
                  <a:spcPts val="2240"/>
                </a:lnSpc>
              </a:pPr>
              <a:r>
                <a:rPr lang="en-US" sz="1600" dirty="0">
                  <a:solidFill>
                    <a:srgbClr val="FFFFFF"/>
                  </a:solidFill>
                  <a:latin typeface="TT Fors"/>
                  <a:ea typeface="TT Fors"/>
                  <a:cs typeface="TT Fors"/>
                  <a:sym typeface="TT Fors"/>
                </a:rPr>
                <a:t>The Forecasting Table using Regression Statistics.</a:t>
              </a:r>
            </a:p>
          </p:txBody>
        </p:sp>
      </p:grpSp>
      <p:graphicFrame>
        <p:nvGraphicFramePr>
          <p:cNvPr id="5" name="Content Placeholder 3">
            <a:extLst>
              <a:ext uri="{FF2B5EF4-FFF2-40B4-BE49-F238E27FC236}">
                <a16:creationId xmlns:a16="http://schemas.microsoft.com/office/drawing/2014/main" id="{00FB9D5E-FD39-4CB8-8542-07680CEDBE28}"/>
              </a:ext>
            </a:extLst>
          </p:cNvPr>
          <p:cNvGraphicFramePr>
            <a:graphicFrameLocks/>
          </p:cNvGraphicFramePr>
          <p:nvPr>
            <p:extLst>
              <p:ext uri="{D42A27DB-BD31-4B8C-83A1-F6EECF244321}">
                <p14:modId xmlns:p14="http://schemas.microsoft.com/office/powerpoint/2010/main" val="3509875803"/>
              </p:ext>
            </p:extLst>
          </p:nvPr>
        </p:nvGraphicFramePr>
        <p:xfrm>
          <a:off x="702644" y="977742"/>
          <a:ext cx="12708555" cy="8085510"/>
        </p:xfrm>
        <a:graphic>
          <a:graphicData uri="http://schemas.openxmlformats.org/drawingml/2006/table">
            <a:tbl>
              <a:tblPr/>
              <a:tblGrid>
                <a:gridCol w="1970954">
                  <a:extLst>
                    <a:ext uri="{9D8B030D-6E8A-4147-A177-3AD203B41FA5}">
                      <a16:colId xmlns:a16="http://schemas.microsoft.com/office/drawing/2014/main" val="3552636327"/>
                    </a:ext>
                  </a:extLst>
                </a:gridCol>
                <a:gridCol w="1642462">
                  <a:extLst>
                    <a:ext uri="{9D8B030D-6E8A-4147-A177-3AD203B41FA5}">
                      <a16:colId xmlns:a16="http://schemas.microsoft.com/office/drawing/2014/main" val="1187657499"/>
                    </a:ext>
                  </a:extLst>
                </a:gridCol>
                <a:gridCol w="1621930">
                  <a:extLst>
                    <a:ext uri="{9D8B030D-6E8A-4147-A177-3AD203B41FA5}">
                      <a16:colId xmlns:a16="http://schemas.microsoft.com/office/drawing/2014/main" val="3385330603"/>
                    </a:ext>
                  </a:extLst>
                </a:gridCol>
                <a:gridCol w="1313972">
                  <a:extLst>
                    <a:ext uri="{9D8B030D-6E8A-4147-A177-3AD203B41FA5}">
                      <a16:colId xmlns:a16="http://schemas.microsoft.com/office/drawing/2014/main" val="395152406"/>
                    </a:ext>
                  </a:extLst>
                </a:gridCol>
                <a:gridCol w="1580873">
                  <a:extLst>
                    <a:ext uri="{9D8B030D-6E8A-4147-A177-3AD203B41FA5}">
                      <a16:colId xmlns:a16="http://schemas.microsoft.com/office/drawing/2014/main" val="1473607629"/>
                    </a:ext>
                  </a:extLst>
                </a:gridCol>
                <a:gridCol w="1621930">
                  <a:extLst>
                    <a:ext uri="{9D8B030D-6E8A-4147-A177-3AD203B41FA5}">
                      <a16:colId xmlns:a16="http://schemas.microsoft.com/office/drawing/2014/main" val="72280234"/>
                    </a:ext>
                  </a:extLst>
                </a:gridCol>
                <a:gridCol w="985478">
                  <a:extLst>
                    <a:ext uri="{9D8B030D-6E8A-4147-A177-3AD203B41FA5}">
                      <a16:colId xmlns:a16="http://schemas.microsoft.com/office/drawing/2014/main" val="1978890513"/>
                    </a:ext>
                  </a:extLst>
                </a:gridCol>
                <a:gridCol w="985478">
                  <a:extLst>
                    <a:ext uri="{9D8B030D-6E8A-4147-A177-3AD203B41FA5}">
                      <a16:colId xmlns:a16="http://schemas.microsoft.com/office/drawing/2014/main" val="424189864"/>
                    </a:ext>
                  </a:extLst>
                </a:gridCol>
                <a:gridCol w="985478">
                  <a:extLst>
                    <a:ext uri="{9D8B030D-6E8A-4147-A177-3AD203B41FA5}">
                      <a16:colId xmlns:a16="http://schemas.microsoft.com/office/drawing/2014/main" val="3257652893"/>
                    </a:ext>
                  </a:extLst>
                </a:gridCol>
              </a:tblGrid>
              <a:tr h="442206">
                <a:tc>
                  <a:txBody>
                    <a:bodyPr/>
                    <a:lstStyle/>
                    <a:p>
                      <a:pPr algn="l" fontAlgn="b"/>
                      <a:r>
                        <a:rPr lang="en-US" sz="1800" b="1" i="0" u="none" strike="noStrike">
                          <a:solidFill>
                            <a:srgbClr val="000000"/>
                          </a:solidFill>
                          <a:effectLst/>
                          <a:latin typeface="TT Fors" panose="020B0604020202020204" charset="0"/>
                        </a:rPr>
                        <a:t>SUMMARY OUTPUT</a:t>
                      </a:r>
                    </a:p>
                  </a:txBody>
                  <a:tcPr marL="6350" marR="6350" marT="6350" marB="0" anchor="b">
                    <a:lnL>
                      <a:noFill/>
                    </a:lnL>
                    <a:lnR>
                      <a:noFill/>
                    </a:lnR>
                    <a:lnT>
                      <a:noFill/>
                    </a:lnT>
                    <a:lnB>
                      <a:noFill/>
                    </a:lnB>
                  </a:tcPr>
                </a:tc>
                <a:tc>
                  <a:txBody>
                    <a:bodyPr/>
                    <a:lstStyle/>
                    <a:p>
                      <a:pPr algn="l" fontAlgn="b"/>
                      <a:endParaRPr lang="en-US" sz="1800" b="1" i="0" u="none" strike="noStrike" dirty="0">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dirty="0">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2294564377"/>
                  </a:ext>
                </a:extLst>
              </a:tr>
              <a:tr h="318876">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274264118"/>
                  </a:ext>
                </a:extLst>
              </a:tr>
              <a:tr h="318876">
                <a:tc gridSpan="2">
                  <a:txBody>
                    <a:bodyPr/>
                    <a:lstStyle/>
                    <a:p>
                      <a:pPr algn="ctr" fontAlgn="b"/>
                      <a:r>
                        <a:rPr lang="en-US" sz="1800" b="1" i="1" u="none" strike="noStrike">
                          <a:solidFill>
                            <a:srgbClr val="000000"/>
                          </a:solidFill>
                          <a:effectLst/>
                          <a:latin typeface="TT Fors" panose="020B0604020202020204" charset="0"/>
                        </a:rPr>
                        <a:t>Regression Statistics</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4245453980"/>
                  </a:ext>
                </a:extLst>
              </a:tr>
              <a:tr h="318876">
                <a:tc>
                  <a:txBody>
                    <a:bodyPr/>
                    <a:lstStyle/>
                    <a:p>
                      <a:pPr algn="l" fontAlgn="b"/>
                      <a:r>
                        <a:rPr lang="en-US" sz="1800" b="1" i="0" u="none" strike="noStrike">
                          <a:solidFill>
                            <a:srgbClr val="000000"/>
                          </a:solidFill>
                          <a:effectLst/>
                          <a:latin typeface="TT Fors" panose="020B0604020202020204" charset="0"/>
                        </a:rPr>
                        <a:t>Multiple R</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0.043041301</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dirty="0">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3249393883"/>
                  </a:ext>
                </a:extLst>
              </a:tr>
              <a:tr h="318876">
                <a:tc>
                  <a:txBody>
                    <a:bodyPr/>
                    <a:lstStyle/>
                    <a:p>
                      <a:pPr algn="l" fontAlgn="b"/>
                      <a:r>
                        <a:rPr lang="en-US" sz="1800" b="1" i="0" u="none" strike="noStrike">
                          <a:solidFill>
                            <a:srgbClr val="000000"/>
                          </a:solidFill>
                          <a:effectLst/>
                          <a:latin typeface="TT Fors" panose="020B0604020202020204" charset="0"/>
                        </a:rPr>
                        <a:t>R Square</a:t>
                      </a:r>
                    </a:p>
                  </a:txBody>
                  <a:tcPr marL="6350" marR="6350" marT="6350" marB="0" anchor="b">
                    <a:lnL>
                      <a:noFill/>
                    </a:lnL>
                    <a:lnR>
                      <a:noFill/>
                    </a:lnR>
                    <a:lnT>
                      <a:noFill/>
                    </a:lnT>
                    <a:lnB>
                      <a:noFill/>
                    </a:lnB>
                  </a:tcPr>
                </a:tc>
                <a:tc>
                  <a:txBody>
                    <a:bodyPr/>
                    <a:lstStyle/>
                    <a:p>
                      <a:pPr algn="r" fontAlgn="b"/>
                      <a:r>
                        <a:rPr lang="en-US" sz="1800" b="1" i="0" u="none" strike="noStrike">
                          <a:solidFill>
                            <a:srgbClr val="000000"/>
                          </a:solidFill>
                          <a:effectLst/>
                          <a:latin typeface="TT Fors" panose="020B0604020202020204" charset="0"/>
                        </a:rPr>
                        <a:t>0.001852554</a:t>
                      </a: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dirty="0">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3392303882"/>
                  </a:ext>
                </a:extLst>
              </a:tr>
              <a:tr h="442206">
                <a:tc>
                  <a:txBody>
                    <a:bodyPr/>
                    <a:lstStyle/>
                    <a:p>
                      <a:pPr algn="l" fontAlgn="b"/>
                      <a:r>
                        <a:rPr lang="en-US" sz="1800" b="1" i="0" u="none" strike="noStrike">
                          <a:solidFill>
                            <a:srgbClr val="000000"/>
                          </a:solidFill>
                          <a:effectLst/>
                          <a:latin typeface="TT Fors" panose="020B0604020202020204" charset="0"/>
                        </a:rPr>
                        <a:t>Adjusted R Square</a:t>
                      </a:r>
                    </a:p>
                  </a:txBody>
                  <a:tcPr marL="6350" marR="6350" marT="6350" marB="0" anchor="b">
                    <a:lnL>
                      <a:noFill/>
                    </a:lnL>
                    <a:lnR>
                      <a:noFill/>
                    </a:lnR>
                    <a:lnT>
                      <a:noFill/>
                    </a:lnT>
                    <a:lnB>
                      <a:noFill/>
                    </a:lnB>
                  </a:tcPr>
                </a:tc>
                <a:tc>
                  <a:txBody>
                    <a:bodyPr/>
                    <a:lstStyle/>
                    <a:p>
                      <a:pPr algn="r" fontAlgn="b"/>
                      <a:r>
                        <a:rPr lang="en-US" sz="1800" b="1" i="0" u="none" strike="noStrike">
                          <a:solidFill>
                            <a:srgbClr val="000000"/>
                          </a:solidFill>
                          <a:effectLst/>
                          <a:latin typeface="TT Fors" panose="020B0604020202020204" charset="0"/>
                        </a:rPr>
                        <a:t>0.001340158</a:t>
                      </a: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dirty="0">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3293421847"/>
                  </a:ext>
                </a:extLst>
              </a:tr>
              <a:tr h="318876">
                <a:tc>
                  <a:txBody>
                    <a:bodyPr/>
                    <a:lstStyle/>
                    <a:p>
                      <a:pPr algn="l" fontAlgn="b"/>
                      <a:r>
                        <a:rPr lang="en-US" sz="1800" b="1" i="0" u="none" strike="noStrike">
                          <a:solidFill>
                            <a:srgbClr val="000000"/>
                          </a:solidFill>
                          <a:effectLst/>
                          <a:latin typeface="TT Fors" panose="020B0604020202020204" charset="0"/>
                        </a:rPr>
                        <a:t>Standard Error</a:t>
                      </a:r>
                    </a:p>
                  </a:txBody>
                  <a:tcPr marL="6350" marR="6350" marT="6350" marB="0" anchor="b">
                    <a:lnL>
                      <a:noFill/>
                    </a:lnL>
                    <a:lnR>
                      <a:noFill/>
                    </a:lnR>
                    <a:lnT>
                      <a:noFill/>
                    </a:lnT>
                    <a:lnB>
                      <a:noFill/>
                    </a:lnB>
                  </a:tcPr>
                </a:tc>
                <a:tc>
                  <a:txBody>
                    <a:bodyPr/>
                    <a:lstStyle/>
                    <a:p>
                      <a:pPr algn="r" fontAlgn="b"/>
                      <a:r>
                        <a:rPr lang="en-US" sz="1800" b="1" i="0" u="none" strike="noStrike">
                          <a:solidFill>
                            <a:srgbClr val="000000"/>
                          </a:solidFill>
                          <a:effectLst/>
                          <a:latin typeface="TT Fors" panose="020B0604020202020204" charset="0"/>
                        </a:rPr>
                        <a:t>2924.318422</a:t>
                      </a: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565808270"/>
                  </a:ext>
                </a:extLst>
              </a:tr>
              <a:tr h="318876">
                <a:tc>
                  <a:txBody>
                    <a:bodyPr/>
                    <a:lstStyle/>
                    <a:p>
                      <a:pPr algn="l" fontAlgn="b"/>
                      <a:r>
                        <a:rPr lang="en-US" sz="1800" b="1" i="0" u="none" strike="noStrike">
                          <a:solidFill>
                            <a:srgbClr val="000000"/>
                          </a:solidFill>
                          <a:effectLst/>
                          <a:latin typeface="TT Fors" panose="020B0604020202020204" charset="0"/>
                        </a:rPr>
                        <a:t>Observations</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1950</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1175984138"/>
                  </a:ext>
                </a:extLst>
              </a:tr>
              <a:tr h="318876">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3196736522"/>
                  </a:ext>
                </a:extLst>
              </a:tr>
              <a:tr h="318876">
                <a:tc>
                  <a:txBody>
                    <a:bodyPr/>
                    <a:lstStyle/>
                    <a:p>
                      <a:pPr algn="l" fontAlgn="b"/>
                      <a:r>
                        <a:rPr lang="en-US" sz="1800" b="1" i="0" u="none" strike="noStrike">
                          <a:solidFill>
                            <a:srgbClr val="000000"/>
                          </a:solidFill>
                          <a:effectLst/>
                          <a:latin typeface="TT Fors" panose="020B0604020202020204" charset="0"/>
                        </a:rPr>
                        <a:t>ANOVA</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2154067585"/>
                  </a:ext>
                </a:extLst>
              </a:tr>
              <a:tr h="318876">
                <a:tc>
                  <a:txBody>
                    <a:bodyPr/>
                    <a:lstStyle/>
                    <a:p>
                      <a:pPr algn="ctr" fontAlgn="b"/>
                      <a:r>
                        <a:rPr lang="en-US" sz="1800" b="1" i="1" u="none" strike="noStrike">
                          <a:solidFill>
                            <a:srgbClr val="000000"/>
                          </a:solidFill>
                          <a:effectLst/>
                          <a:latin typeface="TT Fors" panose="020B0604020202020204" charset="0"/>
                        </a:rPr>
                        <a:t> </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df</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SS</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MS</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F</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Significance F</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1948688831"/>
                  </a:ext>
                </a:extLst>
              </a:tr>
              <a:tr h="442206">
                <a:tc>
                  <a:txBody>
                    <a:bodyPr/>
                    <a:lstStyle/>
                    <a:p>
                      <a:pPr algn="l" fontAlgn="b"/>
                      <a:r>
                        <a:rPr lang="en-US" sz="1800" b="1" i="0" u="none" strike="noStrike">
                          <a:solidFill>
                            <a:srgbClr val="000000"/>
                          </a:solidFill>
                          <a:effectLst/>
                          <a:latin typeface="TT Fors" panose="020B0604020202020204" charset="0"/>
                        </a:rPr>
                        <a:t>Regression</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1</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dirty="0">
                          <a:solidFill>
                            <a:srgbClr val="000000"/>
                          </a:solidFill>
                          <a:effectLst/>
                          <a:latin typeface="TT Fors" panose="020B0604020202020204" charset="0"/>
                        </a:rPr>
                        <a:t>30918210.77</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30918210.77</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3.615472254</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0.057391888</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1573048439"/>
                  </a:ext>
                </a:extLst>
              </a:tr>
              <a:tr h="442206">
                <a:tc>
                  <a:txBody>
                    <a:bodyPr/>
                    <a:lstStyle/>
                    <a:p>
                      <a:pPr algn="l" fontAlgn="b"/>
                      <a:r>
                        <a:rPr lang="en-US" sz="1800" b="1" i="0" u="none" strike="noStrike">
                          <a:solidFill>
                            <a:srgbClr val="000000"/>
                          </a:solidFill>
                          <a:effectLst/>
                          <a:latin typeface="TT Fors" panose="020B0604020202020204" charset="0"/>
                        </a:rPr>
                        <a:t>Residual</a:t>
                      </a:r>
                    </a:p>
                  </a:txBody>
                  <a:tcPr marL="6350" marR="6350" marT="6350" marB="0" anchor="b">
                    <a:lnL>
                      <a:noFill/>
                    </a:lnL>
                    <a:lnR>
                      <a:noFill/>
                    </a:lnR>
                    <a:lnT>
                      <a:noFill/>
                    </a:lnT>
                    <a:lnB>
                      <a:noFill/>
                    </a:lnB>
                  </a:tcPr>
                </a:tc>
                <a:tc>
                  <a:txBody>
                    <a:bodyPr/>
                    <a:lstStyle/>
                    <a:p>
                      <a:pPr algn="r" fontAlgn="b"/>
                      <a:r>
                        <a:rPr lang="en-US" sz="1800" b="1" i="0" u="none" strike="noStrike">
                          <a:solidFill>
                            <a:srgbClr val="000000"/>
                          </a:solidFill>
                          <a:effectLst/>
                          <a:latin typeface="TT Fors" panose="020B0604020202020204" charset="0"/>
                        </a:rPr>
                        <a:t>1948</a:t>
                      </a:r>
                    </a:p>
                  </a:txBody>
                  <a:tcPr marL="6350" marR="6350" marT="6350" marB="0" anchor="b">
                    <a:lnL>
                      <a:noFill/>
                    </a:lnL>
                    <a:lnR>
                      <a:noFill/>
                    </a:lnR>
                    <a:lnT>
                      <a:noFill/>
                    </a:lnT>
                    <a:lnB>
                      <a:noFill/>
                    </a:lnB>
                  </a:tcPr>
                </a:tc>
                <a:tc>
                  <a:txBody>
                    <a:bodyPr/>
                    <a:lstStyle/>
                    <a:p>
                      <a:pPr algn="r" fontAlgn="b"/>
                      <a:r>
                        <a:rPr lang="en-US" sz="1800" b="1" i="0" u="none" strike="noStrike">
                          <a:solidFill>
                            <a:srgbClr val="000000"/>
                          </a:solidFill>
                          <a:effectLst/>
                          <a:latin typeface="TT Fors" panose="020B0604020202020204" charset="0"/>
                        </a:rPr>
                        <a:t>16658591280</a:t>
                      </a:r>
                    </a:p>
                  </a:txBody>
                  <a:tcPr marL="6350" marR="6350" marT="6350" marB="0" anchor="b">
                    <a:lnL>
                      <a:noFill/>
                    </a:lnL>
                    <a:lnR>
                      <a:noFill/>
                    </a:lnR>
                    <a:lnT>
                      <a:noFill/>
                    </a:lnT>
                    <a:lnB>
                      <a:noFill/>
                    </a:lnB>
                  </a:tcPr>
                </a:tc>
                <a:tc>
                  <a:txBody>
                    <a:bodyPr/>
                    <a:lstStyle/>
                    <a:p>
                      <a:pPr algn="r" fontAlgn="b"/>
                      <a:r>
                        <a:rPr lang="en-US" sz="1800" b="1" i="0" u="none" strike="noStrike">
                          <a:solidFill>
                            <a:srgbClr val="000000"/>
                          </a:solidFill>
                          <a:effectLst/>
                          <a:latin typeface="TT Fors" panose="020B0604020202020204" charset="0"/>
                        </a:rPr>
                        <a:t>8551638.234</a:t>
                      </a: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1948893604"/>
                  </a:ext>
                </a:extLst>
              </a:tr>
              <a:tr h="318876">
                <a:tc>
                  <a:txBody>
                    <a:bodyPr/>
                    <a:lstStyle/>
                    <a:p>
                      <a:pPr algn="l" fontAlgn="b"/>
                      <a:r>
                        <a:rPr lang="en-US" sz="1800" b="1" i="0" u="none" strike="noStrike">
                          <a:solidFill>
                            <a:srgbClr val="000000"/>
                          </a:solidFill>
                          <a:effectLst/>
                          <a:latin typeface="TT Fors" panose="020B0604020202020204" charset="0"/>
                        </a:rPr>
                        <a:t>Total</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1949</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16689509491</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1800" b="1" i="0" u="none" strike="noStrike">
                          <a:solidFill>
                            <a:srgbClr val="000000"/>
                          </a:solidFill>
                          <a:effectLst/>
                          <a:latin typeface="TT Fors" panose="020B0604020202020204" charset="0"/>
                        </a:rPr>
                        <a:t> </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1800" b="1" i="0" u="none" strike="noStrike">
                          <a:solidFill>
                            <a:srgbClr val="000000"/>
                          </a:solidFill>
                          <a:effectLst/>
                          <a:latin typeface="TT Fors" panose="020B0604020202020204" charset="0"/>
                        </a:rPr>
                        <a:t> </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r>
                        <a:rPr lang="en-US" sz="1800" b="1" i="0" u="none" strike="noStrike">
                          <a:solidFill>
                            <a:srgbClr val="000000"/>
                          </a:solidFill>
                          <a:effectLst/>
                          <a:latin typeface="TT Fors" panose="020B0604020202020204" charset="0"/>
                        </a:rPr>
                        <a:t> </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377441990"/>
                  </a:ext>
                </a:extLst>
              </a:tr>
              <a:tr h="318876">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0305778"/>
                  </a:ext>
                </a:extLst>
              </a:tr>
              <a:tr h="629658">
                <a:tc>
                  <a:txBody>
                    <a:bodyPr/>
                    <a:lstStyle/>
                    <a:p>
                      <a:pPr algn="ctr" fontAlgn="b"/>
                      <a:r>
                        <a:rPr lang="en-US" sz="1800" b="1" i="1" u="none" strike="noStrike">
                          <a:solidFill>
                            <a:srgbClr val="000000"/>
                          </a:solidFill>
                          <a:effectLst/>
                          <a:latin typeface="TT Fors" panose="020B0604020202020204" charset="0"/>
                        </a:rPr>
                        <a:t> </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Coefficients</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Standard Error</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t Stat</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P-value</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Lower 95%</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Upper 95%</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Lower 95.0%</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1" i="1" u="none" strike="noStrike">
                          <a:solidFill>
                            <a:srgbClr val="000000"/>
                          </a:solidFill>
                          <a:effectLst/>
                          <a:latin typeface="TT Fors" panose="020B0604020202020204" charset="0"/>
                        </a:rPr>
                        <a:t>Upper 95.0%</a:t>
                      </a:r>
                    </a:p>
                  </a:txBody>
                  <a:tcPr marL="6350" marR="6350" marT="635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5102241"/>
                  </a:ext>
                </a:extLst>
              </a:tr>
              <a:tr h="442206">
                <a:tc>
                  <a:txBody>
                    <a:bodyPr/>
                    <a:lstStyle/>
                    <a:p>
                      <a:pPr algn="l" fontAlgn="b"/>
                      <a:r>
                        <a:rPr lang="en-US" sz="1800" b="1" i="0" u="none" strike="noStrike">
                          <a:solidFill>
                            <a:srgbClr val="000000"/>
                          </a:solidFill>
                          <a:effectLst/>
                          <a:latin typeface="TT Fors" panose="020B0604020202020204" charset="0"/>
                        </a:rPr>
                        <a:t>Intercept</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4806.194265</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129.394673</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37.14367952</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8.8138E-229</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4552.427694</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5059.961</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a:solidFill>
                            <a:srgbClr val="000000"/>
                          </a:solidFill>
                          <a:effectLst/>
                          <a:latin typeface="TT Fors" panose="020B0604020202020204" charset="0"/>
                        </a:rPr>
                        <a:t>4552.428</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r" fontAlgn="b"/>
                      <a:r>
                        <a:rPr lang="en-US" sz="1800" b="1" i="0" u="none" strike="noStrike" dirty="0">
                          <a:solidFill>
                            <a:srgbClr val="000000"/>
                          </a:solidFill>
                          <a:effectLst/>
                          <a:latin typeface="TT Fors" panose="020B0604020202020204" charset="0"/>
                        </a:rPr>
                        <a:t>5059.961</a:t>
                      </a: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268535705"/>
                  </a:ext>
                </a:extLst>
              </a:tr>
              <a:tr h="442206">
                <a:tc>
                  <a:txBody>
                    <a:bodyPr/>
                    <a:lstStyle/>
                    <a:p>
                      <a:pPr algn="l" fontAlgn="b"/>
                      <a:endParaRPr lang="en-US" sz="1800" b="1" i="0" u="none" strike="noStrike" dirty="0">
                        <a:solidFill>
                          <a:srgbClr val="000000"/>
                        </a:solidFill>
                        <a:effectLst/>
                        <a:latin typeface="TT Fors" panose="020B0604020202020204" charset="0"/>
                      </a:endParaRPr>
                    </a:p>
                    <a:p>
                      <a:pPr algn="l" fontAlgn="b"/>
                      <a:r>
                        <a:rPr lang="en-US" sz="1800" b="1" i="0" u="none" strike="noStrike" dirty="0">
                          <a:solidFill>
                            <a:srgbClr val="000000"/>
                          </a:solidFill>
                          <a:effectLst/>
                          <a:latin typeface="TT Fors" panose="020B0604020202020204" charset="0"/>
                        </a:rPr>
                        <a:t>Marketing Spend</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0.850533487</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0.447310302</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1.901439522</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0.057391888</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-0.026723662</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1.727791</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-0.02672</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fontAlgn="b"/>
                      <a:r>
                        <a:rPr lang="en-US" sz="1800" b="1" i="0" u="none" strike="noStrike">
                          <a:solidFill>
                            <a:srgbClr val="000000"/>
                          </a:solidFill>
                          <a:effectLst/>
                          <a:latin typeface="TT Fors" panose="020B0604020202020204" charset="0"/>
                        </a:rPr>
                        <a:t>1.727791</a:t>
                      </a:r>
                    </a:p>
                  </a:txBody>
                  <a:tcPr marL="6350" marR="6350" marT="635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2000101"/>
                  </a:ext>
                </a:extLst>
              </a:tr>
              <a:tr h="318876">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294583125"/>
                  </a:ext>
                </a:extLst>
              </a:tr>
              <a:tr h="318876">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1058610576"/>
                  </a:ext>
                </a:extLst>
              </a:tr>
              <a:tr h="318876">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a:solidFill>
                          <a:srgbClr val="000000"/>
                        </a:solidFill>
                        <a:effectLst/>
                        <a:latin typeface="TT Fors" panose="020B0604020202020204" charset="0"/>
                      </a:endParaRPr>
                    </a:p>
                  </a:txBody>
                  <a:tcPr marL="6350" marR="6350" marT="6350" marB="0" anchor="b">
                    <a:lnL>
                      <a:noFill/>
                    </a:lnL>
                    <a:lnR>
                      <a:noFill/>
                    </a:lnR>
                    <a:lnT>
                      <a:noFill/>
                    </a:lnT>
                    <a:lnB>
                      <a:noFill/>
                    </a:lnB>
                  </a:tcPr>
                </a:tc>
                <a:tc>
                  <a:txBody>
                    <a:bodyPr/>
                    <a:lstStyle/>
                    <a:p>
                      <a:pPr algn="l" fontAlgn="b"/>
                      <a:endParaRPr lang="en-US" sz="1800" b="1" i="0" u="none" strike="noStrike" dirty="0">
                        <a:solidFill>
                          <a:srgbClr val="000000"/>
                        </a:solidFill>
                        <a:effectLst/>
                        <a:latin typeface="TT Fors" panose="020B0604020202020204" charset="0"/>
                      </a:endParaRPr>
                    </a:p>
                  </a:txBody>
                  <a:tcPr marL="6350" marR="6350" marT="6350" marB="0" anchor="b">
                    <a:lnL>
                      <a:noFill/>
                    </a:lnL>
                    <a:lnR>
                      <a:noFill/>
                    </a:lnR>
                    <a:lnT>
                      <a:noFill/>
                    </a:lnT>
                    <a:lnB>
                      <a:noFill/>
                    </a:lnB>
                  </a:tcPr>
                </a:tc>
                <a:extLst>
                  <a:ext uri="{0D108BD9-81ED-4DB2-BD59-A6C34878D82A}">
                    <a16:rowId xmlns:a16="http://schemas.microsoft.com/office/drawing/2014/main" val="3353624666"/>
                  </a:ext>
                </a:extLst>
              </a:tr>
            </a:tbl>
          </a:graphicData>
        </a:graphic>
      </p:graphicFrame>
      <p:sp>
        <p:nvSpPr>
          <p:cNvPr id="7" name="TextBox 6">
            <a:extLst>
              <a:ext uri="{FF2B5EF4-FFF2-40B4-BE49-F238E27FC236}">
                <a16:creationId xmlns:a16="http://schemas.microsoft.com/office/drawing/2014/main" id="{A65D4B10-D387-15C6-75C6-5233B552D0E0}"/>
              </a:ext>
            </a:extLst>
          </p:cNvPr>
          <p:cNvSpPr txBox="1"/>
          <p:nvPr/>
        </p:nvSpPr>
        <p:spPr>
          <a:xfrm>
            <a:off x="12024102" y="1246350"/>
            <a:ext cx="6019733" cy="4652236"/>
          </a:xfrm>
          <a:prstGeom prst="rect">
            <a:avLst/>
          </a:prstGeom>
          <a:noFill/>
        </p:spPr>
        <p:txBody>
          <a:bodyPr wrap="square">
            <a:spAutoFit/>
          </a:bodyPr>
          <a:lstStyle/>
          <a:p>
            <a:pPr marL="0" marR="0">
              <a:lnSpc>
                <a:spcPct val="107000"/>
              </a:lnSpc>
              <a:spcBef>
                <a:spcPts val="0"/>
              </a:spcBef>
              <a:spcAft>
                <a:spcPts val="800"/>
              </a:spcAft>
            </a:pPr>
            <a:r>
              <a:rPr lang="en-US" sz="2000" dirty="0">
                <a:effectLst/>
                <a:latin typeface="Arial" panose="020B0604020202020204" pitchFamily="34" charset="0"/>
                <a:ea typeface="Calibri" panose="020F0502020204030204" pitchFamily="34" charset="0"/>
                <a:cs typeface="Arial" panose="020B0604020202020204" pitchFamily="34" charset="0"/>
              </a:rPr>
              <a:t>From the Regression Table:</a:t>
            </a:r>
          </a:p>
          <a:p>
            <a:pPr marL="0" marR="0">
              <a:spcBef>
                <a:spcPts val="0"/>
              </a:spcBef>
              <a:spcAft>
                <a:spcPts val="0"/>
              </a:spcAft>
            </a:pPr>
            <a:r>
              <a:rPr lang="en-US" sz="2000" dirty="0">
                <a:solidFill>
                  <a:srgbClr val="0D0D0D"/>
                </a:solidFill>
                <a:effectLst/>
                <a:latin typeface="Arial" panose="020B0604020202020204" pitchFamily="34" charset="0"/>
                <a:ea typeface="Times New Roman" panose="02020603050405020304" pitchFamily="18" charset="0"/>
                <a:cs typeface="Arial" panose="020B0604020202020204" pitchFamily="34" charset="0"/>
              </a:rPr>
              <a:t>Marketing spend has a direct, measurable impact on earnings growth. Marketing spend is the strongest earnings predictor, but freelancer success depends on many unmeasured qualitative factors.</a:t>
            </a:r>
            <a:endParaRPr lang="en-US" sz="2000" dirty="0">
              <a:effectLst/>
              <a:latin typeface="Arial" panose="020B0604020202020204" pitchFamily="34" charset="0"/>
              <a:ea typeface="Times New Roman" panose="02020603050405020304" pitchFamily="18" charset="0"/>
              <a:cs typeface="Arial" panose="020B0604020202020204" pitchFamily="34" charset="0"/>
            </a:endParaRPr>
          </a:p>
          <a:p>
            <a:pPr marL="0" marR="0">
              <a:spcBef>
                <a:spcPts val="0"/>
              </a:spcBef>
              <a:spcAft>
                <a:spcPts val="0"/>
              </a:spcAft>
            </a:pPr>
            <a:endParaRPr lang="en-US" sz="2000" dirty="0">
              <a:effectLst/>
              <a:latin typeface="Arial" panose="020B0604020202020204" pitchFamily="34" charset="0"/>
              <a:ea typeface="Times New Roman" panose="02020603050405020304" pitchFamily="18" charset="0"/>
              <a:cs typeface="Arial" panose="020B0604020202020204" pitchFamily="34" charset="0"/>
            </a:endParaRPr>
          </a:p>
          <a:p>
            <a:pPr marL="0" marR="0">
              <a:lnSpc>
                <a:spcPct val="107000"/>
              </a:lnSpc>
              <a:spcBef>
                <a:spcPts val="0"/>
              </a:spcBef>
              <a:spcAft>
                <a:spcPts val="800"/>
              </a:spcAft>
            </a:pPr>
            <a:r>
              <a:rPr lang="en-US" sz="2000" dirty="0">
                <a:effectLst/>
                <a:latin typeface="Arial" panose="020B0604020202020204" pitchFamily="34" charset="0"/>
                <a:ea typeface="Calibri" panose="020F0502020204030204" pitchFamily="34" charset="0"/>
                <a:cs typeface="Arial" panose="020B0604020202020204" pitchFamily="34" charset="0"/>
              </a:rPr>
              <a:t>To calculate the Earnings (USD) when the Average Marketing Spend is $248.5,</a:t>
            </a:r>
          </a:p>
          <a:p>
            <a:pPr marL="0" marR="0">
              <a:lnSpc>
                <a:spcPct val="107000"/>
              </a:lnSpc>
              <a:spcBef>
                <a:spcPts val="0"/>
              </a:spcBef>
              <a:spcAft>
                <a:spcPts val="800"/>
              </a:spcAft>
            </a:pPr>
            <a:r>
              <a:rPr lang="en-US" sz="2000" dirty="0">
                <a:effectLst/>
                <a:latin typeface="Arial" panose="020B0604020202020204" pitchFamily="34" charset="0"/>
                <a:ea typeface="Calibri" panose="020F0502020204030204" pitchFamily="34" charset="0"/>
                <a:cs typeface="Arial" panose="020B0604020202020204" pitchFamily="34" charset="0"/>
              </a:rPr>
              <a:t>= (Coefficient of Marketing Spend *248.5) + Intercept,</a:t>
            </a:r>
          </a:p>
          <a:p>
            <a:pPr marL="0" marR="0">
              <a:lnSpc>
                <a:spcPct val="107000"/>
              </a:lnSpc>
              <a:spcBef>
                <a:spcPts val="0"/>
              </a:spcBef>
              <a:spcAft>
                <a:spcPts val="800"/>
              </a:spcAft>
            </a:pPr>
            <a:r>
              <a:rPr lang="en-US" sz="2000" dirty="0">
                <a:effectLst/>
                <a:latin typeface="Arial" panose="020B0604020202020204" pitchFamily="34" charset="0"/>
                <a:ea typeface="Calibri" panose="020F0502020204030204" pitchFamily="34" charset="0"/>
                <a:cs typeface="Arial" panose="020B0604020202020204" pitchFamily="34" charset="0"/>
              </a:rPr>
              <a:t>= $5,017.6.</a:t>
            </a:r>
          </a:p>
          <a:p>
            <a:pPr marL="0" marR="0">
              <a:lnSpc>
                <a:spcPct val="107000"/>
              </a:lnSpc>
              <a:spcBef>
                <a:spcPts val="0"/>
              </a:spcBef>
              <a:spcAft>
                <a:spcPts val="800"/>
              </a:spcAft>
            </a:pPr>
            <a:r>
              <a:rPr lang="en-US" sz="2000" dirty="0">
                <a:latin typeface="Arial" panose="020B0604020202020204" pitchFamily="34" charset="0"/>
                <a:ea typeface="Calibri" panose="020F0502020204030204" pitchFamily="34" charset="0"/>
                <a:cs typeface="Arial" panose="020B0604020202020204" pitchFamily="34" charset="0"/>
              </a:rPr>
              <a:t>Irrespective of the career, the higher the Marketing Spend, the higher the Earnings.</a:t>
            </a:r>
            <a:endParaRPr lang="en-US" sz="20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15671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grpSp>
        <p:nvGrpSpPr>
          <p:cNvPr id="3" name="Group 3"/>
          <p:cNvGrpSpPr/>
          <p:nvPr/>
        </p:nvGrpSpPr>
        <p:grpSpPr>
          <a:xfrm>
            <a:off x="1905000" y="2019300"/>
            <a:ext cx="3250506" cy="1733550"/>
            <a:chOff x="0" y="0"/>
            <a:chExt cx="856100" cy="456573"/>
          </a:xfrm>
        </p:grpSpPr>
        <p:sp>
          <p:nvSpPr>
            <p:cNvPr id="4" name="Freeform 4"/>
            <p:cNvSpPr/>
            <p:nvPr/>
          </p:nvSpPr>
          <p:spPr>
            <a:xfrm>
              <a:off x="0" y="0"/>
              <a:ext cx="856100" cy="456573"/>
            </a:xfrm>
            <a:custGeom>
              <a:avLst/>
              <a:gdLst/>
              <a:ahLst/>
              <a:cxnLst/>
              <a:rect l="l" t="t" r="r" b="b"/>
              <a:pathLst>
                <a:path w="856100" h="456573">
                  <a:moveTo>
                    <a:pt x="856100" y="0"/>
                  </a:moveTo>
                  <a:lnTo>
                    <a:pt x="856100" y="342273"/>
                  </a:lnTo>
                  <a:lnTo>
                    <a:pt x="428050" y="456573"/>
                  </a:lnTo>
                  <a:lnTo>
                    <a:pt x="0" y="342273"/>
                  </a:lnTo>
                  <a:lnTo>
                    <a:pt x="0" y="0"/>
                  </a:lnTo>
                  <a:lnTo>
                    <a:pt x="856100" y="0"/>
                  </a:lnTo>
                  <a:close/>
                </a:path>
              </a:pathLst>
            </a:custGeom>
            <a:solidFill>
              <a:srgbClr val="122359"/>
            </a:solidFill>
          </p:spPr>
          <p:txBody>
            <a:bodyPr/>
            <a:lstStyle/>
            <a:p>
              <a:endParaRPr lang="en-GB"/>
            </a:p>
          </p:txBody>
        </p:sp>
        <p:sp>
          <p:nvSpPr>
            <p:cNvPr id="5" name="TextBox 5"/>
            <p:cNvSpPr txBox="1"/>
            <p:nvPr/>
          </p:nvSpPr>
          <p:spPr>
            <a:xfrm>
              <a:off x="0" y="-38100"/>
              <a:ext cx="856100" cy="38037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6" name="Group 6"/>
          <p:cNvGrpSpPr/>
          <p:nvPr/>
        </p:nvGrpSpPr>
        <p:grpSpPr>
          <a:xfrm>
            <a:off x="5625573" y="2019300"/>
            <a:ext cx="3296390" cy="1733550"/>
            <a:chOff x="0" y="0"/>
            <a:chExt cx="868185" cy="456573"/>
          </a:xfrm>
        </p:grpSpPr>
        <p:sp>
          <p:nvSpPr>
            <p:cNvPr id="7" name="Freeform 7"/>
            <p:cNvSpPr/>
            <p:nvPr/>
          </p:nvSpPr>
          <p:spPr>
            <a:xfrm>
              <a:off x="0" y="0"/>
              <a:ext cx="868185" cy="456573"/>
            </a:xfrm>
            <a:custGeom>
              <a:avLst/>
              <a:gdLst/>
              <a:ahLst/>
              <a:cxnLst/>
              <a:rect l="l" t="t" r="r" b="b"/>
              <a:pathLst>
                <a:path w="868185" h="456573">
                  <a:moveTo>
                    <a:pt x="868185" y="0"/>
                  </a:moveTo>
                  <a:lnTo>
                    <a:pt x="868185" y="342273"/>
                  </a:lnTo>
                  <a:lnTo>
                    <a:pt x="434092" y="456573"/>
                  </a:lnTo>
                  <a:lnTo>
                    <a:pt x="0" y="342273"/>
                  </a:lnTo>
                  <a:lnTo>
                    <a:pt x="0" y="0"/>
                  </a:lnTo>
                  <a:lnTo>
                    <a:pt x="868185" y="0"/>
                  </a:lnTo>
                  <a:close/>
                </a:path>
              </a:pathLst>
            </a:custGeom>
            <a:solidFill>
              <a:srgbClr val="3E6398"/>
            </a:solidFill>
          </p:spPr>
          <p:txBody>
            <a:bodyPr/>
            <a:lstStyle/>
            <a:p>
              <a:endParaRPr lang="en-GB"/>
            </a:p>
          </p:txBody>
        </p:sp>
        <p:sp>
          <p:nvSpPr>
            <p:cNvPr id="8" name="TextBox 8"/>
            <p:cNvSpPr txBox="1"/>
            <p:nvPr/>
          </p:nvSpPr>
          <p:spPr>
            <a:xfrm>
              <a:off x="0" y="-38100"/>
              <a:ext cx="868185" cy="38037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9" name="Group 9"/>
          <p:cNvGrpSpPr/>
          <p:nvPr/>
        </p:nvGrpSpPr>
        <p:grpSpPr>
          <a:xfrm>
            <a:off x="9392030" y="2019300"/>
            <a:ext cx="3296390" cy="1733550"/>
            <a:chOff x="0" y="0"/>
            <a:chExt cx="868185" cy="456573"/>
          </a:xfrm>
        </p:grpSpPr>
        <p:sp>
          <p:nvSpPr>
            <p:cNvPr id="10" name="Freeform 10"/>
            <p:cNvSpPr/>
            <p:nvPr/>
          </p:nvSpPr>
          <p:spPr>
            <a:xfrm>
              <a:off x="0" y="0"/>
              <a:ext cx="868185" cy="456573"/>
            </a:xfrm>
            <a:custGeom>
              <a:avLst/>
              <a:gdLst/>
              <a:ahLst/>
              <a:cxnLst/>
              <a:rect l="l" t="t" r="r" b="b"/>
              <a:pathLst>
                <a:path w="868185" h="456573">
                  <a:moveTo>
                    <a:pt x="868185" y="0"/>
                  </a:moveTo>
                  <a:lnTo>
                    <a:pt x="868185" y="342273"/>
                  </a:lnTo>
                  <a:lnTo>
                    <a:pt x="434092" y="456573"/>
                  </a:lnTo>
                  <a:lnTo>
                    <a:pt x="0" y="342273"/>
                  </a:lnTo>
                  <a:lnTo>
                    <a:pt x="0" y="0"/>
                  </a:lnTo>
                  <a:lnTo>
                    <a:pt x="868185" y="0"/>
                  </a:lnTo>
                  <a:close/>
                </a:path>
              </a:pathLst>
            </a:custGeom>
            <a:solidFill>
              <a:srgbClr val="BEC8DA"/>
            </a:solidFill>
          </p:spPr>
          <p:txBody>
            <a:bodyPr/>
            <a:lstStyle/>
            <a:p>
              <a:endParaRPr lang="en-GB"/>
            </a:p>
          </p:txBody>
        </p:sp>
        <p:sp>
          <p:nvSpPr>
            <p:cNvPr id="11" name="TextBox 11"/>
            <p:cNvSpPr txBox="1"/>
            <p:nvPr/>
          </p:nvSpPr>
          <p:spPr>
            <a:xfrm>
              <a:off x="0" y="-38100"/>
              <a:ext cx="868185" cy="38037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2" name="Group 12"/>
          <p:cNvGrpSpPr/>
          <p:nvPr/>
        </p:nvGrpSpPr>
        <p:grpSpPr>
          <a:xfrm>
            <a:off x="13152805" y="2019300"/>
            <a:ext cx="3296390" cy="1733550"/>
            <a:chOff x="0" y="0"/>
            <a:chExt cx="868185" cy="456573"/>
          </a:xfrm>
        </p:grpSpPr>
        <p:sp>
          <p:nvSpPr>
            <p:cNvPr id="13" name="Freeform 13"/>
            <p:cNvSpPr/>
            <p:nvPr/>
          </p:nvSpPr>
          <p:spPr>
            <a:xfrm>
              <a:off x="0" y="0"/>
              <a:ext cx="868185" cy="456573"/>
            </a:xfrm>
            <a:custGeom>
              <a:avLst/>
              <a:gdLst/>
              <a:ahLst/>
              <a:cxnLst/>
              <a:rect l="l" t="t" r="r" b="b"/>
              <a:pathLst>
                <a:path w="868185" h="456573">
                  <a:moveTo>
                    <a:pt x="868185" y="0"/>
                  </a:moveTo>
                  <a:lnTo>
                    <a:pt x="868185" y="342273"/>
                  </a:lnTo>
                  <a:lnTo>
                    <a:pt x="434092" y="456573"/>
                  </a:lnTo>
                  <a:lnTo>
                    <a:pt x="0" y="342273"/>
                  </a:lnTo>
                  <a:lnTo>
                    <a:pt x="0" y="0"/>
                  </a:lnTo>
                  <a:lnTo>
                    <a:pt x="868185" y="0"/>
                  </a:lnTo>
                  <a:close/>
                </a:path>
              </a:pathLst>
            </a:custGeom>
            <a:solidFill>
              <a:srgbClr val="F68D55"/>
            </a:solidFill>
          </p:spPr>
          <p:txBody>
            <a:bodyPr/>
            <a:lstStyle/>
            <a:p>
              <a:endParaRPr lang="en-GB"/>
            </a:p>
          </p:txBody>
        </p:sp>
        <p:sp>
          <p:nvSpPr>
            <p:cNvPr id="14" name="TextBox 14"/>
            <p:cNvSpPr txBox="1"/>
            <p:nvPr/>
          </p:nvSpPr>
          <p:spPr>
            <a:xfrm>
              <a:off x="0" y="-38100"/>
              <a:ext cx="868185" cy="380373"/>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7" name="Freeform 27"/>
          <p:cNvSpPr/>
          <p:nvPr/>
        </p:nvSpPr>
        <p:spPr>
          <a:xfrm>
            <a:off x="10705537" y="2474104"/>
            <a:ext cx="669376" cy="481951"/>
          </a:xfrm>
          <a:custGeom>
            <a:avLst/>
            <a:gdLst/>
            <a:ahLst/>
            <a:cxnLst/>
            <a:rect l="l" t="t" r="r" b="b"/>
            <a:pathLst>
              <a:path w="669376" h="481951">
                <a:moveTo>
                  <a:pt x="0" y="0"/>
                </a:moveTo>
                <a:lnTo>
                  <a:pt x="669376" y="0"/>
                </a:lnTo>
                <a:lnTo>
                  <a:pt x="669376" y="481951"/>
                </a:lnTo>
                <a:lnTo>
                  <a:pt x="0" y="4819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28" name="Freeform 28"/>
          <p:cNvSpPr/>
          <p:nvPr/>
        </p:nvSpPr>
        <p:spPr>
          <a:xfrm>
            <a:off x="14436272" y="2350352"/>
            <a:ext cx="729456" cy="729456"/>
          </a:xfrm>
          <a:custGeom>
            <a:avLst/>
            <a:gdLst/>
            <a:ahLst/>
            <a:cxnLst/>
            <a:rect l="l" t="t" r="r" b="b"/>
            <a:pathLst>
              <a:path w="729456" h="729456">
                <a:moveTo>
                  <a:pt x="0" y="0"/>
                </a:moveTo>
                <a:lnTo>
                  <a:pt x="729456" y="0"/>
                </a:lnTo>
                <a:lnTo>
                  <a:pt x="729456" y="729456"/>
                </a:lnTo>
                <a:lnTo>
                  <a:pt x="0" y="7294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29" name="Freeform 29"/>
          <p:cNvSpPr/>
          <p:nvPr/>
        </p:nvSpPr>
        <p:spPr>
          <a:xfrm>
            <a:off x="3216108" y="2400934"/>
            <a:ext cx="628291" cy="628291"/>
          </a:xfrm>
          <a:custGeom>
            <a:avLst/>
            <a:gdLst/>
            <a:ahLst/>
            <a:cxnLst/>
            <a:rect l="l" t="t" r="r" b="b"/>
            <a:pathLst>
              <a:path w="628291" h="628291">
                <a:moveTo>
                  <a:pt x="0" y="0"/>
                </a:moveTo>
                <a:lnTo>
                  <a:pt x="628290" y="0"/>
                </a:lnTo>
                <a:lnTo>
                  <a:pt x="628290" y="628291"/>
                </a:lnTo>
                <a:lnTo>
                  <a:pt x="0" y="6282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30" name="Freeform 30"/>
          <p:cNvSpPr/>
          <p:nvPr/>
        </p:nvSpPr>
        <p:spPr>
          <a:xfrm>
            <a:off x="6995412" y="2399343"/>
            <a:ext cx="556712" cy="556712"/>
          </a:xfrm>
          <a:custGeom>
            <a:avLst/>
            <a:gdLst/>
            <a:ahLst/>
            <a:cxnLst/>
            <a:rect l="l" t="t" r="r" b="b"/>
            <a:pathLst>
              <a:path w="556712" h="556712">
                <a:moveTo>
                  <a:pt x="0" y="0"/>
                </a:moveTo>
                <a:lnTo>
                  <a:pt x="556712" y="0"/>
                </a:lnTo>
                <a:lnTo>
                  <a:pt x="556712" y="556712"/>
                </a:lnTo>
                <a:lnTo>
                  <a:pt x="0" y="55671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31" name="TextBox 31"/>
          <p:cNvSpPr txBox="1"/>
          <p:nvPr/>
        </p:nvSpPr>
        <p:spPr>
          <a:xfrm>
            <a:off x="2033605" y="981075"/>
            <a:ext cx="14220789" cy="619400"/>
          </a:xfrm>
          <a:prstGeom prst="rect">
            <a:avLst/>
          </a:prstGeom>
        </p:spPr>
        <p:txBody>
          <a:bodyPr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Conclusion</a:t>
            </a:r>
          </a:p>
        </p:txBody>
      </p:sp>
      <p:sp>
        <p:nvSpPr>
          <p:cNvPr id="33" name="TextBox 33"/>
          <p:cNvSpPr txBox="1"/>
          <p:nvPr/>
        </p:nvSpPr>
        <p:spPr>
          <a:xfrm>
            <a:off x="5660093" y="3079808"/>
            <a:ext cx="3227349" cy="306705"/>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TT Fors Bold"/>
                <a:ea typeface="TT Fors Bold"/>
                <a:cs typeface="TT Fors Bold"/>
                <a:sym typeface="TT Fors Bold"/>
              </a:rPr>
              <a:t>Performance</a:t>
            </a:r>
          </a:p>
        </p:txBody>
      </p:sp>
      <p:sp>
        <p:nvSpPr>
          <p:cNvPr id="34" name="TextBox 34"/>
          <p:cNvSpPr txBox="1"/>
          <p:nvPr/>
        </p:nvSpPr>
        <p:spPr>
          <a:xfrm>
            <a:off x="1916578" y="3079808"/>
            <a:ext cx="3227349" cy="306705"/>
          </a:xfrm>
          <a:prstGeom prst="rect">
            <a:avLst/>
          </a:prstGeom>
        </p:spPr>
        <p:txBody>
          <a:bodyPr lIns="0" tIns="0" rIns="0" bIns="0" rtlCol="0" anchor="t">
            <a:spAutoFit/>
          </a:bodyPr>
          <a:lstStyle/>
          <a:p>
            <a:pPr algn="ctr">
              <a:lnSpc>
                <a:spcPts val="2519"/>
              </a:lnSpc>
              <a:spcBef>
                <a:spcPct val="0"/>
              </a:spcBef>
            </a:pPr>
            <a:r>
              <a:rPr lang="en-US" sz="1799" b="1">
                <a:solidFill>
                  <a:srgbClr val="FFFFFF"/>
                </a:solidFill>
                <a:latin typeface="TT Fors Bold"/>
                <a:ea typeface="TT Fors Bold"/>
                <a:cs typeface="TT Fors Bold"/>
                <a:sym typeface="TT Fors Bold"/>
              </a:rPr>
              <a:t>Category</a:t>
            </a:r>
          </a:p>
        </p:txBody>
      </p:sp>
      <p:sp>
        <p:nvSpPr>
          <p:cNvPr id="35" name="TextBox 35"/>
          <p:cNvSpPr txBox="1"/>
          <p:nvPr/>
        </p:nvSpPr>
        <p:spPr>
          <a:xfrm>
            <a:off x="9426550" y="3079808"/>
            <a:ext cx="3227349" cy="306705"/>
          </a:xfrm>
          <a:prstGeom prst="rect">
            <a:avLst/>
          </a:prstGeom>
        </p:spPr>
        <p:txBody>
          <a:bodyPr lIns="0" tIns="0" rIns="0" bIns="0" rtlCol="0" anchor="t">
            <a:spAutoFit/>
          </a:bodyPr>
          <a:lstStyle/>
          <a:p>
            <a:pPr algn="ctr">
              <a:lnSpc>
                <a:spcPts val="2519"/>
              </a:lnSpc>
              <a:spcBef>
                <a:spcPct val="0"/>
              </a:spcBef>
            </a:pPr>
            <a:r>
              <a:rPr lang="en-US" sz="1799" b="1" dirty="0">
                <a:solidFill>
                  <a:srgbClr val="000000"/>
                </a:solidFill>
                <a:latin typeface="TT Fors Bold"/>
                <a:ea typeface="TT Fors Bold"/>
                <a:cs typeface="TT Fors Bold"/>
                <a:sym typeface="TT Fors Bold"/>
              </a:rPr>
              <a:t>Opportunity</a:t>
            </a:r>
          </a:p>
        </p:txBody>
      </p:sp>
      <p:sp>
        <p:nvSpPr>
          <p:cNvPr id="36" name="TextBox 36"/>
          <p:cNvSpPr txBox="1"/>
          <p:nvPr/>
        </p:nvSpPr>
        <p:spPr>
          <a:xfrm>
            <a:off x="13187326" y="3079808"/>
            <a:ext cx="3227349" cy="306705"/>
          </a:xfrm>
          <a:prstGeom prst="rect">
            <a:avLst/>
          </a:prstGeom>
        </p:spPr>
        <p:txBody>
          <a:bodyPr lIns="0" tIns="0" rIns="0" bIns="0" rtlCol="0" anchor="t">
            <a:spAutoFit/>
          </a:bodyPr>
          <a:lstStyle/>
          <a:p>
            <a:pPr algn="ctr">
              <a:lnSpc>
                <a:spcPts val="2519"/>
              </a:lnSpc>
              <a:spcBef>
                <a:spcPct val="0"/>
              </a:spcBef>
            </a:pPr>
            <a:r>
              <a:rPr lang="en-US" sz="1799" b="1">
                <a:solidFill>
                  <a:srgbClr val="000000"/>
                </a:solidFill>
                <a:latin typeface="TT Fors Bold"/>
                <a:ea typeface="TT Fors Bold"/>
                <a:cs typeface="TT Fors Bold"/>
                <a:sym typeface="TT Fors Bold"/>
              </a:rPr>
              <a:t>Support</a:t>
            </a:r>
          </a:p>
        </p:txBody>
      </p:sp>
      <p:sp>
        <p:nvSpPr>
          <p:cNvPr id="39" name="TextBox 16">
            <a:extLst>
              <a:ext uri="{FF2B5EF4-FFF2-40B4-BE49-F238E27FC236}">
                <a16:creationId xmlns:a16="http://schemas.microsoft.com/office/drawing/2014/main" id="{548F4D09-559D-9A45-2577-CAF8D3D06E4B}"/>
              </a:ext>
            </a:extLst>
          </p:cNvPr>
          <p:cNvSpPr txBox="1"/>
          <p:nvPr/>
        </p:nvSpPr>
        <p:spPr>
          <a:xfrm>
            <a:off x="2231335" y="4119548"/>
            <a:ext cx="2597833" cy="1615827"/>
          </a:xfrm>
          <a:prstGeom prst="rect">
            <a:avLst/>
          </a:prstGeom>
        </p:spPr>
        <p:txBody>
          <a:bodyPr wrap="square" lIns="0" tIns="0" rIns="0" bIns="0" rtlCol="0" anchor="t">
            <a:spAutoFit/>
          </a:bodyPr>
          <a:lstStyle/>
          <a:p>
            <a:r>
              <a:rPr lang="en-GB" sz="2100" dirty="0">
                <a:solidFill>
                  <a:srgbClr val="000000"/>
                </a:solidFill>
                <a:latin typeface="TT Fors"/>
              </a:rPr>
              <a:t>Freelancer earnings vary widely across categories, regions, and experience levels.</a:t>
            </a:r>
          </a:p>
        </p:txBody>
      </p:sp>
      <p:sp>
        <p:nvSpPr>
          <p:cNvPr id="40" name="TextBox 16">
            <a:extLst>
              <a:ext uri="{FF2B5EF4-FFF2-40B4-BE49-F238E27FC236}">
                <a16:creationId xmlns:a16="http://schemas.microsoft.com/office/drawing/2014/main" id="{1039834C-4A97-6300-A52D-9E9C8679789F}"/>
              </a:ext>
            </a:extLst>
          </p:cNvPr>
          <p:cNvSpPr txBox="1"/>
          <p:nvPr/>
        </p:nvSpPr>
        <p:spPr>
          <a:xfrm>
            <a:off x="6021516" y="4132893"/>
            <a:ext cx="2597833" cy="1292662"/>
          </a:xfrm>
          <a:prstGeom prst="rect">
            <a:avLst/>
          </a:prstGeom>
        </p:spPr>
        <p:txBody>
          <a:bodyPr wrap="square" lIns="0" tIns="0" rIns="0" bIns="0" rtlCol="0" anchor="t">
            <a:spAutoFit/>
          </a:bodyPr>
          <a:lstStyle/>
          <a:p>
            <a:r>
              <a:rPr lang="en-GB" sz="2100" dirty="0">
                <a:solidFill>
                  <a:srgbClr val="000000"/>
                </a:solidFill>
                <a:latin typeface="TT Fors"/>
              </a:rPr>
              <a:t>Graphic design emerged as the highest‑earning job category.</a:t>
            </a:r>
          </a:p>
        </p:txBody>
      </p:sp>
      <p:sp>
        <p:nvSpPr>
          <p:cNvPr id="41" name="TextBox 16">
            <a:extLst>
              <a:ext uri="{FF2B5EF4-FFF2-40B4-BE49-F238E27FC236}">
                <a16:creationId xmlns:a16="http://schemas.microsoft.com/office/drawing/2014/main" id="{92B820B5-C26C-CE4F-57B4-94272F4D2805}"/>
              </a:ext>
            </a:extLst>
          </p:cNvPr>
          <p:cNvSpPr txBox="1"/>
          <p:nvPr/>
        </p:nvSpPr>
        <p:spPr>
          <a:xfrm>
            <a:off x="5931157" y="5917163"/>
            <a:ext cx="2597833" cy="1292662"/>
          </a:xfrm>
          <a:prstGeom prst="rect">
            <a:avLst/>
          </a:prstGeom>
        </p:spPr>
        <p:txBody>
          <a:bodyPr wrap="square" lIns="0" tIns="0" rIns="0" bIns="0" rtlCol="0" anchor="t">
            <a:spAutoFit/>
          </a:bodyPr>
          <a:lstStyle/>
          <a:p>
            <a:r>
              <a:rPr lang="en-GB" sz="2100" dirty="0">
                <a:solidFill>
                  <a:srgbClr val="000000"/>
                </a:solidFill>
                <a:latin typeface="TT Fors"/>
              </a:rPr>
              <a:t>Intermediate freelancers earned the highest average hourly rate.</a:t>
            </a:r>
          </a:p>
        </p:txBody>
      </p:sp>
      <p:sp>
        <p:nvSpPr>
          <p:cNvPr id="42" name="TextBox 16">
            <a:extLst>
              <a:ext uri="{FF2B5EF4-FFF2-40B4-BE49-F238E27FC236}">
                <a16:creationId xmlns:a16="http://schemas.microsoft.com/office/drawing/2014/main" id="{F7E5EDF3-BBD2-8239-8454-A79364C46ED7}"/>
              </a:ext>
            </a:extLst>
          </p:cNvPr>
          <p:cNvSpPr txBox="1"/>
          <p:nvPr/>
        </p:nvSpPr>
        <p:spPr>
          <a:xfrm>
            <a:off x="2231334" y="6102073"/>
            <a:ext cx="2597833" cy="969496"/>
          </a:xfrm>
          <a:prstGeom prst="rect">
            <a:avLst/>
          </a:prstGeom>
        </p:spPr>
        <p:txBody>
          <a:bodyPr wrap="square" lIns="0" tIns="0" rIns="0" bIns="0" rtlCol="0" anchor="t">
            <a:spAutoFit/>
          </a:bodyPr>
          <a:lstStyle/>
          <a:p>
            <a:r>
              <a:rPr lang="en-GB" sz="2100" dirty="0">
                <a:solidFill>
                  <a:srgbClr val="000000"/>
                </a:solidFill>
                <a:latin typeface="TT Fors"/>
              </a:rPr>
              <a:t>Australia recorded the highest regional earnings.</a:t>
            </a:r>
          </a:p>
        </p:txBody>
      </p:sp>
      <p:sp>
        <p:nvSpPr>
          <p:cNvPr id="44" name="TextBox 43">
            <a:extLst>
              <a:ext uri="{FF2B5EF4-FFF2-40B4-BE49-F238E27FC236}">
                <a16:creationId xmlns:a16="http://schemas.microsoft.com/office/drawing/2014/main" id="{9D3514C6-7E0A-2C14-17F6-8E015B756FA8}"/>
              </a:ext>
            </a:extLst>
          </p:cNvPr>
          <p:cNvSpPr txBox="1"/>
          <p:nvPr/>
        </p:nvSpPr>
        <p:spPr>
          <a:xfrm>
            <a:off x="13187326" y="4092617"/>
            <a:ext cx="3606010" cy="2354491"/>
          </a:xfrm>
          <a:prstGeom prst="rect">
            <a:avLst/>
          </a:prstGeom>
          <a:noFill/>
        </p:spPr>
        <p:txBody>
          <a:bodyPr wrap="square">
            <a:spAutoFit/>
          </a:bodyPr>
          <a:lstStyle/>
          <a:p>
            <a:r>
              <a:rPr lang="en-GB" sz="2100" dirty="0">
                <a:solidFill>
                  <a:srgbClr val="000000"/>
                </a:solidFill>
                <a:latin typeface="TT Fors"/>
              </a:rPr>
              <a:t>Overall, the dashboard demonstrates that strategic marketing, skill development, and strong client relationships are key drivers of success in the freelance marketplace. </a:t>
            </a:r>
          </a:p>
        </p:txBody>
      </p:sp>
      <p:sp>
        <p:nvSpPr>
          <p:cNvPr id="46" name="TextBox 45">
            <a:extLst>
              <a:ext uri="{FF2B5EF4-FFF2-40B4-BE49-F238E27FC236}">
                <a16:creationId xmlns:a16="http://schemas.microsoft.com/office/drawing/2014/main" id="{57E6013D-7895-95B5-2A29-27A9A7EFE004}"/>
              </a:ext>
            </a:extLst>
          </p:cNvPr>
          <p:cNvSpPr txBox="1"/>
          <p:nvPr/>
        </p:nvSpPr>
        <p:spPr>
          <a:xfrm>
            <a:off x="9801865" y="4207654"/>
            <a:ext cx="2597833" cy="2677656"/>
          </a:xfrm>
          <a:prstGeom prst="rect">
            <a:avLst/>
          </a:prstGeom>
          <a:noFill/>
        </p:spPr>
        <p:txBody>
          <a:bodyPr wrap="square">
            <a:spAutoFit/>
          </a:bodyPr>
          <a:lstStyle/>
          <a:p>
            <a:r>
              <a:rPr lang="en-GB" sz="2100" dirty="0">
                <a:solidFill>
                  <a:srgbClr val="000000"/>
                </a:solidFill>
                <a:latin typeface="TT Fors"/>
              </a:rPr>
              <a:t>Maintaining high client ratings and job success rates increases the likelihood of repeat work and long-term success for freelancers.</a:t>
            </a:r>
          </a:p>
        </p:txBody>
      </p:sp>
      <p:sp>
        <p:nvSpPr>
          <p:cNvPr id="48" name="TextBox 47">
            <a:extLst>
              <a:ext uri="{FF2B5EF4-FFF2-40B4-BE49-F238E27FC236}">
                <a16:creationId xmlns:a16="http://schemas.microsoft.com/office/drawing/2014/main" id="{E5BC7BEC-18E9-6BF1-2163-D0D38F76CA21}"/>
              </a:ext>
            </a:extLst>
          </p:cNvPr>
          <p:cNvSpPr txBox="1"/>
          <p:nvPr/>
        </p:nvSpPr>
        <p:spPr>
          <a:xfrm>
            <a:off x="13189784" y="6786875"/>
            <a:ext cx="3276600" cy="2354491"/>
          </a:xfrm>
          <a:prstGeom prst="rect">
            <a:avLst/>
          </a:prstGeom>
          <a:noFill/>
        </p:spPr>
        <p:txBody>
          <a:bodyPr wrap="square">
            <a:spAutoFit/>
          </a:bodyPr>
          <a:lstStyle/>
          <a:p>
            <a:r>
              <a:rPr lang="en-GB" sz="2100" dirty="0">
                <a:solidFill>
                  <a:srgbClr val="000000"/>
                </a:solidFill>
                <a:latin typeface="TT Fors"/>
              </a:rPr>
              <a:t>These insights can help freelancers, businesses, and policymakers make better decisions and improve opportunities within the growing gig economy.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p:cNvGrpSpPr/>
        <p:nvPr/>
      </p:nvGrpSpPr>
      <p:grpSpPr>
        <a:xfrm>
          <a:off x="0" y="0"/>
          <a:ext cx="0" cy="0"/>
          <a:chOff x="0" y="0"/>
          <a:chExt cx="0" cy="0"/>
        </a:xfrm>
      </p:grpSpPr>
      <p:sp>
        <p:nvSpPr>
          <p:cNvPr id="2" name="Freeform 2"/>
          <p:cNvSpPr/>
          <p:nvPr/>
        </p:nvSpPr>
        <p:spPr>
          <a:xfrm>
            <a:off x="4510700" y="3226231"/>
            <a:ext cx="4462381"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3" name="Freeform 3"/>
          <p:cNvSpPr/>
          <p:nvPr/>
        </p:nvSpPr>
        <p:spPr>
          <a:xfrm>
            <a:off x="4510700" y="6001880"/>
            <a:ext cx="4462381"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4" name="Group 4"/>
          <p:cNvGrpSpPr/>
          <p:nvPr/>
        </p:nvGrpSpPr>
        <p:grpSpPr>
          <a:xfrm>
            <a:off x="4513847" y="1945884"/>
            <a:ext cx="3997104" cy="1946145"/>
            <a:chOff x="0" y="0"/>
            <a:chExt cx="1174449" cy="512565"/>
          </a:xfrm>
        </p:grpSpPr>
        <p:sp>
          <p:nvSpPr>
            <p:cNvPr id="5" name="Freeform 5"/>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6" name="TextBox 6"/>
            <p:cNvSpPr txBox="1"/>
            <p:nvPr/>
          </p:nvSpPr>
          <p:spPr>
            <a:xfrm>
              <a:off x="0" y="-38100"/>
              <a:ext cx="1174449" cy="550665"/>
            </a:xfrm>
            <a:prstGeom prst="rect">
              <a:avLst/>
            </a:prstGeom>
          </p:spPr>
          <p:txBody>
            <a:bodyPr lIns="50800" tIns="50800" rIns="50800" bIns="50800" rtlCol="0" anchor="ctr"/>
            <a:lstStyle/>
            <a:p>
              <a:pPr algn="ctr">
                <a:lnSpc>
                  <a:spcPts val="2520"/>
                </a:lnSpc>
              </a:pPr>
              <a:endParaRPr/>
            </a:p>
          </p:txBody>
        </p:sp>
      </p:grpSp>
      <p:grpSp>
        <p:nvGrpSpPr>
          <p:cNvPr id="7" name="Group 7"/>
          <p:cNvGrpSpPr/>
          <p:nvPr/>
        </p:nvGrpSpPr>
        <p:grpSpPr>
          <a:xfrm>
            <a:off x="4513847" y="4721532"/>
            <a:ext cx="4020554" cy="1946145"/>
            <a:chOff x="0" y="0"/>
            <a:chExt cx="1174449" cy="512565"/>
          </a:xfrm>
        </p:grpSpPr>
        <p:sp>
          <p:nvSpPr>
            <p:cNvPr id="8" name="Freeform 8"/>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9" name="TextBox 9"/>
            <p:cNvSpPr txBox="1"/>
            <p:nvPr/>
          </p:nvSpPr>
          <p:spPr>
            <a:xfrm>
              <a:off x="0" y="-38100"/>
              <a:ext cx="1174449" cy="550665"/>
            </a:xfrm>
            <a:prstGeom prst="rect">
              <a:avLst/>
            </a:prstGeom>
          </p:spPr>
          <p:txBody>
            <a:bodyPr lIns="50800" tIns="50800" rIns="50800" bIns="50800" rtlCol="0" anchor="ctr"/>
            <a:lstStyle/>
            <a:p>
              <a:pPr algn="ctr">
                <a:lnSpc>
                  <a:spcPts val="2520"/>
                </a:lnSpc>
              </a:pPr>
              <a:endParaRPr/>
            </a:p>
          </p:txBody>
        </p:sp>
      </p:grpSp>
      <p:sp>
        <p:nvSpPr>
          <p:cNvPr id="10" name="Freeform 10"/>
          <p:cNvSpPr/>
          <p:nvPr/>
        </p:nvSpPr>
        <p:spPr>
          <a:xfrm>
            <a:off x="4510700" y="8777528"/>
            <a:ext cx="4462381"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11" name="Group 11"/>
          <p:cNvGrpSpPr/>
          <p:nvPr/>
        </p:nvGrpSpPr>
        <p:grpSpPr>
          <a:xfrm>
            <a:off x="4513846" y="7497181"/>
            <a:ext cx="3997105" cy="1946145"/>
            <a:chOff x="0" y="0"/>
            <a:chExt cx="1174449" cy="512565"/>
          </a:xfrm>
        </p:grpSpPr>
        <p:sp>
          <p:nvSpPr>
            <p:cNvPr id="12" name="Freeform 12"/>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3" name="TextBox 13"/>
            <p:cNvSpPr txBox="1"/>
            <p:nvPr/>
          </p:nvSpPr>
          <p:spPr>
            <a:xfrm>
              <a:off x="0" y="-38100"/>
              <a:ext cx="1174449" cy="550665"/>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5200414" y="1848337"/>
            <a:ext cx="3086100" cy="195093"/>
            <a:chOff x="0" y="0"/>
            <a:chExt cx="812800" cy="51383"/>
          </a:xfrm>
        </p:grpSpPr>
        <p:sp>
          <p:nvSpPr>
            <p:cNvPr id="15" name="Freeform 15"/>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122359"/>
            </a:solidFill>
          </p:spPr>
          <p:txBody>
            <a:bodyPr/>
            <a:lstStyle/>
            <a:p>
              <a:endParaRPr lang="en-GB"/>
            </a:p>
          </p:txBody>
        </p:sp>
        <p:sp>
          <p:nvSpPr>
            <p:cNvPr id="16" name="TextBox 16"/>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7" name="Group 17"/>
          <p:cNvGrpSpPr/>
          <p:nvPr/>
        </p:nvGrpSpPr>
        <p:grpSpPr>
          <a:xfrm>
            <a:off x="5200414" y="4623985"/>
            <a:ext cx="3086100" cy="195093"/>
            <a:chOff x="0" y="0"/>
            <a:chExt cx="812800" cy="51383"/>
          </a:xfrm>
        </p:grpSpPr>
        <p:sp>
          <p:nvSpPr>
            <p:cNvPr id="18" name="Freeform 18"/>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3E6398"/>
            </a:solidFill>
          </p:spPr>
          <p:txBody>
            <a:bodyPr/>
            <a:lstStyle/>
            <a:p>
              <a:endParaRPr lang="en-GB"/>
            </a:p>
          </p:txBody>
        </p:sp>
        <p:sp>
          <p:nvSpPr>
            <p:cNvPr id="19" name="TextBox 19"/>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20" name="Group 20"/>
          <p:cNvGrpSpPr/>
          <p:nvPr/>
        </p:nvGrpSpPr>
        <p:grpSpPr>
          <a:xfrm>
            <a:off x="5200414" y="7399634"/>
            <a:ext cx="3086100" cy="195093"/>
            <a:chOff x="0" y="0"/>
            <a:chExt cx="812800" cy="51383"/>
          </a:xfrm>
        </p:grpSpPr>
        <p:sp>
          <p:nvSpPr>
            <p:cNvPr id="21" name="Freeform 21"/>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6"/>
            </a:solidFill>
          </p:spPr>
          <p:txBody>
            <a:bodyPr/>
            <a:lstStyle/>
            <a:p>
              <a:endParaRPr lang="en-GB"/>
            </a:p>
          </p:txBody>
        </p:sp>
        <p:sp>
          <p:nvSpPr>
            <p:cNvPr id="22" name="TextBox 22"/>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23" name="Group 23"/>
          <p:cNvGrpSpPr/>
          <p:nvPr/>
        </p:nvGrpSpPr>
        <p:grpSpPr>
          <a:xfrm>
            <a:off x="3405192" y="2055166"/>
            <a:ext cx="1484639" cy="1727579"/>
            <a:chOff x="0" y="0"/>
            <a:chExt cx="698500" cy="812800"/>
          </a:xfrm>
        </p:grpSpPr>
        <p:sp>
          <p:nvSpPr>
            <p:cNvPr id="24" name="Freeform 24"/>
            <p:cNvSpPr/>
            <p:nvPr/>
          </p:nvSpPr>
          <p:spPr>
            <a:xfrm>
              <a:off x="0" y="12088"/>
              <a:ext cx="698500" cy="788624"/>
            </a:xfrm>
            <a:custGeom>
              <a:avLst/>
              <a:gdLst/>
              <a:ahLst/>
              <a:cxnLst/>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a:srgbClr val="122359"/>
            </a:solidFill>
          </p:spPr>
          <p:txBody>
            <a:bodyPr/>
            <a:lstStyle/>
            <a:p>
              <a:endParaRPr lang="en-GB"/>
            </a:p>
          </p:txBody>
        </p:sp>
        <p:sp>
          <p:nvSpPr>
            <p:cNvPr id="25" name="TextBox 25"/>
            <p:cNvSpPr txBox="1"/>
            <p:nvPr/>
          </p:nvSpPr>
          <p:spPr>
            <a:xfrm>
              <a:off x="0" y="101600"/>
              <a:ext cx="698500" cy="571500"/>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26" name="Group 26"/>
          <p:cNvGrpSpPr/>
          <p:nvPr/>
        </p:nvGrpSpPr>
        <p:grpSpPr>
          <a:xfrm>
            <a:off x="3405192" y="4830815"/>
            <a:ext cx="1484639" cy="1727579"/>
            <a:chOff x="0" y="0"/>
            <a:chExt cx="698500" cy="812800"/>
          </a:xfrm>
        </p:grpSpPr>
        <p:sp>
          <p:nvSpPr>
            <p:cNvPr id="27" name="Freeform 27"/>
            <p:cNvSpPr/>
            <p:nvPr/>
          </p:nvSpPr>
          <p:spPr>
            <a:xfrm>
              <a:off x="0" y="12088"/>
              <a:ext cx="698500" cy="788624"/>
            </a:xfrm>
            <a:custGeom>
              <a:avLst/>
              <a:gdLst/>
              <a:ahLst/>
              <a:cxnLst/>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a:srgbClr val="3E6398"/>
            </a:solidFill>
          </p:spPr>
          <p:txBody>
            <a:bodyPr/>
            <a:lstStyle/>
            <a:p>
              <a:endParaRPr lang="en-GB"/>
            </a:p>
          </p:txBody>
        </p:sp>
        <p:sp>
          <p:nvSpPr>
            <p:cNvPr id="28" name="TextBox 28"/>
            <p:cNvSpPr txBox="1"/>
            <p:nvPr/>
          </p:nvSpPr>
          <p:spPr>
            <a:xfrm>
              <a:off x="0" y="101600"/>
              <a:ext cx="698500" cy="571500"/>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29" name="Group 29"/>
          <p:cNvGrpSpPr/>
          <p:nvPr/>
        </p:nvGrpSpPr>
        <p:grpSpPr>
          <a:xfrm>
            <a:off x="3405192" y="7606464"/>
            <a:ext cx="1484639" cy="1727579"/>
            <a:chOff x="0" y="0"/>
            <a:chExt cx="698500" cy="812800"/>
          </a:xfrm>
        </p:grpSpPr>
        <p:sp>
          <p:nvSpPr>
            <p:cNvPr id="30" name="Freeform 30"/>
            <p:cNvSpPr/>
            <p:nvPr/>
          </p:nvSpPr>
          <p:spPr>
            <a:xfrm>
              <a:off x="0" y="12088"/>
              <a:ext cx="698500" cy="788624"/>
            </a:xfrm>
            <a:custGeom>
              <a:avLst/>
              <a:gdLst/>
              <a:ahLst/>
              <a:cxnLst/>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a:srgbClr val="F68D56"/>
            </a:solidFill>
          </p:spPr>
          <p:txBody>
            <a:bodyPr/>
            <a:lstStyle/>
            <a:p>
              <a:endParaRPr lang="en-GB"/>
            </a:p>
          </p:txBody>
        </p:sp>
        <p:sp>
          <p:nvSpPr>
            <p:cNvPr id="31" name="TextBox 31"/>
            <p:cNvSpPr txBox="1"/>
            <p:nvPr/>
          </p:nvSpPr>
          <p:spPr>
            <a:xfrm>
              <a:off x="0" y="101600"/>
              <a:ext cx="698500" cy="571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58" name="AutoShape 58"/>
          <p:cNvSpPr/>
          <p:nvPr/>
        </p:nvSpPr>
        <p:spPr>
          <a:xfrm flipV="1">
            <a:off x="8503577" y="8558961"/>
            <a:ext cx="1561010" cy="1"/>
          </a:xfrm>
          <a:prstGeom prst="line">
            <a:avLst/>
          </a:prstGeom>
          <a:ln w="38100" cap="flat">
            <a:solidFill>
              <a:srgbClr val="A9B4CD"/>
            </a:solidFill>
            <a:prstDash val="solid"/>
            <a:headEnd type="none" w="sm" len="sm"/>
            <a:tailEnd type="none" w="sm" len="sm"/>
          </a:ln>
        </p:spPr>
        <p:txBody>
          <a:bodyPr/>
          <a:lstStyle/>
          <a:p>
            <a:endParaRPr lang="en-GB"/>
          </a:p>
        </p:txBody>
      </p:sp>
      <p:sp>
        <p:nvSpPr>
          <p:cNvPr id="59" name="Freeform 59"/>
          <p:cNvSpPr/>
          <p:nvPr/>
        </p:nvSpPr>
        <p:spPr>
          <a:xfrm>
            <a:off x="3799708" y="2571153"/>
            <a:ext cx="695606" cy="695606"/>
          </a:xfrm>
          <a:custGeom>
            <a:avLst/>
            <a:gdLst/>
            <a:ahLst/>
            <a:cxnLst/>
            <a:rect l="l" t="t" r="r" b="b"/>
            <a:pathLst>
              <a:path w="695606" h="695606">
                <a:moveTo>
                  <a:pt x="0" y="0"/>
                </a:moveTo>
                <a:lnTo>
                  <a:pt x="695606" y="0"/>
                </a:lnTo>
                <a:lnTo>
                  <a:pt x="695606" y="695606"/>
                </a:lnTo>
                <a:lnTo>
                  <a:pt x="0" y="6956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0" name="Freeform 60"/>
          <p:cNvSpPr/>
          <p:nvPr/>
        </p:nvSpPr>
        <p:spPr>
          <a:xfrm>
            <a:off x="3818239" y="8140982"/>
            <a:ext cx="658543" cy="658543"/>
          </a:xfrm>
          <a:custGeom>
            <a:avLst/>
            <a:gdLst/>
            <a:ahLst/>
            <a:cxnLst/>
            <a:rect l="l" t="t" r="r" b="b"/>
            <a:pathLst>
              <a:path w="658543" h="658543">
                <a:moveTo>
                  <a:pt x="0" y="0"/>
                </a:moveTo>
                <a:lnTo>
                  <a:pt x="658544" y="0"/>
                </a:lnTo>
                <a:lnTo>
                  <a:pt x="658544" y="658543"/>
                </a:lnTo>
                <a:lnTo>
                  <a:pt x="0" y="6585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61" name="Freeform 61"/>
          <p:cNvSpPr/>
          <p:nvPr/>
        </p:nvSpPr>
        <p:spPr>
          <a:xfrm>
            <a:off x="3799708" y="5346801"/>
            <a:ext cx="695606" cy="695606"/>
          </a:xfrm>
          <a:custGeom>
            <a:avLst/>
            <a:gdLst/>
            <a:ahLst/>
            <a:cxnLst/>
            <a:rect l="l" t="t" r="r" b="b"/>
            <a:pathLst>
              <a:path w="695606" h="695606">
                <a:moveTo>
                  <a:pt x="0" y="0"/>
                </a:moveTo>
                <a:lnTo>
                  <a:pt x="695606" y="0"/>
                </a:lnTo>
                <a:lnTo>
                  <a:pt x="695606" y="695607"/>
                </a:lnTo>
                <a:lnTo>
                  <a:pt x="0" y="6956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2" name="TextBox 62"/>
          <p:cNvSpPr txBox="1"/>
          <p:nvPr/>
        </p:nvSpPr>
        <p:spPr>
          <a:xfrm>
            <a:off x="6618685" y="470114"/>
            <a:ext cx="5050630" cy="619400"/>
          </a:xfrm>
          <a:prstGeom prst="rect">
            <a:avLst/>
          </a:prstGeom>
        </p:spPr>
        <p:txBody>
          <a:bodyPr wrap="square"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Recommendations</a:t>
            </a:r>
          </a:p>
        </p:txBody>
      </p:sp>
      <p:sp>
        <p:nvSpPr>
          <p:cNvPr id="66" name="TextBox 66"/>
          <p:cNvSpPr txBox="1"/>
          <p:nvPr/>
        </p:nvSpPr>
        <p:spPr>
          <a:xfrm>
            <a:off x="5007020" y="2567100"/>
            <a:ext cx="4015636" cy="653384"/>
          </a:xfrm>
          <a:prstGeom prst="rect">
            <a:avLst/>
          </a:prstGeom>
        </p:spPr>
        <p:txBody>
          <a:bodyPr wrap="square" lIns="0" tIns="0" rIns="0" bIns="0" rtlCol="0" anchor="t">
            <a:spAutoFit/>
          </a:bodyPr>
          <a:lstStyle/>
          <a:p>
            <a:pPr>
              <a:lnSpc>
                <a:spcPts val="2519"/>
              </a:lnSpc>
              <a:spcBef>
                <a:spcPct val="0"/>
              </a:spcBef>
            </a:pPr>
            <a:r>
              <a:rPr lang="en-GB" sz="2400" b="1" dirty="0">
                <a:solidFill>
                  <a:srgbClr val="000000"/>
                </a:solidFill>
                <a:latin typeface="TT Fors Bold"/>
              </a:rPr>
              <a:t>Increase Investment </a:t>
            </a:r>
          </a:p>
          <a:p>
            <a:pPr>
              <a:lnSpc>
                <a:spcPts val="2519"/>
              </a:lnSpc>
              <a:spcBef>
                <a:spcPct val="0"/>
              </a:spcBef>
            </a:pPr>
            <a:r>
              <a:rPr lang="en-GB" sz="2400" b="1" dirty="0">
                <a:solidFill>
                  <a:srgbClr val="000000"/>
                </a:solidFill>
                <a:latin typeface="TT Fors Bold"/>
              </a:rPr>
              <a:t>in Marketing</a:t>
            </a:r>
            <a:endParaRPr lang="en-US" sz="2400" b="1" dirty="0">
              <a:solidFill>
                <a:srgbClr val="000000"/>
              </a:solidFill>
              <a:latin typeface="TT Fors Bold"/>
              <a:sym typeface="TT Fors Bold"/>
            </a:endParaRPr>
          </a:p>
        </p:txBody>
      </p:sp>
      <p:sp>
        <p:nvSpPr>
          <p:cNvPr id="67" name="TextBox 67"/>
          <p:cNvSpPr txBox="1"/>
          <p:nvPr/>
        </p:nvSpPr>
        <p:spPr>
          <a:xfrm>
            <a:off x="5036574" y="5131231"/>
            <a:ext cx="3366572" cy="1294585"/>
          </a:xfrm>
          <a:prstGeom prst="rect">
            <a:avLst/>
          </a:prstGeom>
        </p:spPr>
        <p:txBody>
          <a:bodyPr lIns="0" tIns="0" rIns="0" bIns="0" rtlCol="0" anchor="t">
            <a:spAutoFit/>
          </a:bodyPr>
          <a:lstStyle/>
          <a:p>
            <a:pPr>
              <a:lnSpc>
                <a:spcPts val="2519"/>
              </a:lnSpc>
              <a:spcBef>
                <a:spcPct val="0"/>
              </a:spcBef>
            </a:pPr>
            <a:r>
              <a:rPr lang="en-GB" sz="2400" b="1" dirty="0">
                <a:solidFill>
                  <a:srgbClr val="000000"/>
                </a:solidFill>
                <a:latin typeface="TT Fors Bold"/>
              </a:rPr>
              <a:t>Focus on High-Earning Job Categories</a:t>
            </a:r>
            <a:endParaRPr lang="en-US" sz="2400" b="1" dirty="0">
              <a:solidFill>
                <a:srgbClr val="000000"/>
              </a:solidFill>
              <a:latin typeface="TT Fors Bold"/>
              <a:sym typeface="TT Fors Bold"/>
            </a:endParaRPr>
          </a:p>
          <a:p>
            <a:pPr algn="l">
              <a:lnSpc>
                <a:spcPts val="2519"/>
              </a:lnSpc>
              <a:spcBef>
                <a:spcPct val="0"/>
              </a:spcBef>
            </a:pPr>
            <a:endParaRPr lang="en-US" sz="2400" b="1" dirty="0">
              <a:solidFill>
                <a:srgbClr val="000000"/>
              </a:solidFill>
              <a:latin typeface="TT Fors Bold"/>
              <a:ea typeface="TT Fors Bold"/>
              <a:cs typeface="TT Fors Bold"/>
              <a:sym typeface="TT Fors Bold"/>
            </a:endParaRPr>
          </a:p>
        </p:txBody>
      </p:sp>
      <p:sp>
        <p:nvSpPr>
          <p:cNvPr id="69" name="TextBox 69"/>
          <p:cNvSpPr txBox="1"/>
          <p:nvPr/>
        </p:nvSpPr>
        <p:spPr>
          <a:xfrm>
            <a:off x="5026685" y="8079532"/>
            <a:ext cx="3366572" cy="973985"/>
          </a:xfrm>
          <a:prstGeom prst="rect">
            <a:avLst/>
          </a:prstGeom>
        </p:spPr>
        <p:txBody>
          <a:bodyPr lIns="0" tIns="0" rIns="0" bIns="0" rtlCol="0" anchor="t">
            <a:spAutoFit/>
          </a:bodyPr>
          <a:lstStyle/>
          <a:p>
            <a:pPr>
              <a:lnSpc>
                <a:spcPts val="2519"/>
              </a:lnSpc>
              <a:spcBef>
                <a:spcPct val="0"/>
              </a:spcBef>
            </a:pPr>
            <a:r>
              <a:rPr lang="en-GB" sz="2400" b="1" dirty="0">
                <a:solidFill>
                  <a:srgbClr val="000000"/>
                </a:solidFill>
                <a:latin typeface="TT Fors Bold"/>
              </a:rPr>
              <a:t>Improve Skills and Professional Experience</a:t>
            </a:r>
            <a:endParaRPr lang="en-US" sz="2400" b="1" dirty="0">
              <a:solidFill>
                <a:srgbClr val="000000"/>
              </a:solidFill>
              <a:latin typeface="TT Fors Bold"/>
              <a:sym typeface="TT Fors Bold"/>
            </a:endParaRPr>
          </a:p>
        </p:txBody>
      </p:sp>
      <p:sp>
        <p:nvSpPr>
          <p:cNvPr id="70" name="AutoShape 58">
            <a:extLst>
              <a:ext uri="{FF2B5EF4-FFF2-40B4-BE49-F238E27FC236}">
                <a16:creationId xmlns:a16="http://schemas.microsoft.com/office/drawing/2014/main" id="{299A6690-9A26-B4C7-2133-27C0DF0A0F4B}"/>
              </a:ext>
            </a:extLst>
          </p:cNvPr>
          <p:cNvSpPr/>
          <p:nvPr/>
        </p:nvSpPr>
        <p:spPr>
          <a:xfrm flipV="1">
            <a:off x="8549889" y="5731389"/>
            <a:ext cx="1561010" cy="1"/>
          </a:xfrm>
          <a:prstGeom prst="line">
            <a:avLst/>
          </a:prstGeom>
          <a:ln w="38100" cap="flat">
            <a:solidFill>
              <a:srgbClr val="A9B4CD"/>
            </a:solidFill>
            <a:prstDash val="solid"/>
            <a:headEnd type="none" w="sm" len="sm"/>
            <a:tailEnd type="none" w="sm" len="sm"/>
          </a:ln>
        </p:spPr>
        <p:txBody>
          <a:bodyPr/>
          <a:lstStyle/>
          <a:p>
            <a:endParaRPr lang="en-GB"/>
          </a:p>
        </p:txBody>
      </p:sp>
      <p:sp>
        <p:nvSpPr>
          <p:cNvPr id="71" name="AutoShape 58">
            <a:extLst>
              <a:ext uri="{FF2B5EF4-FFF2-40B4-BE49-F238E27FC236}">
                <a16:creationId xmlns:a16="http://schemas.microsoft.com/office/drawing/2014/main" id="{3B554614-50A2-9B2C-3335-32BC9F982893}"/>
              </a:ext>
            </a:extLst>
          </p:cNvPr>
          <p:cNvSpPr/>
          <p:nvPr/>
        </p:nvSpPr>
        <p:spPr>
          <a:xfrm flipV="1">
            <a:off x="8534400" y="2857500"/>
            <a:ext cx="1561010" cy="1"/>
          </a:xfrm>
          <a:prstGeom prst="line">
            <a:avLst/>
          </a:prstGeom>
          <a:ln w="38100" cap="flat">
            <a:solidFill>
              <a:srgbClr val="A9B4CD"/>
            </a:solidFill>
            <a:prstDash val="solid"/>
            <a:headEnd type="none" w="sm" len="sm"/>
            <a:tailEnd type="none" w="sm" len="sm"/>
          </a:ln>
        </p:spPr>
        <p:txBody>
          <a:bodyPr/>
          <a:lstStyle/>
          <a:p>
            <a:endParaRPr lang="en-GB"/>
          </a:p>
        </p:txBody>
      </p:sp>
      <p:sp>
        <p:nvSpPr>
          <p:cNvPr id="93" name="Freeform 2">
            <a:extLst>
              <a:ext uri="{FF2B5EF4-FFF2-40B4-BE49-F238E27FC236}">
                <a16:creationId xmlns:a16="http://schemas.microsoft.com/office/drawing/2014/main" id="{064A7CC7-F770-ECEB-DB88-A97E83DF12C8}"/>
              </a:ext>
            </a:extLst>
          </p:cNvPr>
          <p:cNvSpPr/>
          <p:nvPr/>
        </p:nvSpPr>
        <p:spPr>
          <a:xfrm>
            <a:off x="10088036" y="3220484"/>
            <a:ext cx="4462381"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94" name="Freeform 3">
            <a:extLst>
              <a:ext uri="{FF2B5EF4-FFF2-40B4-BE49-F238E27FC236}">
                <a16:creationId xmlns:a16="http://schemas.microsoft.com/office/drawing/2014/main" id="{0520E97C-745C-5B85-615F-04F7D71FC089}"/>
              </a:ext>
            </a:extLst>
          </p:cNvPr>
          <p:cNvSpPr/>
          <p:nvPr/>
        </p:nvSpPr>
        <p:spPr>
          <a:xfrm>
            <a:off x="10088036" y="5996133"/>
            <a:ext cx="4462381"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95" name="Group 4">
            <a:extLst>
              <a:ext uri="{FF2B5EF4-FFF2-40B4-BE49-F238E27FC236}">
                <a16:creationId xmlns:a16="http://schemas.microsoft.com/office/drawing/2014/main" id="{3B749710-6DB0-6259-55BD-66BACF05ECD1}"/>
              </a:ext>
            </a:extLst>
          </p:cNvPr>
          <p:cNvGrpSpPr/>
          <p:nvPr/>
        </p:nvGrpSpPr>
        <p:grpSpPr>
          <a:xfrm>
            <a:off x="10091183" y="1940137"/>
            <a:ext cx="3997104" cy="1946145"/>
            <a:chOff x="0" y="0"/>
            <a:chExt cx="1174449" cy="512565"/>
          </a:xfrm>
        </p:grpSpPr>
        <p:sp>
          <p:nvSpPr>
            <p:cNvPr id="96" name="Freeform 5">
              <a:extLst>
                <a:ext uri="{FF2B5EF4-FFF2-40B4-BE49-F238E27FC236}">
                  <a16:creationId xmlns:a16="http://schemas.microsoft.com/office/drawing/2014/main" id="{D03B40DB-7246-2210-1C77-62E96456B647}"/>
                </a:ext>
              </a:extLst>
            </p:cNvPr>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97" name="TextBox 6">
              <a:extLst>
                <a:ext uri="{FF2B5EF4-FFF2-40B4-BE49-F238E27FC236}">
                  <a16:creationId xmlns:a16="http://schemas.microsoft.com/office/drawing/2014/main" id="{456B230C-613F-675D-36EF-D4F103AD4C0E}"/>
                </a:ext>
              </a:extLst>
            </p:cNvPr>
            <p:cNvSpPr txBox="1"/>
            <p:nvPr/>
          </p:nvSpPr>
          <p:spPr>
            <a:xfrm>
              <a:off x="0" y="-38100"/>
              <a:ext cx="1174449" cy="550665"/>
            </a:xfrm>
            <a:prstGeom prst="rect">
              <a:avLst/>
            </a:prstGeom>
          </p:spPr>
          <p:txBody>
            <a:bodyPr lIns="50800" tIns="50800" rIns="50800" bIns="50800" rtlCol="0" anchor="ctr"/>
            <a:lstStyle/>
            <a:p>
              <a:pPr algn="ctr">
                <a:lnSpc>
                  <a:spcPts val="2520"/>
                </a:lnSpc>
              </a:pPr>
              <a:endParaRPr/>
            </a:p>
          </p:txBody>
        </p:sp>
      </p:grpSp>
      <p:grpSp>
        <p:nvGrpSpPr>
          <p:cNvPr id="98" name="Group 7">
            <a:extLst>
              <a:ext uri="{FF2B5EF4-FFF2-40B4-BE49-F238E27FC236}">
                <a16:creationId xmlns:a16="http://schemas.microsoft.com/office/drawing/2014/main" id="{89292F72-9806-C66C-4D9C-C2469E332816}"/>
              </a:ext>
            </a:extLst>
          </p:cNvPr>
          <p:cNvGrpSpPr/>
          <p:nvPr/>
        </p:nvGrpSpPr>
        <p:grpSpPr>
          <a:xfrm>
            <a:off x="10091183" y="4715785"/>
            <a:ext cx="4020554" cy="1946145"/>
            <a:chOff x="0" y="0"/>
            <a:chExt cx="1174449" cy="512565"/>
          </a:xfrm>
        </p:grpSpPr>
        <p:sp>
          <p:nvSpPr>
            <p:cNvPr id="99" name="Freeform 8">
              <a:extLst>
                <a:ext uri="{FF2B5EF4-FFF2-40B4-BE49-F238E27FC236}">
                  <a16:creationId xmlns:a16="http://schemas.microsoft.com/office/drawing/2014/main" id="{DF702997-9751-8341-4CCD-74251D3EFF82}"/>
                </a:ext>
              </a:extLst>
            </p:cNvPr>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00" name="TextBox 9">
              <a:extLst>
                <a:ext uri="{FF2B5EF4-FFF2-40B4-BE49-F238E27FC236}">
                  <a16:creationId xmlns:a16="http://schemas.microsoft.com/office/drawing/2014/main" id="{3EEE44BB-BAB8-8CAF-9EC7-C6C639C43FE3}"/>
                </a:ext>
              </a:extLst>
            </p:cNvPr>
            <p:cNvSpPr txBox="1"/>
            <p:nvPr/>
          </p:nvSpPr>
          <p:spPr>
            <a:xfrm>
              <a:off x="0" y="-38100"/>
              <a:ext cx="1174449" cy="550665"/>
            </a:xfrm>
            <a:prstGeom prst="rect">
              <a:avLst/>
            </a:prstGeom>
          </p:spPr>
          <p:txBody>
            <a:bodyPr lIns="50800" tIns="50800" rIns="50800" bIns="50800" rtlCol="0" anchor="ctr"/>
            <a:lstStyle/>
            <a:p>
              <a:pPr algn="ctr">
                <a:lnSpc>
                  <a:spcPts val="2520"/>
                </a:lnSpc>
              </a:pPr>
              <a:endParaRPr/>
            </a:p>
          </p:txBody>
        </p:sp>
      </p:grpSp>
      <p:sp>
        <p:nvSpPr>
          <p:cNvPr id="101" name="Freeform 10">
            <a:extLst>
              <a:ext uri="{FF2B5EF4-FFF2-40B4-BE49-F238E27FC236}">
                <a16:creationId xmlns:a16="http://schemas.microsoft.com/office/drawing/2014/main" id="{EF6F4D8A-676C-A092-97CE-1EA9B5C9A29A}"/>
              </a:ext>
            </a:extLst>
          </p:cNvPr>
          <p:cNvSpPr/>
          <p:nvPr/>
        </p:nvSpPr>
        <p:spPr>
          <a:xfrm>
            <a:off x="10088036" y="8771781"/>
            <a:ext cx="4462381"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grpSp>
        <p:nvGrpSpPr>
          <p:cNvPr id="102" name="Group 11">
            <a:extLst>
              <a:ext uri="{FF2B5EF4-FFF2-40B4-BE49-F238E27FC236}">
                <a16:creationId xmlns:a16="http://schemas.microsoft.com/office/drawing/2014/main" id="{C16FE62B-9FD7-096D-C604-C9B1B88B8E97}"/>
              </a:ext>
            </a:extLst>
          </p:cNvPr>
          <p:cNvGrpSpPr/>
          <p:nvPr/>
        </p:nvGrpSpPr>
        <p:grpSpPr>
          <a:xfrm>
            <a:off x="10091182" y="7491434"/>
            <a:ext cx="3997105" cy="1946145"/>
            <a:chOff x="0" y="0"/>
            <a:chExt cx="1174449" cy="512565"/>
          </a:xfrm>
        </p:grpSpPr>
        <p:sp>
          <p:nvSpPr>
            <p:cNvPr id="103" name="Freeform 12">
              <a:extLst>
                <a:ext uri="{FF2B5EF4-FFF2-40B4-BE49-F238E27FC236}">
                  <a16:creationId xmlns:a16="http://schemas.microsoft.com/office/drawing/2014/main" id="{506E4071-3848-9645-C380-FA09D11C6DAE}"/>
                </a:ext>
              </a:extLst>
            </p:cNvPr>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04" name="TextBox 13">
              <a:extLst>
                <a:ext uri="{FF2B5EF4-FFF2-40B4-BE49-F238E27FC236}">
                  <a16:creationId xmlns:a16="http://schemas.microsoft.com/office/drawing/2014/main" id="{17A7FDDE-0FAA-5095-A4B0-B01AB03A768D}"/>
                </a:ext>
              </a:extLst>
            </p:cNvPr>
            <p:cNvSpPr txBox="1"/>
            <p:nvPr/>
          </p:nvSpPr>
          <p:spPr>
            <a:xfrm>
              <a:off x="0" y="-38100"/>
              <a:ext cx="1174449" cy="550665"/>
            </a:xfrm>
            <a:prstGeom prst="rect">
              <a:avLst/>
            </a:prstGeom>
          </p:spPr>
          <p:txBody>
            <a:bodyPr lIns="50800" tIns="50800" rIns="50800" bIns="50800" rtlCol="0" anchor="ctr"/>
            <a:lstStyle/>
            <a:p>
              <a:pPr algn="ctr">
                <a:lnSpc>
                  <a:spcPts val="2520"/>
                </a:lnSpc>
              </a:pPr>
              <a:endParaRPr/>
            </a:p>
          </p:txBody>
        </p:sp>
      </p:grpSp>
      <p:grpSp>
        <p:nvGrpSpPr>
          <p:cNvPr id="105" name="Group 14">
            <a:extLst>
              <a:ext uri="{FF2B5EF4-FFF2-40B4-BE49-F238E27FC236}">
                <a16:creationId xmlns:a16="http://schemas.microsoft.com/office/drawing/2014/main" id="{70E37EBD-17A3-90BD-A429-EFF2B7027DBD}"/>
              </a:ext>
            </a:extLst>
          </p:cNvPr>
          <p:cNvGrpSpPr/>
          <p:nvPr/>
        </p:nvGrpSpPr>
        <p:grpSpPr>
          <a:xfrm>
            <a:off x="10777750" y="1842590"/>
            <a:ext cx="3086100" cy="195093"/>
            <a:chOff x="0" y="0"/>
            <a:chExt cx="812800" cy="51383"/>
          </a:xfrm>
        </p:grpSpPr>
        <p:sp>
          <p:nvSpPr>
            <p:cNvPr id="106" name="Freeform 15">
              <a:extLst>
                <a:ext uri="{FF2B5EF4-FFF2-40B4-BE49-F238E27FC236}">
                  <a16:creationId xmlns:a16="http://schemas.microsoft.com/office/drawing/2014/main" id="{146AA3DA-F3B8-505F-C843-8B6372DD588F}"/>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122359"/>
            </a:solidFill>
          </p:spPr>
          <p:txBody>
            <a:bodyPr/>
            <a:lstStyle/>
            <a:p>
              <a:endParaRPr lang="en-GB"/>
            </a:p>
          </p:txBody>
        </p:sp>
        <p:sp>
          <p:nvSpPr>
            <p:cNvPr id="107" name="TextBox 16">
              <a:extLst>
                <a:ext uri="{FF2B5EF4-FFF2-40B4-BE49-F238E27FC236}">
                  <a16:creationId xmlns:a16="http://schemas.microsoft.com/office/drawing/2014/main" id="{79749185-AA55-2E80-F31C-FBEDA8AA7901}"/>
                </a:ext>
              </a:extLst>
            </p:cNvPr>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08" name="Group 17">
            <a:extLst>
              <a:ext uri="{FF2B5EF4-FFF2-40B4-BE49-F238E27FC236}">
                <a16:creationId xmlns:a16="http://schemas.microsoft.com/office/drawing/2014/main" id="{3C4FC41E-C5CB-80D2-C6F8-B0DAD709B2C6}"/>
              </a:ext>
            </a:extLst>
          </p:cNvPr>
          <p:cNvGrpSpPr/>
          <p:nvPr/>
        </p:nvGrpSpPr>
        <p:grpSpPr>
          <a:xfrm>
            <a:off x="10777750" y="4618238"/>
            <a:ext cx="3086100" cy="195093"/>
            <a:chOff x="0" y="0"/>
            <a:chExt cx="812800" cy="51383"/>
          </a:xfrm>
        </p:grpSpPr>
        <p:sp>
          <p:nvSpPr>
            <p:cNvPr id="109" name="Freeform 18">
              <a:extLst>
                <a:ext uri="{FF2B5EF4-FFF2-40B4-BE49-F238E27FC236}">
                  <a16:creationId xmlns:a16="http://schemas.microsoft.com/office/drawing/2014/main" id="{F3E5E16F-123F-5A86-EB07-535CA544E645}"/>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3E6398"/>
            </a:solidFill>
          </p:spPr>
          <p:txBody>
            <a:bodyPr/>
            <a:lstStyle/>
            <a:p>
              <a:endParaRPr lang="en-GB"/>
            </a:p>
          </p:txBody>
        </p:sp>
        <p:sp>
          <p:nvSpPr>
            <p:cNvPr id="110" name="TextBox 19">
              <a:extLst>
                <a:ext uri="{FF2B5EF4-FFF2-40B4-BE49-F238E27FC236}">
                  <a16:creationId xmlns:a16="http://schemas.microsoft.com/office/drawing/2014/main" id="{526F4A0C-099D-3BDD-FC9F-2E313A74D9A3}"/>
                </a:ext>
              </a:extLst>
            </p:cNvPr>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111" name="Group 20">
            <a:extLst>
              <a:ext uri="{FF2B5EF4-FFF2-40B4-BE49-F238E27FC236}">
                <a16:creationId xmlns:a16="http://schemas.microsoft.com/office/drawing/2014/main" id="{4270511C-1722-F1A6-5ACF-C3E9103D8DF7}"/>
              </a:ext>
            </a:extLst>
          </p:cNvPr>
          <p:cNvGrpSpPr/>
          <p:nvPr/>
        </p:nvGrpSpPr>
        <p:grpSpPr>
          <a:xfrm>
            <a:off x="10777750" y="7393887"/>
            <a:ext cx="3086100" cy="195093"/>
            <a:chOff x="0" y="0"/>
            <a:chExt cx="812800" cy="51383"/>
          </a:xfrm>
        </p:grpSpPr>
        <p:sp>
          <p:nvSpPr>
            <p:cNvPr id="112" name="Freeform 21">
              <a:extLst>
                <a:ext uri="{FF2B5EF4-FFF2-40B4-BE49-F238E27FC236}">
                  <a16:creationId xmlns:a16="http://schemas.microsoft.com/office/drawing/2014/main" id="{20B698FA-F991-8E83-013E-DA442150C56F}"/>
                </a:ext>
              </a:extLst>
            </p:cNvPr>
            <p:cNvSpPr/>
            <p:nvPr/>
          </p:nvSpPr>
          <p:spPr>
            <a:xfrm>
              <a:off x="0" y="0"/>
              <a:ext cx="812800" cy="51383"/>
            </a:xfrm>
            <a:custGeom>
              <a:avLst/>
              <a:gdLst/>
              <a:ahLst/>
              <a:cxnLst/>
              <a:rect l="l" t="t" r="r" b="b"/>
              <a:pathLst>
                <a:path w="812800" h="51383">
                  <a:moveTo>
                    <a:pt x="25691" y="0"/>
                  </a:moveTo>
                  <a:lnTo>
                    <a:pt x="787109" y="0"/>
                  </a:lnTo>
                  <a:cubicBezTo>
                    <a:pt x="801298" y="0"/>
                    <a:pt x="812800" y="11502"/>
                    <a:pt x="812800" y="25691"/>
                  </a:cubicBezTo>
                  <a:lnTo>
                    <a:pt x="812800" y="25691"/>
                  </a:lnTo>
                  <a:cubicBezTo>
                    <a:pt x="812800" y="32505"/>
                    <a:pt x="810093" y="39040"/>
                    <a:pt x="805275" y="43858"/>
                  </a:cubicBezTo>
                  <a:cubicBezTo>
                    <a:pt x="800457" y="48676"/>
                    <a:pt x="793922" y="51383"/>
                    <a:pt x="787109" y="51383"/>
                  </a:cubicBezTo>
                  <a:lnTo>
                    <a:pt x="25691" y="51383"/>
                  </a:lnTo>
                  <a:cubicBezTo>
                    <a:pt x="11502" y="51383"/>
                    <a:pt x="0" y="39880"/>
                    <a:pt x="0" y="25691"/>
                  </a:cubicBezTo>
                  <a:lnTo>
                    <a:pt x="0" y="25691"/>
                  </a:lnTo>
                  <a:cubicBezTo>
                    <a:pt x="0" y="11502"/>
                    <a:pt x="11502" y="0"/>
                    <a:pt x="25691" y="0"/>
                  </a:cubicBezTo>
                  <a:close/>
                </a:path>
              </a:pathLst>
            </a:custGeom>
            <a:solidFill>
              <a:srgbClr val="F68D56"/>
            </a:solidFill>
          </p:spPr>
          <p:txBody>
            <a:bodyPr/>
            <a:lstStyle/>
            <a:p>
              <a:endParaRPr lang="en-GB"/>
            </a:p>
          </p:txBody>
        </p:sp>
        <p:sp>
          <p:nvSpPr>
            <p:cNvPr id="113" name="TextBox 22">
              <a:extLst>
                <a:ext uri="{FF2B5EF4-FFF2-40B4-BE49-F238E27FC236}">
                  <a16:creationId xmlns:a16="http://schemas.microsoft.com/office/drawing/2014/main" id="{A53600BA-549C-B7E1-7A3C-EABBA38AE109}"/>
                </a:ext>
              </a:extLst>
            </p:cNvPr>
            <p:cNvSpPr txBox="1"/>
            <p:nvPr/>
          </p:nvSpPr>
          <p:spPr>
            <a:xfrm>
              <a:off x="0" y="-38100"/>
              <a:ext cx="812800" cy="89483"/>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28" name="TextBox 66">
            <a:extLst>
              <a:ext uri="{FF2B5EF4-FFF2-40B4-BE49-F238E27FC236}">
                <a16:creationId xmlns:a16="http://schemas.microsoft.com/office/drawing/2014/main" id="{110D78A3-7AC5-9F84-9619-BF43503FA5A9}"/>
              </a:ext>
            </a:extLst>
          </p:cNvPr>
          <p:cNvSpPr txBox="1"/>
          <p:nvPr/>
        </p:nvSpPr>
        <p:spPr>
          <a:xfrm>
            <a:off x="10584356" y="2311096"/>
            <a:ext cx="4015636" cy="971292"/>
          </a:xfrm>
          <a:prstGeom prst="rect">
            <a:avLst/>
          </a:prstGeom>
        </p:spPr>
        <p:txBody>
          <a:bodyPr wrap="square" lIns="0" tIns="0" rIns="0" bIns="0" rtlCol="0" anchor="t">
            <a:spAutoFit/>
          </a:bodyPr>
          <a:lstStyle/>
          <a:p>
            <a:pPr>
              <a:lnSpc>
                <a:spcPts val="2519"/>
              </a:lnSpc>
              <a:spcBef>
                <a:spcPct val="0"/>
              </a:spcBef>
            </a:pPr>
            <a:endParaRPr lang="en-GB" sz="2400" b="1" dirty="0">
              <a:solidFill>
                <a:srgbClr val="000000"/>
              </a:solidFill>
              <a:latin typeface="TT Fors Bold"/>
              <a:sym typeface="TT Fors Bold"/>
            </a:endParaRPr>
          </a:p>
          <a:p>
            <a:pPr>
              <a:lnSpc>
                <a:spcPts val="2519"/>
              </a:lnSpc>
              <a:spcBef>
                <a:spcPct val="0"/>
              </a:spcBef>
            </a:pPr>
            <a:r>
              <a:rPr lang="en-GB" sz="2400" b="1" dirty="0">
                <a:solidFill>
                  <a:srgbClr val="000000"/>
                </a:solidFill>
                <a:latin typeface="TT Fors Bold"/>
              </a:rPr>
              <a:t>Maintain High Client Satisfaction</a:t>
            </a:r>
            <a:endParaRPr lang="en-US" sz="2400" b="1" dirty="0">
              <a:solidFill>
                <a:srgbClr val="000000"/>
              </a:solidFill>
              <a:latin typeface="TT Fors Bold"/>
              <a:sym typeface="TT Fors Bold"/>
            </a:endParaRPr>
          </a:p>
        </p:txBody>
      </p:sp>
      <p:sp>
        <p:nvSpPr>
          <p:cNvPr id="129" name="TextBox 67">
            <a:extLst>
              <a:ext uri="{FF2B5EF4-FFF2-40B4-BE49-F238E27FC236}">
                <a16:creationId xmlns:a16="http://schemas.microsoft.com/office/drawing/2014/main" id="{5F88C44E-859F-30EF-615D-E0023C02E0AE}"/>
              </a:ext>
            </a:extLst>
          </p:cNvPr>
          <p:cNvSpPr txBox="1"/>
          <p:nvPr/>
        </p:nvSpPr>
        <p:spPr>
          <a:xfrm>
            <a:off x="10584356" y="5406043"/>
            <a:ext cx="3366572" cy="650691"/>
          </a:xfrm>
          <a:prstGeom prst="rect">
            <a:avLst/>
          </a:prstGeom>
        </p:spPr>
        <p:txBody>
          <a:bodyPr lIns="0" tIns="0" rIns="0" bIns="0" rtlCol="0" anchor="t">
            <a:spAutoFit/>
          </a:bodyPr>
          <a:lstStyle/>
          <a:p>
            <a:pPr>
              <a:lnSpc>
                <a:spcPts val="2519"/>
              </a:lnSpc>
              <a:spcBef>
                <a:spcPct val="0"/>
              </a:spcBef>
            </a:pPr>
            <a:r>
              <a:rPr lang="en-GB" sz="2400" b="1" dirty="0">
                <a:solidFill>
                  <a:srgbClr val="000000"/>
                </a:solidFill>
                <a:latin typeface="TT Fors Bold"/>
              </a:rPr>
              <a:t>Target High-Performing Regions</a:t>
            </a:r>
            <a:endParaRPr lang="en-US" sz="2400" b="1" dirty="0">
              <a:solidFill>
                <a:srgbClr val="000000"/>
              </a:solidFill>
              <a:latin typeface="TT Fors Bold"/>
              <a:sym typeface="TT Fors Bold"/>
            </a:endParaRPr>
          </a:p>
        </p:txBody>
      </p:sp>
      <p:sp>
        <p:nvSpPr>
          <p:cNvPr id="130" name="TextBox 69">
            <a:extLst>
              <a:ext uri="{FF2B5EF4-FFF2-40B4-BE49-F238E27FC236}">
                <a16:creationId xmlns:a16="http://schemas.microsoft.com/office/drawing/2014/main" id="{F37C4716-1EB5-6DE0-DE0F-D5510B45ED5B}"/>
              </a:ext>
            </a:extLst>
          </p:cNvPr>
          <p:cNvSpPr txBox="1"/>
          <p:nvPr/>
        </p:nvSpPr>
        <p:spPr>
          <a:xfrm>
            <a:off x="10567150" y="8218636"/>
            <a:ext cx="3366572" cy="650691"/>
          </a:xfrm>
          <a:prstGeom prst="rect">
            <a:avLst/>
          </a:prstGeom>
        </p:spPr>
        <p:txBody>
          <a:bodyPr lIns="0" tIns="0" rIns="0" bIns="0" rtlCol="0" anchor="t">
            <a:spAutoFit/>
          </a:bodyPr>
          <a:lstStyle/>
          <a:p>
            <a:pPr>
              <a:lnSpc>
                <a:spcPts val="2519"/>
              </a:lnSpc>
              <a:spcBef>
                <a:spcPct val="0"/>
              </a:spcBef>
            </a:pPr>
            <a:r>
              <a:rPr lang="en-GB" sz="2400" b="1" dirty="0">
                <a:solidFill>
                  <a:srgbClr val="000000"/>
                </a:solidFill>
                <a:latin typeface="TT Fors Bold"/>
              </a:rPr>
              <a:t>Strengthen Platform Performance</a:t>
            </a:r>
            <a:endParaRPr lang="en-US" sz="2400" b="1" dirty="0">
              <a:solidFill>
                <a:srgbClr val="000000"/>
              </a:solidFill>
              <a:latin typeface="TT Fors Bold"/>
              <a:sym typeface="TT Fors 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2F83771B-7BA5-0142-1856-EC44403DEDC8}"/>
            </a:ext>
          </a:extLst>
        </p:cNvPr>
        <p:cNvGrpSpPr/>
        <p:nvPr/>
      </p:nvGrpSpPr>
      <p:grpSpPr>
        <a:xfrm>
          <a:off x="0" y="0"/>
          <a:ext cx="0" cy="0"/>
          <a:chOff x="0" y="0"/>
          <a:chExt cx="0" cy="0"/>
        </a:xfrm>
      </p:grpSpPr>
      <p:sp>
        <p:nvSpPr>
          <p:cNvPr id="62" name="TextBox 62">
            <a:extLst>
              <a:ext uri="{FF2B5EF4-FFF2-40B4-BE49-F238E27FC236}">
                <a16:creationId xmlns:a16="http://schemas.microsoft.com/office/drawing/2014/main" id="{F8EC94E8-10D6-72BF-450D-5F98ACB55678}"/>
              </a:ext>
            </a:extLst>
          </p:cNvPr>
          <p:cNvSpPr txBox="1"/>
          <p:nvPr/>
        </p:nvSpPr>
        <p:spPr>
          <a:xfrm>
            <a:off x="6248400" y="344790"/>
            <a:ext cx="6563915" cy="619400"/>
          </a:xfrm>
          <a:prstGeom prst="rect">
            <a:avLst/>
          </a:prstGeom>
        </p:spPr>
        <p:txBody>
          <a:bodyPr wrap="square" lIns="0" tIns="0" rIns="0" bIns="0" rtlCol="0" anchor="t">
            <a:spAutoFit/>
          </a:bodyPr>
          <a:lstStyle/>
          <a:p>
            <a:pPr algn="ctr">
              <a:lnSpc>
                <a:spcPts val="5040"/>
              </a:lnSpc>
              <a:spcBef>
                <a:spcPct val="0"/>
              </a:spcBef>
            </a:pPr>
            <a:r>
              <a:rPr lang="en-US" sz="3600" b="1" dirty="0">
                <a:solidFill>
                  <a:srgbClr val="112F8D"/>
                </a:solidFill>
                <a:latin typeface="TT Fors Bold"/>
                <a:ea typeface="TT Fors Bold"/>
                <a:cs typeface="TT Fors Bold"/>
                <a:sym typeface="TT Fors Bold"/>
              </a:rPr>
              <a:t>Further Recommendations</a:t>
            </a:r>
          </a:p>
        </p:txBody>
      </p:sp>
      <p:sp>
        <p:nvSpPr>
          <p:cNvPr id="32" name="Freeform 2">
            <a:extLst>
              <a:ext uri="{FF2B5EF4-FFF2-40B4-BE49-F238E27FC236}">
                <a16:creationId xmlns:a16="http://schemas.microsoft.com/office/drawing/2014/main" id="{8ECFB54B-6CE6-DA94-BC24-93F858908FAC}"/>
              </a:ext>
            </a:extLst>
          </p:cNvPr>
          <p:cNvSpPr/>
          <p:nvPr/>
        </p:nvSpPr>
        <p:spPr>
          <a:xfrm>
            <a:off x="1881354" y="2282664"/>
            <a:ext cx="2231114"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33" name="Freeform 3">
            <a:extLst>
              <a:ext uri="{FF2B5EF4-FFF2-40B4-BE49-F238E27FC236}">
                <a16:creationId xmlns:a16="http://schemas.microsoft.com/office/drawing/2014/main" id="{C0BF6B62-7879-415A-C23C-B78D3EA1BB98}"/>
              </a:ext>
            </a:extLst>
          </p:cNvPr>
          <p:cNvSpPr/>
          <p:nvPr/>
        </p:nvSpPr>
        <p:spPr>
          <a:xfrm>
            <a:off x="1865163" y="4470891"/>
            <a:ext cx="2383514"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40" name="Freeform 10">
            <a:extLst>
              <a:ext uri="{FF2B5EF4-FFF2-40B4-BE49-F238E27FC236}">
                <a16:creationId xmlns:a16="http://schemas.microsoft.com/office/drawing/2014/main" id="{D2C4D630-39E9-5FC3-9F6F-B91F081F4EE3}"/>
              </a:ext>
            </a:extLst>
          </p:cNvPr>
          <p:cNvSpPr/>
          <p:nvPr/>
        </p:nvSpPr>
        <p:spPr>
          <a:xfrm>
            <a:off x="1825147" y="6810532"/>
            <a:ext cx="2612114"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sp>
        <p:nvSpPr>
          <p:cNvPr id="119" name="Freeform 10">
            <a:extLst>
              <a:ext uri="{FF2B5EF4-FFF2-40B4-BE49-F238E27FC236}">
                <a16:creationId xmlns:a16="http://schemas.microsoft.com/office/drawing/2014/main" id="{8FA381C8-2A4E-AEF1-6ADA-685C9C3D3BE7}"/>
              </a:ext>
            </a:extLst>
          </p:cNvPr>
          <p:cNvSpPr/>
          <p:nvPr/>
        </p:nvSpPr>
        <p:spPr>
          <a:xfrm>
            <a:off x="1827772" y="9198406"/>
            <a:ext cx="2612114" cy="884363"/>
          </a:xfrm>
          <a:custGeom>
            <a:avLst/>
            <a:gdLst/>
            <a:ahLst/>
            <a:cxnLst/>
            <a:rect l="l" t="t" r="r" b="b"/>
            <a:pathLst>
              <a:path w="4462381" h="884363">
                <a:moveTo>
                  <a:pt x="0" y="0"/>
                </a:moveTo>
                <a:lnTo>
                  <a:pt x="4462381" y="0"/>
                </a:lnTo>
                <a:lnTo>
                  <a:pt x="4462381" y="884363"/>
                </a:lnTo>
                <a:lnTo>
                  <a:pt x="0" y="884363"/>
                </a:lnTo>
                <a:lnTo>
                  <a:pt x="0" y="0"/>
                </a:lnTo>
                <a:close/>
              </a:path>
            </a:pathLst>
          </a:custGeom>
          <a:blipFill>
            <a:blip r:embed="rId2">
              <a:alphaModFix amt="53000"/>
            </a:blip>
            <a:stretch>
              <a:fillRect/>
            </a:stretch>
          </a:blipFill>
        </p:spPr>
        <p:txBody>
          <a:bodyPr/>
          <a:lstStyle/>
          <a:p>
            <a:endParaRPr lang="en-GB"/>
          </a:p>
        </p:txBody>
      </p:sp>
      <p:cxnSp>
        <p:nvCxnSpPr>
          <p:cNvPr id="135" name="Straight Connector 134">
            <a:extLst>
              <a:ext uri="{FF2B5EF4-FFF2-40B4-BE49-F238E27FC236}">
                <a16:creationId xmlns:a16="http://schemas.microsoft.com/office/drawing/2014/main" id="{F052BBFE-E663-03A9-FDDA-0DC9EEFC7E8B}"/>
              </a:ext>
            </a:extLst>
          </p:cNvPr>
          <p:cNvCxnSpPr/>
          <p:nvPr/>
        </p:nvCxnSpPr>
        <p:spPr>
          <a:xfrm>
            <a:off x="4112468" y="2080717"/>
            <a:ext cx="1767597"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cxnSp>
        <p:nvCxnSpPr>
          <p:cNvPr id="136" name="Straight Connector 135">
            <a:extLst>
              <a:ext uri="{FF2B5EF4-FFF2-40B4-BE49-F238E27FC236}">
                <a16:creationId xmlns:a16="http://schemas.microsoft.com/office/drawing/2014/main" id="{C5FCA0A0-DF30-310D-2FD2-933565C71AF4}"/>
              </a:ext>
            </a:extLst>
          </p:cNvPr>
          <p:cNvCxnSpPr/>
          <p:nvPr/>
        </p:nvCxnSpPr>
        <p:spPr>
          <a:xfrm>
            <a:off x="4028157" y="4307518"/>
            <a:ext cx="1767597"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cxnSp>
        <p:nvCxnSpPr>
          <p:cNvPr id="137" name="Straight Connector 136">
            <a:extLst>
              <a:ext uri="{FF2B5EF4-FFF2-40B4-BE49-F238E27FC236}">
                <a16:creationId xmlns:a16="http://schemas.microsoft.com/office/drawing/2014/main" id="{0F3E186D-A2D2-CBC9-D9E1-CB057E2215E0}"/>
              </a:ext>
            </a:extLst>
          </p:cNvPr>
          <p:cNvCxnSpPr/>
          <p:nvPr/>
        </p:nvCxnSpPr>
        <p:spPr>
          <a:xfrm>
            <a:off x="4112468" y="6593518"/>
            <a:ext cx="1767597"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cxnSp>
        <p:nvCxnSpPr>
          <p:cNvPr id="138" name="Straight Connector 137">
            <a:extLst>
              <a:ext uri="{FF2B5EF4-FFF2-40B4-BE49-F238E27FC236}">
                <a16:creationId xmlns:a16="http://schemas.microsoft.com/office/drawing/2014/main" id="{2036699E-3384-A22A-F13B-598CB5E6CC84}"/>
              </a:ext>
            </a:extLst>
          </p:cNvPr>
          <p:cNvCxnSpPr/>
          <p:nvPr/>
        </p:nvCxnSpPr>
        <p:spPr>
          <a:xfrm>
            <a:off x="4028157" y="9107938"/>
            <a:ext cx="1767597"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grpSp>
        <p:nvGrpSpPr>
          <p:cNvPr id="41" name="Group 11">
            <a:extLst>
              <a:ext uri="{FF2B5EF4-FFF2-40B4-BE49-F238E27FC236}">
                <a16:creationId xmlns:a16="http://schemas.microsoft.com/office/drawing/2014/main" id="{B89D35B3-CB49-63CF-F684-57745D7B58AC}"/>
              </a:ext>
            </a:extLst>
          </p:cNvPr>
          <p:cNvGrpSpPr/>
          <p:nvPr/>
        </p:nvGrpSpPr>
        <p:grpSpPr>
          <a:xfrm>
            <a:off x="1828292" y="6001799"/>
            <a:ext cx="2955354" cy="1431028"/>
            <a:chOff x="0" y="0"/>
            <a:chExt cx="1174449" cy="512565"/>
          </a:xfrm>
        </p:grpSpPr>
        <p:sp>
          <p:nvSpPr>
            <p:cNvPr id="42" name="Freeform 12">
              <a:extLst>
                <a:ext uri="{FF2B5EF4-FFF2-40B4-BE49-F238E27FC236}">
                  <a16:creationId xmlns:a16="http://schemas.microsoft.com/office/drawing/2014/main" id="{03FBCACE-04B3-AC6B-F753-C00368DF1495}"/>
                </a:ext>
              </a:extLst>
            </p:cNvPr>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43" name="TextBox 13">
              <a:extLst>
                <a:ext uri="{FF2B5EF4-FFF2-40B4-BE49-F238E27FC236}">
                  <a16:creationId xmlns:a16="http://schemas.microsoft.com/office/drawing/2014/main" id="{DCCB6A12-AC9D-824C-3931-221979B4E43D}"/>
                </a:ext>
              </a:extLst>
            </p:cNvPr>
            <p:cNvSpPr txBox="1"/>
            <p:nvPr/>
          </p:nvSpPr>
          <p:spPr>
            <a:xfrm>
              <a:off x="0" y="-38100"/>
              <a:ext cx="1174449" cy="550665"/>
            </a:xfrm>
            <a:prstGeom prst="rect">
              <a:avLst/>
            </a:prstGeom>
          </p:spPr>
          <p:txBody>
            <a:bodyPr lIns="50800" tIns="50800" rIns="50800" bIns="50800" rtlCol="0" anchor="ctr"/>
            <a:lstStyle/>
            <a:p>
              <a:pPr algn="ctr">
                <a:lnSpc>
                  <a:spcPts val="2520"/>
                </a:lnSpc>
              </a:pPr>
              <a:endParaRPr/>
            </a:p>
          </p:txBody>
        </p:sp>
      </p:grpSp>
      <p:sp>
        <p:nvSpPr>
          <p:cNvPr id="79" name="TextBox 69">
            <a:extLst>
              <a:ext uri="{FF2B5EF4-FFF2-40B4-BE49-F238E27FC236}">
                <a16:creationId xmlns:a16="http://schemas.microsoft.com/office/drawing/2014/main" id="{D29D28CD-6284-3DE9-A9F1-99308AE82980}"/>
              </a:ext>
            </a:extLst>
          </p:cNvPr>
          <p:cNvSpPr txBox="1"/>
          <p:nvPr/>
        </p:nvSpPr>
        <p:spPr>
          <a:xfrm>
            <a:off x="2309930" y="6386159"/>
            <a:ext cx="2008705" cy="653384"/>
          </a:xfrm>
          <a:prstGeom prst="rect">
            <a:avLst/>
          </a:prstGeom>
        </p:spPr>
        <p:txBody>
          <a:bodyPr wrap="square" lIns="0" tIns="0" rIns="0" bIns="0" rtlCol="0" anchor="t">
            <a:spAutoFit/>
          </a:bodyPr>
          <a:lstStyle/>
          <a:p>
            <a:pPr>
              <a:lnSpc>
                <a:spcPts val="2519"/>
              </a:lnSpc>
              <a:spcBef>
                <a:spcPct val="0"/>
              </a:spcBef>
            </a:pPr>
            <a:r>
              <a:rPr lang="en-US" sz="2400" b="1" dirty="0">
                <a:solidFill>
                  <a:srgbClr val="000000"/>
                </a:solidFill>
                <a:latin typeface="TT Fors Bold"/>
                <a:ea typeface="TT Fors Bold"/>
                <a:cs typeface="TT Fors Bold"/>
                <a:sym typeface="TT Fors Bold"/>
              </a:rPr>
              <a:t>Clients and </a:t>
            </a:r>
          </a:p>
          <a:p>
            <a:pPr>
              <a:lnSpc>
                <a:spcPts val="2519"/>
              </a:lnSpc>
              <a:spcBef>
                <a:spcPct val="0"/>
              </a:spcBef>
            </a:pPr>
            <a:r>
              <a:rPr lang="en-US" sz="2400" b="1" dirty="0">
                <a:solidFill>
                  <a:srgbClr val="000000"/>
                </a:solidFill>
                <a:latin typeface="TT Fors Bold"/>
                <a:ea typeface="TT Fors Bold"/>
                <a:cs typeface="TT Fors Bold"/>
                <a:sym typeface="TT Fors Bold"/>
              </a:rPr>
              <a:t>Businesses</a:t>
            </a:r>
          </a:p>
        </p:txBody>
      </p:sp>
      <p:grpSp>
        <p:nvGrpSpPr>
          <p:cNvPr id="37" name="Group 7">
            <a:extLst>
              <a:ext uri="{FF2B5EF4-FFF2-40B4-BE49-F238E27FC236}">
                <a16:creationId xmlns:a16="http://schemas.microsoft.com/office/drawing/2014/main" id="{A3093D91-F78C-178D-620B-0576394F6FE9}"/>
              </a:ext>
            </a:extLst>
          </p:cNvPr>
          <p:cNvGrpSpPr/>
          <p:nvPr/>
        </p:nvGrpSpPr>
        <p:grpSpPr>
          <a:xfrm>
            <a:off x="1865163" y="3767016"/>
            <a:ext cx="2906193" cy="1332016"/>
            <a:chOff x="0" y="0"/>
            <a:chExt cx="1174449" cy="512565"/>
          </a:xfrm>
        </p:grpSpPr>
        <p:sp>
          <p:nvSpPr>
            <p:cNvPr id="38" name="Freeform 8">
              <a:extLst>
                <a:ext uri="{FF2B5EF4-FFF2-40B4-BE49-F238E27FC236}">
                  <a16:creationId xmlns:a16="http://schemas.microsoft.com/office/drawing/2014/main" id="{10EBC610-16CD-A310-8D31-13B6B0DC953A}"/>
                </a:ext>
              </a:extLst>
            </p:cNvPr>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39" name="TextBox 9">
              <a:extLst>
                <a:ext uri="{FF2B5EF4-FFF2-40B4-BE49-F238E27FC236}">
                  <a16:creationId xmlns:a16="http://schemas.microsoft.com/office/drawing/2014/main" id="{13F74B06-9CFD-9F83-C31B-C5983D5F1F0B}"/>
                </a:ext>
              </a:extLst>
            </p:cNvPr>
            <p:cNvSpPr txBox="1"/>
            <p:nvPr/>
          </p:nvSpPr>
          <p:spPr>
            <a:xfrm>
              <a:off x="0" y="-38100"/>
              <a:ext cx="1174449" cy="550665"/>
            </a:xfrm>
            <a:prstGeom prst="rect">
              <a:avLst/>
            </a:prstGeom>
          </p:spPr>
          <p:txBody>
            <a:bodyPr lIns="50800" tIns="50800" rIns="50800" bIns="50800" rtlCol="0" anchor="ctr"/>
            <a:lstStyle/>
            <a:p>
              <a:pPr algn="ctr">
                <a:lnSpc>
                  <a:spcPts val="2520"/>
                </a:lnSpc>
              </a:pPr>
              <a:endParaRPr/>
            </a:p>
          </p:txBody>
        </p:sp>
      </p:grpSp>
      <p:sp>
        <p:nvSpPr>
          <p:cNvPr id="77" name="TextBox 67">
            <a:extLst>
              <a:ext uri="{FF2B5EF4-FFF2-40B4-BE49-F238E27FC236}">
                <a16:creationId xmlns:a16="http://schemas.microsoft.com/office/drawing/2014/main" id="{143D9181-2187-87A2-835E-ED0AF5064B8A}"/>
              </a:ext>
            </a:extLst>
          </p:cNvPr>
          <p:cNvSpPr txBox="1"/>
          <p:nvPr/>
        </p:nvSpPr>
        <p:spPr>
          <a:xfrm>
            <a:off x="2337706" y="4182811"/>
            <a:ext cx="3366572" cy="668773"/>
          </a:xfrm>
          <a:prstGeom prst="rect">
            <a:avLst/>
          </a:prstGeom>
        </p:spPr>
        <p:txBody>
          <a:bodyPr lIns="0" tIns="0" rIns="0" bIns="0" rtlCol="0" anchor="t">
            <a:spAutoFit/>
          </a:bodyPr>
          <a:lstStyle/>
          <a:p>
            <a:pPr>
              <a:lnSpc>
                <a:spcPts val="2519"/>
              </a:lnSpc>
              <a:spcBef>
                <a:spcPct val="0"/>
              </a:spcBef>
            </a:pPr>
            <a:r>
              <a:rPr lang="en-US" sz="2400" b="1" dirty="0">
                <a:solidFill>
                  <a:srgbClr val="000000"/>
                </a:solidFill>
                <a:latin typeface="TT Fors Bold"/>
                <a:ea typeface="TT Fors Bold"/>
                <a:cs typeface="TT Fors Bold"/>
                <a:sym typeface="TT Fors Bold"/>
              </a:rPr>
              <a:t>Freelancing </a:t>
            </a:r>
          </a:p>
          <a:p>
            <a:pPr>
              <a:lnSpc>
                <a:spcPts val="2519"/>
              </a:lnSpc>
              <a:spcBef>
                <a:spcPct val="0"/>
              </a:spcBef>
            </a:pPr>
            <a:r>
              <a:rPr lang="en-US" sz="2400" b="1" dirty="0">
                <a:solidFill>
                  <a:srgbClr val="000000"/>
                </a:solidFill>
                <a:latin typeface="TT Fors Bold"/>
                <a:ea typeface="TT Fors Bold"/>
                <a:cs typeface="TT Fors Bold"/>
                <a:sym typeface="TT Fors Bold"/>
              </a:rPr>
              <a:t>Platforms</a:t>
            </a:r>
          </a:p>
        </p:txBody>
      </p:sp>
      <p:grpSp>
        <p:nvGrpSpPr>
          <p:cNvPr id="34" name="Group 4">
            <a:extLst>
              <a:ext uri="{FF2B5EF4-FFF2-40B4-BE49-F238E27FC236}">
                <a16:creationId xmlns:a16="http://schemas.microsoft.com/office/drawing/2014/main" id="{3772B326-DD9C-5C53-0602-9C1A3311EE3F}"/>
              </a:ext>
            </a:extLst>
          </p:cNvPr>
          <p:cNvGrpSpPr/>
          <p:nvPr/>
        </p:nvGrpSpPr>
        <p:grpSpPr>
          <a:xfrm>
            <a:off x="1892319" y="1471767"/>
            <a:ext cx="2891327" cy="1394526"/>
            <a:chOff x="0" y="0"/>
            <a:chExt cx="1174449" cy="512565"/>
          </a:xfrm>
        </p:grpSpPr>
        <p:sp>
          <p:nvSpPr>
            <p:cNvPr id="35" name="Freeform 5">
              <a:extLst>
                <a:ext uri="{FF2B5EF4-FFF2-40B4-BE49-F238E27FC236}">
                  <a16:creationId xmlns:a16="http://schemas.microsoft.com/office/drawing/2014/main" id="{5F70DB50-5BB2-C80D-24B9-0793F3EFC90C}"/>
                </a:ext>
              </a:extLst>
            </p:cNvPr>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36" name="TextBox 6">
              <a:extLst>
                <a:ext uri="{FF2B5EF4-FFF2-40B4-BE49-F238E27FC236}">
                  <a16:creationId xmlns:a16="http://schemas.microsoft.com/office/drawing/2014/main" id="{22F7F127-CD76-59BD-5B21-CD1DD6615427}"/>
                </a:ext>
              </a:extLst>
            </p:cNvPr>
            <p:cNvSpPr txBox="1"/>
            <p:nvPr/>
          </p:nvSpPr>
          <p:spPr>
            <a:xfrm>
              <a:off x="0" y="-38100"/>
              <a:ext cx="1174449" cy="550665"/>
            </a:xfrm>
            <a:prstGeom prst="rect">
              <a:avLst/>
            </a:prstGeom>
          </p:spPr>
          <p:txBody>
            <a:bodyPr lIns="50800" tIns="50800" rIns="50800" bIns="50800" rtlCol="0" anchor="ctr"/>
            <a:lstStyle/>
            <a:p>
              <a:pPr algn="ctr">
                <a:lnSpc>
                  <a:spcPts val="2520"/>
                </a:lnSpc>
              </a:pPr>
              <a:endParaRPr dirty="0"/>
            </a:p>
          </p:txBody>
        </p:sp>
      </p:grpSp>
      <p:sp>
        <p:nvSpPr>
          <p:cNvPr id="76" name="TextBox 66">
            <a:extLst>
              <a:ext uri="{FF2B5EF4-FFF2-40B4-BE49-F238E27FC236}">
                <a16:creationId xmlns:a16="http://schemas.microsoft.com/office/drawing/2014/main" id="{76485334-7524-393D-7552-36D0D4947F3D}"/>
              </a:ext>
            </a:extLst>
          </p:cNvPr>
          <p:cNvSpPr txBox="1"/>
          <p:nvPr/>
        </p:nvSpPr>
        <p:spPr>
          <a:xfrm>
            <a:off x="2429182" y="2035243"/>
            <a:ext cx="3366572" cy="332783"/>
          </a:xfrm>
          <a:prstGeom prst="rect">
            <a:avLst/>
          </a:prstGeom>
        </p:spPr>
        <p:txBody>
          <a:bodyPr lIns="0" tIns="0" rIns="0" bIns="0" rtlCol="0" anchor="t">
            <a:spAutoFit/>
          </a:bodyPr>
          <a:lstStyle/>
          <a:p>
            <a:pPr>
              <a:lnSpc>
                <a:spcPts val="2519"/>
              </a:lnSpc>
              <a:spcBef>
                <a:spcPct val="0"/>
              </a:spcBef>
            </a:pPr>
            <a:r>
              <a:rPr lang="en-US" sz="2400" b="1" dirty="0">
                <a:solidFill>
                  <a:srgbClr val="000000"/>
                </a:solidFill>
                <a:latin typeface="TT Fors Bold"/>
                <a:ea typeface="TT Fors Bold"/>
                <a:cs typeface="TT Fors Bold"/>
                <a:sym typeface="TT Fors Bold"/>
              </a:rPr>
              <a:t>Freelancers</a:t>
            </a:r>
          </a:p>
        </p:txBody>
      </p:sp>
      <p:grpSp>
        <p:nvGrpSpPr>
          <p:cNvPr id="120" name="Group 11">
            <a:extLst>
              <a:ext uri="{FF2B5EF4-FFF2-40B4-BE49-F238E27FC236}">
                <a16:creationId xmlns:a16="http://schemas.microsoft.com/office/drawing/2014/main" id="{3186ABC5-E40C-A7DE-E49C-40635587342A}"/>
              </a:ext>
            </a:extLst>
          </p:cNvPr>
          <p:cNvGrpSpPr/>
          <p:nvPr/>
        </p:nvGrpSpPr>
        <p:grpSpPr>
          <a:xfrm>
            <a:off x="1830917" y="8389673"/>
            <a:ext cx="2921580" cy="1431028"/>
            <a:chOff x="0" y="0"/>
            <a:chExt cx="1174449" cy="512565"/>
          </a:xfrm>
        </p:grpSpPr>
        <p:sp>
          <p:nvSpPr>
            <p:cNvPr id="121" name="Freeform 12">
              <a:extLst>
                <a:ext uri="{FF2B5EF4-FFF2-40B4-BE49-F238E27FC236}">
                  <a16:creationId xmlns:a16="http://schemas.microsoft.com/office/drawing/2014/main" id="{0AB8A0DB-860A-BE6E-FC15-4F180375CB2F}"/>
                </a:ext>
              </a:extLst>
            </p:cNvPr>
            <p:cNvSpPr/>
            <p:nvPr/>
          </p:nvSpPr>
          <p:spPr>
            <a:xfrm>
              <a:off x="0" y="0"/>
              <a:ext cx="1174449" cy="512565"/>
            </a:xfrm>
            <a:custGeom>
              <a:avLst/>
              <a:gdLst/>
              <a:ahLst/>
              <a:cxnLst/>
              <a:rect l="l" t="t" r="r" b="b"/>
              <a:pathLst>
                <a:path w="1174449" h="512565">
                  <a:moveTo>
                    <a:pt x="34723" y="0"/>
                  </a:moveTo>
                  <a:lnTo>
                    <a:pt x="1139726" y="0"/>
                  </a:lnTo>
                  <a:cubicBezTo>
                    <a:pt x="1158903" y="0"/>
                    <a:pt x="1174449" y="15546"/>
                    <a:pt x="1174449" y="34723"/>
                  </a:cubicBezTo>
                  <a:lnTo>
                    <a:pt x="1174449" y="477842"/>
                  </a:lnTo>
                  <a:cubicBezTo>
                    <a:pt x="1174449" y="487051"/>
                    <a:pt x="1170791" y="495883"/>
                    <a:pt x="1164279" y="502395"/>
                  </a:cubicBezTo>
                  <a:cubicBezTo>
                    <a:pt x="1157767" y="508907"/>
                    <a:pt x="1148935" y="512565"/>
                    <a:pt x="1139726" y="512565"/>
                  </a:cubicBezTo>
                  <a:lnTo>
                    <a:pt x="34723" y="512565"/>
                  </a:lnTo>
                  <a:cubicBezTo>
                    <a:pt x="25514" y="512565"/>
                    <a:pt x="16682" y="508907"/>
                    <a:pt x="10170" y="502395"/>
                  </a:cubicBezTo>
                  <a:cubicBezTo>
                    <a:pt x="3658" y="495883"/>
                    <a:pt x="0" y="487051"/>
                    <a:pt x="0" y="477842"/>
                  </a:cubicBezTo>
                  <a:lnTo>
                    <a:pt x="0" y="34723"/>
                  </a:lnTo>
                  <a:cubicBezTo>
                    <a:pt x="0" y="25514"/>
                    <a:pt x="3658" y="16682"/>
                    <a:pt x="10170" y="10170"/>
                  </a:cubicBezTo>
                  <a:cubicBezTo>
                    <a:pt x="16682" y="3658"/>
                    <a:pt x="25514" y="0"/>
                    <a:pt x="34723" y="0"/>
                  </a:cubicBezTo>
                  <a:close/>
                </a:path>
              </a:pathLst>
            </a:custGeom>
            <a:solidFill>
              <a:srgbClr val="FFFFFF"/>
            </a:solidFill>
          </p:spPr>
          <p:txBody>
            <a:bodyPr/>
            <a:lstStyle/>
            <a:p>
              <a:endParaRPr lang="en-GB"/>
            </a:p>
          </p:txBody>
        </p:sp>
        <p:sp>
          <p:nvSpPr>
            <p:cNvPr id="122" name="TextBox 13">
              <a:extLst>
                <a:ext uri="{FF2B5EF4-FFF2-40B4-BE49-F238E27FC236}">
                  <a16:creationId xmlns:a16="http://schemas.microsoft.com/office/drawing/2014/main" id="{BB156BF6-B9F3-F87B-E65F-C59201F43C68}"/>
                </a:ext>
              </a:extLst>
            </p:cNvPr>
            <p:cNvSpPr txBox="1"/>
            <p:nvPr/>
          </p:nvSpPr>
          <p:spPr>
            <a:xfrm>
              <a:off x="0" y="-38100"/>
              <a:ext cx="1174449" cy="550665"/>
            </a:xfrm>
            <a:prstGeom prst="rect">
              <a:avLst/>
            </a:prstGeom>
          </p:spPr>
          <p:txBody>
            <a:bodyPr lIns="50800" tIns="50800" rIns="50800" bIns="50800" rtlCol="0" anchor="ctr"/>
            <a:lstStyle/>
            <a:p>
              <a:pPr algn="ctr">
                <a:lnSpc>
                  <a:spcPts val="2520"/>
                </a:lnSpc>
              </a:pPr>
              <a:endParaRPr/>
            </a:p>
          </p:txBody>
        </p:sp>
      </p:grpSp>
      <p:sp>
        <p:nvSpPr>
          <p:cNvPr id="127" name="TextBox 69">
            <a:extLst>
              <a:ext uri="{FF2B5EF4-FFF2-40B4-BE49-F238E27FC236}">
                <a16:creationId xmlns:a16="http://schemas.microsoft.com/office/drawing/2014/main" id="{8C93D90E-2A82-9941-8B92-9C515D7E76DA}"/>
              </a:ext>
            </a:extLst>
          </p:cNvPr>
          <p:cNvSpPr txBox="1"/>
          <p:nvPr/>
        </p:nvSpPr>
        <p:spPr>
          <a:xfrm>
            <a:off x="2309930" y="8638131"/>
            <a:ext cx="2442567" cy="973985"/>
          </a:xfrm>
          <a:prstGeom prst="rect">
            <a:avLst/>
          </a:prstGeom>
        </p:spPr>
        <p:txBody>
          <a:bodyPr wrap="square" lIns="0" tIns="0" rIns="0" bIns="0" rtlCol="0" anchor="t">
            <a:spAutoFit/>
          </a:bodyPr>
          <a:lstStyle/>
          <a:p>
            <a:pPr>
              <a:lnSpc>
                <a:spcPts val="2519"/>
              </a:lnSpc>
              <a:spcBef>
                <a:spcPct val="0"/>
              </a:spcBef>
            </a:pPr>
            <a:r>
              <a:rPr lang="en-US" sz="2400" b="1" dirty="0">
                <a:solidFill>
                  <a:srgbClr val="000000"/>
                </a:solidFill>
                <a:latin typeface="TT Fors Bold"/>
                <a:ea typeface="TT Fors Bold"/>
                <a:cs typeface="TT Fors Bold"/>
                <a:sym typeface="TT Fors Bold"/>
              </a:rPr>
              <a:t>Data &amp; Forecasting Improvements</a:t>
            </a:r>
          </a:p>
        </p:txBody>
      </p:sp>
      <p:grpSp>
        <p:nvGrpSpPr>
          <p:cNvPr id="132" name="Group 35">
            <a:extLst>
              <a:ext uri="{FF2B5EF4-FFF2-40B4-BE49-F238E27FC236}">
                <a16:creationId xmlns:a16="http://schemas.microsoft.com/office/drawing/2014/main" id="{830DB1D6-89E5-3EFC-E2F6-C8E42064330D}"/>
              </a:ext>
            </a:extLst>
          </p:cNvPr>
          <p:cNvGrpSpPr/>
          <p:nvPr/>
        </p:nvGrpSpPr>
        <p:grpSpPr>
          <a:xfrm>
            <a:off x="5181599" y="8476623"/>
            <a:ext cx="12473477" cy="1537399"/>
            <a:chOff x="0" y="0"/>
            <a:chExt cx="1041703" cy="248215"/>
          </a:xfrm>
          <a:solidFill>
            <a:schemeClr val="bg1"/>
          </a:solidFill>
        </p:grpSpPr>
        <p:sp>
          <p:nvSpPr>
            <p:cNvPr id="133" name="Freeform 36">
              <a:extLst>
                <a:ext uri="{FF2B5EF4-FFF2-40B4-BE49-F238E27FC236}">
                  <a16:creationId xmlns:a16="http://schemas.microsoft.com/office/drawing/2014/main" id="{E234EB9E-0B73-0763-BF30-DEB37974B5AB}"/>
                </a:ext>
              </a:extLst>
            </p:cNvPr>
            <p:cNvSpPr/>
            <p:nvPr/>
          </p:nvSpPr>
          <p:spPr>
            <a:xfrm>
              <a:off x="0" y="0"/>
              <a:ext cx="1041703" cy="248215"/>
            </a:xfrm>
            <a:custGeom>
              <a:avLst/>
              <a:gdLst/>
              <a:ahLst/>
              <a:cxnLst/>
              <a:rect l="l" t="t" r="r" b="b"/>
              <a:pathLst>
                <a:path w="1041703" h="248215">
                  <a:moveTo>
                    <a:pt x="35233" y="0"/>
                  </a:moveTo>
                  <a:lnTo>
                    <a:pt x="1006470" y="0"/>
                  </a:lnTo>
                  <a:cubicBezTo>
                    <a:pt x="1015814" y="0"/>
                    <a:pt x="1024776" y="3712"/>
                    <a:pt x="1031384" y="10320"/>
                  </a:cubicBezTo>
                  <a:cubicBezTo>
                    <a:pt x="1037991" y="16927"/>
                    <a:pt x="1041703" y="25889"/>
                    <a:pt x="1041703" y="35233"/>
                  </a:cubicBezTo>
                  <a:lnTo>
                    <a:pt x="1041703" y="212982"/>
                  </a:lnTo>
                  <a:cubicBezTo>
                    <a:pt x="1041703" y="222326"/>
                    <a:pt x="1037991" y="231288"/>
                    <a:pt x="1031384" y="237895"/>
                  </a:cubicBezTo>
                  <a:cubicBezTo>
                    <a:pt x="1024776" y="244503"/>
                    <a:pt x="1015814" y="248215"/>
                    <a:pt x="1006470" y="248215"/>
                  </a:cubicBezTo>
                  <a:lnTo>
                    <a:pt x="35233" y="248215"/>
                  </a:lnTo>
                  <a:cubicBezTo>
                    <a:pt x="25889" y="248215"/>
                    <a:pt x="16927" y="244503"/>
                    <a:pt x="10320" y="237895"/>
                  </a:cubicBezTo>
                  <a:cubicBezTo>
                    <a:pt x="3712" y="231288"/>
                    <a:pt x="0" y="222326"/>
                    <a:pt x="0" y="212982"/>
                  </a:cubicBezTo>
                  <a:lnTo>
                    <a:pt x="0" y="35233"/>
                  </a:lnTo>
                  <a:cubicBezTo>
                    <a:pt x="0" y="25889"/>
                    <a:pt x="3712" y="16927"/>
                    <a:pt x="10320" y="10320"/>
                  </a:cubicBezTo>
                  <a:cubicBezTo>
                    <a:pt x="16927" y="3712"/>
                    <a:pt x="25889" y="0"/>
                    <a:pt x="35233" y="0"/>
                  </a:cubicBezTo>
                  <a:close/>
                </a:path>
              </a:pathLst>
            </a:custGeom>
            <a:grpFill/>
          </p:spPr>
          <p:txBody>
            <a:bodyPr/>
            <a:lstStyle/>
            <a:p>
              <a:endParaRPr lang="en-GB"/>
            </a:p>
          </p:txBody>
        </p:sp>
        <p:sp>
          <p:nvSpPr>
            <p:cNvPr id="134" name="TextBox 37">
              <a:extLst>
                <a:ext uri="{FF2B5EF4-FFF2-40B4-BE49-F238E27FC236}">
                  <a16:creationId xmlns:a16="http://schemas.microsoft.com/office/drawing/2014/main" id="{617DE1C9-3B45-3679-B0D7-85ED09C1CF05}"/>
                </a:ext>
              </a:extLst>
            </p:cNvPr>
            <p:cNvSpPr txBox="1"/>
            <p:nvPr/>
          </p:nvSpPr>
          <p:spPr>
            <a:xfrm>
              <a:off x="0" y="-38100"/>
              <a:ext cx="1041703" cy="286315"/>
            </a:xfrm>
            <a:prstGeom prst="rect">
              <a:avLst/>
            </a:prstGeom>
            <a:grpFill/>
          </p:spPr>
          <p:txBody>
            <a:bodyPr lIns="50800" tIns="50800" rIns="50800" bIns="50800" rtlCol="0" anchor="ctr"/>
            <a:lstStyle/>
            <a:p>
              <a:pPr algn="ctr">
                <a:lnSpc>
                  <a:spcPts val="2240"/>
                </a:lnSpc>
              </a:pPr>
              <a:r>
                <a:rPr lang="en-GB" sz="1600" dirty="0">
                  <a:latin typeface="TT Fors"/>
                  <a:ea typeface="TT Fors"/>
                  <a:cs typeface="TT Fors"/>
                  <a:sym typeface="TT Fors"/>
                </a:rPr>
                <a:t>Our forecasting analysis revealed that the regression model had limited explanatory power, mainly due to missing variables. Future analysis should include qualitative factors such as freelancer skills, certifications, portfolio strength, and project complexity. Using more advanced forecasting techniques, such as machine learning or time‑series models, would also improve earnings predictions and support better decision‑making.”</a:t>
              </a:r>
              <a:endParaRPr lang="en-US" sz="1600" dirty="0">
                <a:latin typeface="TT Fors"/>
                <a:ea typeface="TT Fors"/>
                <a:cs typeface="TT Fors"/>
                <a:sym typeface="TT Fors"/>
              </a:endParaRPr>
            </a:p>
          </p:txBody>
        </p:sp>
      </p:grpSp>
      <p:sp>
        <p:nvSpPr>
          <p:cNvPr id="91" name="TextBox 49">
            <a:extLst>
              <a:ext uri="{FF2B5EF4-FFF2-40B4-BE49-F238E27FC236}">
                <a16:creationId xmlns:a16="http://schemas.microsoft.com/office/drawing/2014/main" id="{ECF4F28F-3A6D-E3CE-6947-F14CC0AEF8AD}"/>
              </a:ext>
            </a:extLst>
          </p:cNvPr>
          <p:cNvSpPr txBox="1"/>
          <p:nvPr/>
        </p:nvSpPr>
        <p:spPr>
          <a:xfrm>
            <a:off x="5181599" y="5917716"/>
            <a:ext cx="12473477" cy="1666764"/>
          </a:xfrm>
          <a:prstGeom prst="rect">
            <a:avLst/>
          </a:prstGeom>
          <a:solidFill>
            <a:schemeClr val="bg1"/>
          </a:solidFill>
        </p:spPr>
        <p:txBody>
          <a:bodyPr lIns="50800" tIns="50800" rIns="50800" bIns="50800" rtlCol="0" anchor="ctr"/>
          <a:lstStyle/>
          <a:p>
            <a:pPr algn="ctr">
              <a:lnSpc>
                <a:spcPts val="2240"/>
              </a:lnSpc>
            </a:pPr>
            <a:r>
              <a:rPr lang="en-GB" sz="1600" dirty="0">
                <a:solidFill>
                  <a:srgbClr val="000000"/>
                </a:solidFill>
                <a:latin typeface="TT Fors"/>
                <a:ea typeface="TT Fors"/>
                <a:cs typeface="TT Fors"/>
                <a:sym typeface="TT Fors"/>
              </a:rPr>
              <a:t>For clients and businesses, the findings suggest prioritising investment in high‑performing categories like graphic design to maximise value. Working with freelancers who have strong ratings and success rates reduces project risk and improves outcomes. Encouraging long‑term engagements rather than one‑off jobs can also improve consistency, quality, and overall project efficiency.</a:t>
            </a:r>
            <a:endParaRPr lang="en-US" sz="1600" dirty="0">
              <a:solidFill>
                <a:srgbClr val="000000"/>
              </a:solidFill>
              <a:latin typeface="TT Fors"/>
              <a:ea typeface="TT Fors"/>
              <a:cs typeface="TT Fors"/>
              <a:sym typeface="TT Fors"/>
            </a:endParaRPr>
          </a:p>
        </p:txBody>
      </p:sp>
      <p:sp>
        <p:nvSpPr>
          <p:cNvPr id="88" name="TextBox 43">
            <a:extLst>
              <a:ext uri="{FF2B5EF4-FFF2-40B4-BE49-F238E27FC236}">
                <a16:creationId xmlns:a16="http://schemas.microsoft.com/office/drawing/2014/main" id="{D578B092-A91F-8AD6-97AB-36499B05C2F7}"/>
              </a:ext>
            </a:extLst>
          </p:cNvPr>
          <p:cNvSpPr txBox="1"/>
          <p:nvPr/>
        </p:nvSpPr>
        <p:spPr>
          <a:xfrm>
            <a:off x="5181601" y="3551252"/>
            <a:ext cx="12473477" cy="1710306"/>
          </a:xfrm>
          <a:prstGeom prst="rect">
            <a:avLst/>
          </a:prstGeom>
          <a:solidFill>
            <a:schemeClr val="bg1"/>
          </a:solidFill>
        </p:spPr>
        <p:txBody>
          <a:bodyPr lIns="50800" tIns="50800" rIns="50800" bIns="50800" rtlCol="0" anchor="ctr"/>
          <a:lstStyle/>
          <a:p>
            <a:pPr algn="ctr">
              <a:lnSpc>
                <a:spcPts val="2240"/>
              </a:lnSpc>
            </a:pPr>
            <a:r>
              <a:rPr lang="en-GB" sz="1600" dirty="0">
                <a:latin typeface="TT Fors"/>
                <a:ea typeface="TT Fors"/>
                <a:cs typeface="TT Fors"/>
                <a:sym typeface="TT Fors"/>
              </a:rPr>
              <a:t>For freelancing platforms, the data suggests a need to improve marketing and analytics tools. Since marketing spend has a measurable impact on earnings, platforms should provide clearer insights into how promotions translate into income. Improving matching algorithms can also help, as success rates vary slightly between platforms. Better matching increases job completion and user satisfaction. Lastly, platforms should support intermediate‑level freelancers, as this group showed the highest hourly earnings and strong market demand.”</a:t>
            </a:r>
            <a:endParaRPr lang="en-US" sz="1600" dirty="0">
              <a:latin typeface="TT Fors"/>
              <a:ea typeface="TT Fors"/>
              <a:cs typeface="TT Fors"/>
              <a:sym typeface="TT Fors"/>
            </a:endParaRPr>
          </a:p>
        </p:txBody>
      </p:sp>
      <p:grpSp>
        <p:nvGrpSpPr>
          <p:cNvPr id="123" name="Group 29">
            <a:extLst>
              <a:ext uri="{FF2B5EF4-FFF2-40B4-BE49-F238E27FC236}">
                <a16:creationId xmlns:a16="http://schemas.microsoft.com/office/drawing/2014/main" id="{007B0EA8-C4CC-C5BD-3905-209AB5B315E7}"/>
              </a:ext>
            </a:extLst>
          </p:cNvPr>
          <p:cNvGrpSpPr/>
          <p:nvPr/>
        </p:nvGrpSpPr>
        <p:grpSpPr>
          <a:xfrm>
            <a:off x="715875" y="8225536"/>
            <a:ext cx="2209113" cy="2097106"/>
            <a:chOff x="-340854" y="-313557"/>
            <a:chExt cx="1039354" cy="986657"/>
          </a:xfrm>
        </p:grpSpPr>
        <p:sp>
          <p:nvSpPr>
            <p:cNvPr id="124" name="Freeform 30">
              <a:extLst>
                <a:ext uri="{FF2B5EF4-FFF2-40B4-BE49-F238E27FC236}">
                  <a16:creationId xmlns:a16="http://schemas.microsoft.com/office/drawing/2014/main" id="{334D9972-B362-0C2B-45CA-20ED22C59AA4}"/>
                </a:ext>
              </a:extLst>
            </p:cNvPr>
            <p:cNvSpPr/>
            <p:nvPr/>
          </p:nvSpPr>
          <p:spPr>
            <a:xfrm>
              <a:off x="-340854" y="-313557"/>
              <a:ext cx="698500" cy="788624"/>
            </a:xfrm>
            <a:custGeom>
              <a:avLst/>
              <a:gdLst/>
              <a:ahLst/>
              <a:cxnLst/>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a:srgbClr val="002060"/>
            </a:solidFill>
          </p:spPr>
          <p:txBody>
            <a:bodyPr/>
            <a:lstStyle/>
            <a:p>
              <a:endParaRPr lang="en-GB" dirty="0">
                <a:solidFill>
                  <a:srgbClr val="002060"/>
                </a:solidFill>
              </a:endParaRPr>
            </a:p>
          </p:txBody>
        </p:sp>
        <p:sp>
          <p:nvSpPr>
            <p:cNvPr id="125" name="TextBox 31">
              <a:extLst>
                <a:ext uri="{FF2B5EF4-FFF2-40B4-BE49-F238E27FC236}">
                  <a16:creationId xmlns:a16="http://schemas.microsoft.com/office/drawing/2014/main" id="{03DB89E6-8513-8BBD-1EDE-B4FB16742ABD}"/>
                </a:ext>
              </a:extLst>
            </p:cNvPr>
            <p:cNvSpPr txBox="1"/>
            <p:nvPr/>
          </p:nvSpPr>
          <p:spPr>
            <a:xfrm>
              <a:off x="0" y="101600"/>
              <a:ext cx="698500" cy="571500"/>
            </a:xfrm>
            <a:prstGeom prst="rect">
              <a:avLst/>
            </a:prstGeom>
          </p:spPr>
          <p:txBody>
            <a:bodyPr lIns="50800" tIns="50800" rIns="50800" bIns="50800" rtlCol="0" anchor="ctr"/>
            <a:lstStyle/>
            <a:p>
              <a:pPr marL="0" lvl="0" indent="0" algn="ctr">
                <a:lnSpc>
                  <a:spcPts val="2520"/>
                </a:lnSpc>
                <a:spcBef>
                  <a:spcPct val="0"/>
                </a:spcBef>
              </a:pPr>
              <a:endParaRPr>
                <a:solidFill>
                  <a:srgbClr val="002060"/>
                </a:solidFill>
              </a:endParaRPr>
            </a:p>
          </p:txBody>
        </p:sp>
      </p:grpSp>
      <p:sp>
        <p:nvSpPr>
          <p:cNvPr id="131" name="Freeform 29">
            <a:extLst>
              <a:ext uri="{FF2B5EF4-FFF2-40B4-BE49-F238E27FC236}">
                <a16:creationId xmlns:a16="http://schemas.microsoft.com/office/drawing/2014/main" id="{E067E189-9FED-461C-9806-76C01510847A}"/>
              </a:ext>
            </a:extLst>
          </p:cNvPr>
          <p:cNvSpPr/>
          <p:nvPr/>
        </p:nvSpPr>
        <p:spPr>
          <a:xfrm>
            <a:off x="1192861" y="8809814"/>
            <a:ext cx="628291" cy="628291"/>
          </a:xfrm>
          <a:custGeom>
            <a:avLst/>
            <a:gdLst/>
            <a:ahLst/>
            <a:cxnLst/>
            <a:rect l="l" t="t" r="r" b="b"/>
            <a:pathLst>
              <a:path w="628291" h="628291">
                <a:moveTo>
                  <a:pt x="0" y="0"/>
                </a:moveTo>
                <a:lnTo>
                  <a:pt x="628290" y="0"/>
                </a:lnTo>
                <a:lnTo>
                  <a:pt x="628290" y="628291"/>
                </a:lnTo>
                <a:lnTo>
                  <a:pt x="0" y="6282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grpSp>
        <p:nvGrpSpPr>
          <p:cNvPr id="64" name="Group 29">
            <a:extLst>
              <a:ext uri="{FF2B5EF4-FFF2-40B4-BE49-F238E27FC236}">
                <a16:creationId xmlns:a16="http://schemas.microsoft.com/office/drawing/2014/main" id="{55BB2DEC-292D-6394-EDAD-9616243D1806}"/>
              </a:ext>
            </a:extLst>
          </p:cNvPr>
          <p:cNvGrpSpPr/>
          <p:nvPr/>
        </p:nvGrpSpPr>
        <p:grpSpPr>
          <a:xfrm>
            <a:off x="719638" y="5842333"/>
            <a:ext cx="1484639" cy="1727579"/>
            <a:chOff x="0" y="0"/>
            <a:chExt cx="698500" cy="812800"/>
          </a:xfrm>
        </p:grpSpPr>
        <p:sp>
          <p:nvSpPr>
            <p:cNvPr id="65" name="Freeform 30">
              <a:extLst>
                <a:ext uri="{FF2B5EF4-FFF2-40B4-BE49-F238E27FC236}">
                  <a16:creationId xmlns:a16="http://schemas.microsoft.com/office/drawing/2014/main" id="{C261A245-74AD-CEE0-D282-6798C4A6E03A}"/>
                </a:ext>
              </a:extLst>
            </p:cNvPr>
            <p:cNvSpPr/>
            <p:nvPr/>
          </p:nvSpPr>
          <p:spPr>
            <a:xfrm>
              <a:off x="0" y="12088"/>
              <a:ext cx="698500" cy="788624"/>
            </a:xfrm>
            <a:custGeom>
              <a:avLst/>
              <a:gdLst/>
              <a:ahLst/>
              <a:cxnLst/>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a:srgbClr val="F68D56"/>
            </a:solidFill>
          </p:spPr>
          <p:txBody>
            <a:bodyPr/>
            <a:lstStyle/>
            <a:p>
              <a:endParaRPr lang="en-GB"/>
            </a:p>
          </p:txBody>
        </p:sp>
        <p:sp>
          <p:nvSpPr>
            <p:cNvPr id="68" name="TextBox 31">
              <a:extLst>
                <a:ext uri="{FF2B5EF4-FFF2-40B4-BE49-F238E27FC236}">
                  <a16:creationId xmlns:a16="http://schemas.microsoft.com/office/drawing/2014/main" id="{18121B8F-C98D-91A9-458B-69A47A674E98}"/>
                </a:ext>
              </a:extLst>
            </p:cNvPr>
            <p:cNvSpPr txBox="1"/>
            <p:nvPr/>
          </p:nvSpPr>
          <p:spPr>
            <a:xfrm>
              <a:off x="0" y="101600"/>
              <a:ext cx="698500" cy="571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73" name="Freeform 60">
            <a:extLst>
              <a:ext uri="{FF2B5EF4-FFF2-40B4-BE49-F238E27FC236}">
                <a16:creationId xmlns:a16="http://schemas.microsoft.com/office/drawing/2014/main" id="{AAD68EC2-41F3-0CC6-5CA8-6F2A04A59C2E}"/>
              </a:ext>
            </a:extLst>
          </p:cNvPr>
          <p:cNvSpPr/>
          <p:nvPr/>
        </p:nvSpPr>
        <p:spPr>
          <a:xfrm>
            <a:off x="1132685" y="6376851"/>
            <a:ext cx="658543" cy="658543"/>
          </a:xfrm>
          <a:custGeom>
            <a:avLst/>
            <a:gdLst/>
            <a:ahLst/>
            <a:cxnLst/>
            <a:rect l="l" t="t" r="r" b="b"/>
            <a:pathLst>
              <a:path w="658543" h="658543">
                <a:moveTo>
                  <a:pt x="0" y="0"/>
                </a:moveTo>
                <a:lnTo>
                  <a:pt x="658544" y="0"/>
                </a:lnTo>
                <a:lnTo>
                  <a:pt x="658544" y="658543"/>
                </a:lnTo>
                <a:lnTo>
                  <a:pt x="0" y="65854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grpSp>
        <p:nvGrpSpPr>
          <p:cNvPr id="56" name="Group 26">
            <a:extLst>
              <a:ext uri="{FF2B5EF4-FFF2-40B4-BE49-F238E27FC236}">
                <a16:creationId xmlns:a16="http://schemas.microsoft.com/office/drawing/2014/main" id="{E2E65333-8B6D-2822-76C4-D15841283FD5}"/>
              </a:ext>
            </a:extLst>
          </p:cNvPr>
          <p:cNvGrpSpPr/>
          <p:nvPr/>
        </p:nvGrpSpPr>
        <p:grpSpPr>
          <a:xfrm>
            <a:off x="756509" y="3532120"/>
            <a:ext cx="1484639" cy="1727579"/>
            <a:chOff x="0" y="0"/>
            <a:chExt cx="698500" cy="812800"/>
          </a:xfrm>
        </p:grpSpPr>
        <p:sp>
          <p:nvSpPr>
            <p:cNvPr id="57" name="Freeform 27">
              <a:extLst>
                <a:ext uri="{FF2B5EF4-FFF2-40B4-BE49-F238E27FC236}">
                  <a16:creationId xmlns:a16="http://schemas.microsoft.com/office/drawing/2014/main" id="{21122240-4FAF-513C-1347-3402DEDF7BDE}"/>
                </a:ext>
              </a:extLst>
            </p:cNvPr>
            <p:cNvSpPr/>
            <p:nvPr/>
          </p:nvSpPr>
          <p:spPr>
            <a:xfrm>
              <a:off x="0" y="12088"/>
              <a:ext cx="698500" cy="788624"/>
            </a:xfrm>
            <a:custGeom>
              <a:avLst/>
              <a:gdLst/>
              <a:ahLst/>
              <a:cxnLst/>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a:srgbClr val="3E6398"/>
            </a:solidFill>
          </p:spPr>
          <p:txBody>
            <a:bodyPr/>
            <a:lstStyle/>
            <a:p>
              <a:endParaRPr lang="en-GB"/>
            </a:p>
          </p:txBody>
        </p:sp>
        <p:sp>
          <p:nvSpPr>
            <p:cNvPr id="63" name="TextBox 28">
              <a:extLst>
                <a:ext uri="{FF2B5EF4-FFF2-40B4-BE49-F238E27FC236}">
                  <a16:creationId xmlns:a16="http://schemas.microsoft.com/office/drawing/2014/main" id="{480DD0F5-6A0C-8FAC-5E10-2C5D0DDB489B}"/>
                </a:ext>
              </a:extLst>
            </p:cNvPr>
            <p:cNvSpPr txBox="1"/>
            <p:nvPr/>
          </p:nvSpPr>
          <p:spPr>
            <a:xfrm>
              <a:off x="0" y="101600"/>
              <a:ext cx="698500" cy="571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74" name="Freeform 61">
            <a:extLst>
              <a:ext uri="{FF2B5EF4-FFF2-40B4-BE49-F238E27FC236}">
                <a16:creationId xmlns:a16="http://schemas.microsoft.com/office/drawing/2014/main" id="{0F1AE427-931D-DE12-EDC0-F08FFA846496}"/>
              </a:ext>
            </a:extLst>
          </p:cNvPr>
          <p:cNvSpPr/>
          <p:nvPr/>
        </p:nvSpPr>
        <p:spPr>
          <a:xfrm>
            <a:off x="1151025" y="4048106"/>
            <a:ext cx="695606" cy="695606"/>
          </a:xfrm>
          <a:custGeom>
            <a:avLst/>
            <a:gdLst/>
            <a:ahLst/>
            <a:cxnLst/>
            <a:rect l="l" t="t" r="r" b="b"/>
            <a:pathLst>
              <a:path w="695606" h="695606">
                <a:moveTo>
                  <a:pt x="0" y="0"/>
                </a:moveTo>
                <a:lnTo>
                  <a:pt x="695606" y="0"/>
                </a:lnTo>
                <a:lnTo>
                  <a:pt x="695606" y="695607"/>
                </a:lnTo>
                <a:lnTo>
                  <a:pt x="0" y="69560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grpSp>
        <p:nvGrpSpPr>
          <p:cNvPr id="53" name="Group 23">
            <a:extLst>
              <a:ext uri="{FF2B5EF4-FFF2-40B4-BE49-F238E27FC236}">
                <a16:creationId xmlns:a16="http://schemas.microsoft.com/office/drawing/2014/main" id="{44A12DED-D475-5DD1-FFED-F05E7B6796F6}"/>
              </a:ext>
            </a:extLst>
          </p:cNvPr>
          <p:cNvGrpSpPr/>
          <p:nvPr/>
        </p:nvGrpSpPr>
        <p:grpSpPr>
          <a:xfrm>
            <a:off x="791232" y="1317858"/>
            <a:ext cx="1484639" cy="1727579"/>
            <a:chOff x="0" y="0"/>
            <a:chExt cx="698500" cy="812800"/>
          </a:xfrm>
        </p:grpSpPr>
        <p:sp>
          <p:nvSpPr>
            <p:cNvPr id="54" name="Freeform 24">
              <a:extLst>
                <a:ext uri="{FF2B5EF4-FFF2-40B4-BE49-F238E27FC236}">
                  <a16:creationId xmlns:a16="http://schemas.microsoft.com/office/drawing/2014/main" id="{1B88636C-2029-CD3E-FE02-E26B94FD8641}"/>
                </a:ext>
              </a:extLst>
            </p:cNvPr>
            <p:cNvSpPr/>
            <p:nvPr/>
          </p:nvSpPr>
          <p:spPr>
            <a:xfrm>
              <a:off x="0" y="12088"/>
              <a:ext cx="698500" cy="788624"/>
            </a:xfrm>
            <a:custGeom>
              <a:avLst/>
              <a:gdLst/>
              <a:ahLst/>
              <a:cxnLst/>
              <a:rect l="l" t="t" r="r" b="b"/>
              <a:pathLst>
                <a:path w="698500" h="788624">
                  <a:moveTo>
                    <a:pt x="387985" y="10449"/>
                  </a:moveTo>
                  <a:lnTo>
                    <a:pt x="659765" y="168575"/>
                  </a:lnTo>
                  <a:cubicBezTo>
                    <a:pt x="683747" y="182528"/>
                    <a:pt x="698500" y="208181"/>
                    <a:pt x="698500" y="235926"/>
                  </a:cubicBezTo>
                  <a:lnTo>
                    <a:pt x="698500" y="552698"/>
                  </a:lnTo>
                  <a:cubicBezTo>
                    <a:pt x="698500" y="580443"/>
                    <a:pt x="683747" y="606096"/>
                    <a:pt x="659765" y="620049"/>
                  </a:cubicBezTo>
                  <a:lnTo>
                    <a:pt x="387985" y="778175"/>
                  </a:lnTo>
                  <a:cubicBezTo>
                    <a:pt x="364040" y="792107"/>
                    <a:pt x="334460" y="792107"/>
                    <a:pt x="310515" y="778175"/>
                  </a:cubicBezTo>
                  <a:lnTo>
                    <a:pt x="38735" y="620049"/>
                  </a:lnTo>
                  <a:cubicBezTo>
                    <a:pt x="14753" y="606096"/>
                    <a:pt x="0" y="580443"/>
                    <a:pt x="0" y="552698"/>
                  </a:cubicBezTo>
                  <a:lnTo>
                    <a:pt x="0" y="235926"/>
                  </a:lnTo>
                  <a:cubicBezTo>
                    <a:pt x="0" y="208181"/>
                    <a:pt x="14753" y="182528"/>
                    <a:pt x="38735" y="168575"/>
                  </a:cubicBezTo>
                  <a:lnTo>
                    <a:pt x="310515" y="10449"/>
                  </a:lnTo>
                  <a:cubicBezTo>
                    <a:pt x="334460" y="-3483"/>
                    <a:pt x="364040" y="-3483"/>
                    <a:pt x="387985" y="10449"/>
                  </a:cubicBezTo>
                  <a:close/>
                </a:path>
              </a:pathLst>
            </a:custGeom>
            <a:solidFill>
              <a:srgbClr val="122359"/>
            </a:solidFill>
          </p:spPr>
          <p:txBody>
            <a:bodyPr/>
            <a:lstStyle/>
            <a:p>
              <a:endParaRPr lang="en-GB"/>
            </a:p>
          </p:txBody>
        </p:sp>
        <p:sp>
          <p:nvSpPr>
            <p:cNvPr id="55" name="TextBox 25">
              <a:extLst>
                <a:ext uri="{FF2B5EF4-FFF2-40B4-BE49-F238E27FC236}">
                  <a16:creationId xmlns:a16="http://schemas.microsoft.com/office/drawing/2014/main" id="{5C9C4FEE-8B8F-5D32-CE2F-BF599E751DA5}"/>
                </a:ext>
              </a:extLst>
            </p:cNvPr>
            <p:cNvSpPr txBox="1"/>
            <p:nvPr/>
          </p:nvSpPr>
          <p:spPr>
            <a:xfrm>
              <a:off x="0" y="101600"/>
              <a:ext cx="698500" cy="571500"/>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72" name="Freeform 59">
            <a:extLst>
              <a:ext uri="{FF2B5EF4-FFF2-40B4-BE49-F238E27FC236}">
                <a16:creationId xmlns:a16="http://schemas.microsoft.com/office/drawing/2014/main" id="{F7408CE7-13E3-4D7E-84AC-54F51CB133C0}"/>
              </a:ext>
            </a:extLst>
          </p:cNvPr>
          <p:cNvSpPr/>
          <p:nvPr/>
        </p:nvSpPr>
        <p:spPr>
          <a:xfrm>
            <a:off x="1185748" y="1833845"/>
            <a:ext cx="695606" cy="695606"/>
          </a:xfrm>
          <a:custGeom>
            <a:avLst/>
            <a:gdLst/>
            <a:ahLst/>
            <a:cxnLst/>
            <a:rect l="l" t="t" r="r" b="b"/>
            <a:pathLst>
              <a:path w="695606" h="695606">
                <a:moveTo>
                  <a:pt x="0" y="0"/>
                </a:moveTo>
                <a:lnTo>
                  <a:pt x="695606" y="0"/>
                </a:lnTo>
                <a:lnTo>
                  <a:pt x="695606" y="695606"/>
                </a:lnTo>
                <a:lnTo>
                  <a:pt x="0" y="69560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82" name="TextBox 37">
            <a:extLst>
              <a:ext uri="{FF2B5EF4-FFF2-40B4-BE49-F238E27FC236}">
                <a16:creationId xmlns:a16="http://schemas.microsoft.com/office/drawing/2014/main" id="{79B3F682-D28A-2CFE-BB2F-1E0DAA1E8DCF}"/>
              </a:ext>
            </a:extLst>
          </p:cNvPr>
          <p:cNvSpPr txBox="1"/>
          <p:nvPr/>
        </p:nvSpPr>
        <p:spPr>
          <a:xfrm>
            <a:off x="5181600" y="1286004"/>
            <a:ext cx="12473478" cy="1710306"/>
          </a:xfrm>
          <a:prstGeom prst="rect">
            <a:avLst/>
          </a:prstGeom>
          <a:solidFill>
            <a:schemeClr val="bg1"/>
          </a:solidFill>
        </p:spPr>
        <p:txBody>
          <a:bodyPr lIns="50800" tIns="50800" rIns="50800" bIns="50800" rtlCol="0" anchor="ctr"/>
          <a:lstStyle/>
          <a:p>
            <a:pPr algn="ctr">
              <a:lnSpc>
                <a:spcPts val="2240"/>
              </a:lnSpc>
            </a:pPr>
            <a:r>
              <a:rPr lang="en-GB" sz="1600" dirty="0">
                <a:latin typeface="TT Fors"/>
                <a:ea typeface="TT Fors"/>
                <a:cs typeface="TT Fors"/>
                <a:sym typeface="TT Fors"/>
              </a:rPr>
              <a:t>Based on our analysis, freelancers should focus on high‑earning job categories, especially graphic design, which consistently generates the highest earnings. Marketing spend stood out as the strongest driver of income, so freelancers should invest in profile promotions, portfolio visibility, and advertising tools. Additionally, targeting higher‑earning regions such as Australia can significantly improve earning potential without increasing workload. Finally, maintaining strong job success rates and ratings is essential to improve rehire rates and ensure steady income.”</a:t>
            </a:r>
            <a:endParaRPr lang="en-US" sz="1600" dirty="0">
              <a:latin typeface="TT Fors"/>
              <a:ea typeface="TT Fors"/>
              <a:cs typeface="TT Fors"/>
              <a:sym typeface="TT Fors"/>
            </a:endParaRPr>
          </a:p>
        </p:txBody>
      </p:sp>
    </p:spTree>
    <p:extLst>
      <p:ext uri="{BB962C8B-B14F-4D97-AF65-F5344CB8AC3E}">
        <p14:creationId xmlns:p14="http://schemas.microsoft.com/office/powerpoint/2010/main" val="3304077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9ECF4"/>
        </a:solidFill>
        <a:effectLst/>
      </p:bgPr>
    </p:bg>
    <p:spTree>
      <p:nvGrpSpPr>
        <p:cNvPr id="1" name="">
          <a:extLst>
            <a:ext uri="{FF2B5EF4-FFF2-40B4-BE49-F238E27FC236}">
              <a16:creationId xmlns:a16="http://schemas.microsoft.com/office/drawing/2014/main" id="{70AD46ED-C70B-B9FA-171E-C462D9039D77}"/>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1F9CE6F-76F7-8861-0F2B-F03BD18B1F97}"/>
              </a:ext>
            </a:extLst>
          </p:cNvPr>
          <p:cNvGrpSpPr/>
          <p:nvPr/>
        </p:nvGrpSpPr>
        <p:grpSpPr>
          <a:xfrm rot="5400000">
            <a:off x="8996502" y="-2481400"/>
            <a:ext cx="142598" cy="17830802"/>
            <a:chOff x="0" y="0"/>
            <a:chExt cx="57626" cy="2693278"/>
          </a:xfrm>
        </p:grpSpPr>
        <p:sp>
          <p:nvSpPr>
            <p:cNvPr id="6" name="Freeform 6">
              <a:extLst>
                <a:ext uri="{FF2B5EF4-FFF2-40B4-BE49-F238E27FC236}">
                  <a16:creationId xmlns:a16="http://schemas.microsoft.com/office/drawing/2014/main" id="{CC2C83BA-D6C5-9F53-74F4-D2D957B2DCE1}"/>
                </a:ext>
              </a:extLst>
            </p:cNvPr>
            <p:cNvSpPr/>
            <p:nvPr/>
          </p:nvSpPr>
          <p:spPr>
            <a:xfrm>
              <a:off x="0" y="0"/>
              <a:ext cx="57626" cy="2693278"/>
            </a:xfrm>
            <a:custGeom>
              <a:avLst/>
              <a:gdLst/>
              <a:ahLst/>
              <a:cxnLst/>
              <a:rect l="l" t="t" r="r" b="b"/>
              <a:pathLst>
                <a:path w="57626" h="2693278">
                  <a:moveTo>
                    <a:pt x="0" y="0"/>
                  </a:moveTo>
                  <a:lnTo>
                    <a:pt x="57626" y="0"/>
                  </a:lnTo>
                  <a:lnTo>
                    <a:pt x="57626" y="2693278"/>
                  </a:lnTo>
                  <a:lnTo>
                    <a:pt x="0" y="2693278"/>
                  </a:lnTo>
                  <a:close/>
                </a:path>
              </a:pathLst>
            </a:custGeom>
            <a:solidFill>
              <a:srgbClr val="BEC8D9"/>
            </a:solidFill>
          </p:spPr>
          <p:txBody>
            <a:bodyPr/>
            <a:lstStyle/>
            <a:p>
              <a:endParaRPr lang="en-GB"/>
            </a:p>
          </p:txBody>
        </p:sp>
        <p:sp>
          <p:nvSpPr>
            <p:cNvPr id="7" name="TextBox 7">
              <a:extLst>
                <a:ext uri="{FF2B5EF4-FFF2-40B4-BE49-F238E27FC236}">
                  <a16:creationId xmlns:a16="http://schemas.microsoft.com/office/drawing/2014/main" id="{63E23F83-9A03-978C-4819-7FB1C9B18BE9}"/>
                </a:ext>
              </a:extLst>
            </p:cNvPr>
            <p:cNvSpPr txBox="1"/>
            <p:nvPr/>
          </p:nvSpPr>
          <p:spPr>
            <a:xfrm>
              <a:off x="0" y="-38100"/>
              <a:ext cx="57626" cy="2731378"/>
            </a:xfrm>
            <a:prstGeom prst="rect">
              <a:avLst/>
            </a:prstGeom>
          </p:spPr>
          <p:txBody>
            <a:bodyPr lIns="50800" tIns="50800" rIns="50800" bIns="50800" rtlCol="0" anchor="ctr"/>
            <a:lstStyle/>
            <a:p>
              <a:pPr algn="ctr">
                <a:lnSpc>
                  <a:spcPts val="2520"/>
                </a:lnSpc>
              </a:pPr>
              <a:endParaRPr/>
            </a:p>
          </p:txBody>
        </p:sp>
      </p:grpSp>
      <p:grpSp>
        <p:nvGrpSpPr>
          <p:cNvPr id="50" name="Group 33">
            <a:extLst>
              <a:ext uri="{FF2B5EF4-FFF2-40B4-BE49-F238E27FC236}">
                <a16:creationId xmlns:a16="http://schemas.microsoft.com/office/drawing/2014/main" id="{C32949F0-19EA-64D8-1097-14DE1126421B}"/>
              </a:ext>
            </a:extLst>
          </p:cNvPr>
          <p:cNvGrpSpPr/>
          <p:nvPr/>
        </p:nvGrpSpPr>
        <p:grpSpPr>
          <a:xfrm>
            <a:off x="4929692" y="1806561"/>
            <a:ext cx="8528457" cy="4235473"/>
            <a:chOff x="0" y="0"/>
            <a:chExt cx="1095521" cy="243948"/>
          </a:xfrm>
        </p:grpSpPr>
        <p:sp>
          <p:nvSpPr>
            <p:cNvPr id="51" name="Freeform 34">
              <a:extLst>
                <a:ext uri="{FF2B5EF4-FFF2-40B4-BE49-F238E27FC236}">
                  <a16:creationId xmlns:a16="http://schemas.microsoft.com/office/drawing/2014/main" id="{A233D4BA-E7ED-F917-BFF2-DCF91B2FE7C5}"/>
                </a:ext>
              </a:extLst>
            </p:cNvPr>
            <p:cNvSpPr/>
            <p:nvPr/>
          </p:nvSpPr>
          <p:spPr>
            <a:xfrm>
              <a:off x="0" y="0"/>
              <a:ext cx="1095522" cy="243948"/>
            </a:xfrm>
            <a:custGeom>
              <a:avLst/>
              <a:gdLst/>
              <a:ahLst/>
              <a:cxnLst/>
              <a:rect l="l" t="t" r="r" b="b"/>
              <a:pathLst>
                <a:path w="1095522" h="243948">
                  <a:moveTo>
                    <a:pt x="121974" y="0"/>
                  </a:moveTo>
                  <a:lnTo>
                    <a:pt x="973548" y="0"/>
                  </a:lnTo>
                  <a:cubicBezTo>
                    <a:pt x="1040912" y="0"/>
                    <a:pt x="1095522" y="54610"/>
                    <a:pt x="1095522" y="121974"/>
                  </a:cubicBezTo>
                  <a:lnTo>
                    <a:pt x="1095522" y="121974"/>
                  </a:lnTo>
                  <a:cubicBezTo>
                    <a:pt x="1095522" y="154323"/>
                    <a:pt x="1082671" y="185348"/>
                    <a:pt x="1059796" y="208223"/>
                  </a:cubicBezTo>
                  <a:cubicBezTo>
                    <a:pt x="1036922" y="231097"/>
                    <a:pt x="1005897" y="243948"/>
                    <a:pt x="973548" y="243948"/>
                  </a:cubicBezTo>
                  <a:lnTo>
                    <a:pt x="121974" y="243948"/>
                  </a:lnTo>
                  <a:cubicBezTo>
                    <a:pt x="89624" y="243948"/>
                    <a:pt x="58600" y="231097"/>
                    <a:pt x="35725" y="208223"/>
                  </a:cubicBezTo>
                  <a:cubicBezTo>
                    <a:pt x="12851" y="185348"/>
                    <a:pt x="0" y="154323"/>
                    <a:pt x="0" y="121974"/>
                  </a:cubicBezTo>
                  <a:lnTo>
                    <a:pt x="0" y="121974"/>
                  </a:lnTo>
                  <a:cubicBezTo>
                    <a:pt x="0" y="89624"/>
                    <a:pt x="12851" y="58600"/>
                    <a:pt x="35725" y="35725"/>
                  </a:cubicBezTo>
                  <a:cubicBezTo>
                    <a:pt x="58600" y="12851"/>
                    <a:pt x="89624" y="0"/>
                    <a:pt x="121974" y="0"/>
                  </a:cubicBezTo>
                  <a:close/>
                </a:path>
              </a:pathLst>
            </a:custGeom>
            <a:solidFill>
              <a:srgbClr val="F68D55"/>
            </a:solidFill>
          </p:spPr>
          <p:txBody>
            <a:bodyPr/>
            <a:lstStyle/>
            <a:p>
              <a:endParaRPr lang="en-GB"/>
            </a:p>
          </p:txBody>
        </p:sp>
        <p:sp>
          <p:nvSpPr>
            <p:cNvPr id="52" name="TextBox 35">
              <a:extLst>
                <a:ext uri="{FF2B5EF4-FFF2-40B4-BE49-F238E27FC236}">
                  <a16:creationId xmlns:a16="http://schemas.microsoft.com/office/drawing/2014/main" id="{6F8DB862-2DC6-4FE6-8910-D51AA41F3C32}"/>
                </a:ext>
              </a:extLst>
            </p:cNvPr>
            <p:cNvSpPr txBox="1"/>
            <p:nvPr/>
          </p:nvSpPr>
          <p:spPr>
            <a:xfrm>
              <a:off x="0" y="-38100"/>
              <a:ext cx="1095521" cy="282048"/>
            </a:xfrm>
            <a:prstGeom prst="rect">
              <a:avLst/>
            </a:prstGeom>
          </p:spPr>
          <p:txBody>
            <a:bodyPr lIns="50800" tIns="50800" rIns="50800" bIns="50800" rtlCol="0" anchor="ctr"/>
            <a:lstStyle/>
            <a:p>
              <a:pPr marL="0" lvl="0" indent="0" algn="ctr">
                <a:lnSpc>
                  <a:spcPts val="2520"/>
                </a:lnSpc>
                <a:spcBef>
                  <a:spcPct val="0"/>
                </a:spcBef>
              </a:pPr>
              <a:endParaRPr lang="en-US" sz="5400" b="1" dirty="0">
                <a:solidFill>
                  <a:srgbClr val="122359"/>
                </a:solidFill>
                <a:latin typeface="TT Fors Bold"/>
                <a:ea typeface="TT Fors Bold"/>
                <a:cs typeface="TT Fors Bold"/>
                <a:sym typeface="TT Fors Bold"/>
              </a:endParaRPr>
            </a:p>
            <a:p>
              <a:pPr marL="0" lvl="0" indent="0" algn="ctr">
                <a:lnSpc>
                  <a:spcPts val="2520"/>
                </a:lnSpc>
                <a:spcBef>
                  <a:spcPct val="0"/>
                </a:spcBef>
              </a:pPr>
              <a:endParaRPr lang="en-US" sz="5400" b="1" dirty="0">
                <a:solidFill>
                  <a:srgbClr val="122359"/>
                </a:solidFill>
                <a:latin typeface="TT Fors Bold"/>
                <a:ea typeface="TT Fors Bold"/>
                <a:cs typeface="TT Fors Bold"/>
                <a:sym typeface="TT Fors Bold"/>
              </a:endParaRPr>
            </a:p>
            <a:p>
              <a:pPr marL="0" lvl="0" indent="0" algn="ctr">
                <a:lnSpc>
                  <a:spcPts val="2520"/>
                </a:lnSpc>
                <a:spcBef>
                  <a:spcPct val="0"/>
                </a:spcBef>
              </a:pPr>
              <a:endParaRPr lang="en-US" sz="5400" b="1" dirty="0">
                <a:solidFill>
                  <a:srgbClr val="122359"/>
                </a:solidFill>
                <a:latin typeface="TT Fors Bold"/>
                <a:ea typeface="TT Fors Bold"/>
                <a:cs typeface="TT Fors Bold"/>
                <a:sym typeface="TT Fors Bold"/>
              </a:endParaRPr>
            </a:p>
            <a:p>
              <a:pPr marL="0" lvl="0" indent="0" algn="ctr">
                <a:lnSpc>
                  <a:spcPts val="2520"/>
                </a:lnSpc>
                <a:spcBef>
                  <a:spcPct val="0"/>
                </a:spcBef>
              </a:pPr>
              <a:r>
                <a:rPr lang="en-US" sz="5400" b="1" dirty="0">
                  <a:solidFill>
                    <a:srgbClr val="122359"/>
                  </a:solidFill>
                  <a:latin typeface="TT Fors Bold"/>
                  <a:ea typeface="TT Fors Bold"/>
                  <a:cs typeface="TT Fors Bold"/>
                  <a:sym typeface="TT Fors Bold"/>
                </a:rPr>
                <a:t>Thank you.</a:t>
              </a:r>
              <a:endParaRPr lang="en-US" sz="5400" b="1" u="none" strike="noStrike" dirty="0">
                <a:solidFill>
                  <a:srgbClr val="122359"/>
                </a:solidFill>
                <a:latin typeface="TT Fors Bold"/>
                <a:ea typeface="TT Fors Bold"/>
                <a:cs typeface="TT Fors Bold"/>
                <a:sym typeface="TT Fors Bold"/>
              </a:endParaRPr>
            </a:p>
          </p:txBody>
        </p:sp>
      </p:grpSp>
    </p:spTree>
    <p:extLst>
      <p:ext uri="{BB962C8B-B14F-4D97-AF65-F5344CB8AC3E}">
        <p14:creationId xmlns:p14="http://schemas.microsoft.com/office/powerpoint/2010/main" val="7234930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1851</Words>
  <Application>Microsoft Office PowerPoint</Application>
  <PresentationFormat>Custom</PresentationFormat>
  <Paragraphs>391</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TT Fors Bold</vt:lpstr>
      <vt:lpstr>TT Fors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Product Feature Comparison Infographic Presentation</dc:title>
  <cp:lastModifiedBy>Prisca Muoghalu</cp:lastModifiedBy>
  <cp:revision>9</cp:revision>
  <dcterms:created xsi:type="dcterms:W3CDTF">2006-08-16T00:00:00Z</dcterms:created>
  <dcterms:modified xsi:type="dcterms:W3CDTF">2026-06-11T16:06:25Z</dcterms:modified>
  <dc:identifier>DAHEbDfB4Uc</dc:identifier>
</cp:coreProperties>
</file>